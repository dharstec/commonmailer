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f235b9a-71d9-6830-a670-8b2ed25f13f4}">
          <p14:sldIdLst>
            <p14:sldId id="256"/>
            <p14:sldId id="257"/>
          </p14:sldIdLst>
        </p14:section>
        <p14:section name="The product" id="{86f89391-b731-e735-ce5a-fa2ebb8eace8}">
          <p14:sldIdLst>
            <p14:sldId id="258"/>
            <p14:sldId id="259"/>
            <p14:sldId id="260"/>
            <p14:sldId id="261"/>
          </p14:sldIdLst>
        </p14:section>
        <p14:section name="Dharstec AI" id="{097fbe7d-6002-e3a0-3c77-1ca6616cedc1}">
          <p14:sldIdLst>
            <p14:sldId id="262"/>
            <p14:sldId id="263"/>
            <p14:sldId id="264"/>
          </p14:sldIdLst>
        </p14:section>
        <p14:section name="What it means for you" id="{b122cddb-127e-b9cf-e401-501dab594d6f}">
          <p14:sldIdLst>
            <p14:sldId id="265"/>
            <p14:sldId id="266"/>
          </p14:sldIdLst>
        </p14:section>
        <p14:section name="Commercials" id="{2ac7bc28-022d-929e-cb02-a8fe92dcd947}">
          <p14:sldIdLst>
            <p14:sldId id="267"/>
            <p14:sldId id="268"/>
            <p14:sldId id="269"/>
          </p14:sldIdLst>
        </p14:section>
        <p14:section name="Next steps" id="{7ad5cd9c-064e-605a-8721-30541fb99a5d}">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In the next fifteen minutes I will show what Dharstec Smart Factory does for your plant, what you can expect from it and when, and what it costs. The picture is the live view of a shop floor; every screen in this deck shows sample data. New this year: Dharstec AI, an assistant you can simply ask about your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simple sum. If ten machines each stand idle for just one hour a day, that is three thousand machine hours a year, and most plants only find out when the shift report or the month-end figures arrive. Three gaps cause it: idle time nobody sees, alarms that are answered late, and reports that arrive after the fact and rarely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Dashboard. Every machine is a block on the floor plan, in the colour of its state: green running, amber idle, red alarm, grey offline. The panel on the right shows how many machines are running, how much of the shift is left, and which machines need attention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any machine and you get its cockpit. Spindle load shows whether it is cutting well or straining. OEE combines availability, performance and quality into one number for the shift. Parts made shows output against the target, and the lamps show the machine's state just as the stack light does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picture travels with you. The mobile app shows every machine live, brings alarms and alerts the moment they happen, and opens the detail of any machine. It comes with the Standard and Premium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live view, every part of the plant has its own dashboard: OEE, downtime and what it costs, energy, preventive maintenance, machine health and operator performance. Each has date, shift and machine filters, and the figures download to Excel. These come with the Standard and Premium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is new, and where the industry is heading. Dharstec AI is an assistant built into the platform: anyone can ask it about the plant in plain words and get an answer in seconds, here open on top of the Live Dashboard. It works from your own plant data, not from the internet. It is an add-on for the Standard and Premium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answer comes from your own data and names its source: the report, the dates and the filters it used, with one click to view the report or download it in Excel. On a report page it uses that page's filters. It follows each person's role, so people only get answers about what they are allowed to see. The conversation is cleared when someone signs out, and the server stores none of it. Daily use is capped per company, so the cost stays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on the team can ask questions like these, from the shop floor to the boardroom, and get the answer in seconds instead of waiting for a report. It also answers how-to questions about the software itself, so new people find their way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a plant head asks every day. Each now has an answer on screen in seconds instead of at month-end. Basic covers live monitoring and production records; the rest comes with Standard and Premium, and vibration with Premium. Energy needs an energy meter, and vibration a vibration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expect, and when. From day one, every connected machine is live and alarms reach the right people. After the first month you have real numbers: your true OEE, the top reasons for downtime and what idle hours cost. As you grow, maintenance is planned by machine usage, energy cost is visible for every machine, and more machines and plants join the same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platform on one page, grouped by what it helps you do: see, analyse, maintain, run and manage. The dots show the plan: Basic covers live monitoring and records, Standard adds every dashboard and the mobile app, Premium adds vibration monitoring, and Dharstec AI is an add-on.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runs wherever you prefer. On your own server there is no yearly fee: your data stays inside your network and it keeps working without the internet. On the Dharstec cloud you can see it from anywhere, with storage and backups handled for you, for a yearly fee per machine. A gateway at your factory sends the data to the cloud, and is quoted with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simple: the software is paid once per machine. Basic is ten thousand rupees; Standard is twenty thousand, and it is the one we recommend for most plants because it has every dashboard and the mobile app; Premium is twenty-five thousand and adds vibration monitoring. On our cloud there is a yearly fee per machine; on your own server there is none. Sensors, the gateway and the AI assistant are quoted with the order, and we can tailor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follows four steps: we learn your plant, connect the machines, set up dashboards, targets and alerts around how you work, and go live with training for your team. From your side we need power points, an Ethernet connection to each machine, and access to the machines with a contact person at the site during 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ahead we need three things: your plan, how many machines to connect first, and whether it runs on your own server or our cloud. We will then send the final quotation.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TITLE-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I-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AI_HERO-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Dharstec Solutions">    </p:cNvPr>
          <p:cNvPicPr>
            <a:picLocks noChangeAspect="1"/>
          </p:cNvPicPr>
          <p:nvPr/>
        </p:nvPicPr>
        <p:blipFill>
          <a:blip r:embed="rId1"/>
          <a:stretch>
            <a:fillRect/>
          </a:stretch>
        </p:blipFill>
        <p:spPr>
          <a:xfrm>
            <a:off x="548640" y="502920"/>
            <a:ext cx="2194560" cy="446214"/>
          </a:xfrm>
          <a:prstGeom prst="rect">
            <a:avLst/>
          </a:prstGeom>
        </p:spPr>
      </p:pic>
      <p:sp>
        <p:nvSpPr>
          <p:cNvPr id="3" name="Shape 0"/>
          <p:cNvSpPr/>
          <p:nvPr/>
        </p:nvSpPr>
        <p:spPr>
          <a:xfrm>
            <a:off x="548640" y="1984248"/>
            <a:ext cx="310896" cy="0"/>
          </a:xfrm>
          <a:prstGeom prst="line">
            <a:avLst/>
          </a:prstGeom>
          <a:noFill/>
          <a:ln w="15875">
            <a:solidFill>
              <a:schemeClr val="accent1"/>
            </a:solidFill>
            <a:prstDash val="solid"/>
          </a:ln>
        </p:spPr>
      </p:sp>
      <p:sp>
        <p:nvSpPr>
          <p:cNvPr id="4" name="Shape 1"/>
          <p:cNvSpPr/>
          <p:nvPr/>
        </p:nvSpPr>
        <p:spPr>
          <a:xfrm>
            <a:off x="548640" y="1920240"/>
            <a:ext cx="0" cy="128016"/>
          </a:xfrm>
          <a:prstGeom prst="line">
            <a:avLst/>
          </a:prstGeom>
          <a:noFill/>
          <a:ln w="15875">
            <a:solidFill>
              <a:schemeClr val="accent1"/>
            </a:solidFill>
            <a:prstDash val="solid"/>
          </a:ln>
        </p:spPr>
      </p:sp>
      <p:sp>
        <p:nvSpPr>
          <p:cNvPr id="5" name="Shape 2"/>
          <p:cNvSpPr/>
          <p:nvPr/>
        </p:nvSpPr>
        <p:spPr>
          <a:xfrm>
            <a:off x="859536" y="1920240"/>
            <a:ext cx="0" cy="128016"/>
          </a:xfrm>
          <a:prstGeom prst="line">
            <a:avLst/>
          </a:prstGeom>
          <a:noFill/>
          <a:ln w="15875">
            <a:solidFill>
              <a:schemeClr val="accent1"/>
            </a:solidFill>
            <a:prstDash val="solid"/>
          </a:ln>
        </p:spPr>
      </p:sp>
      <p:sp>
        <p:nvSpPr>
          <p:cNvPr id="6" name="Text 3"/>
          <p:cNvSpPr/>
          <p:nvPr>
            <p:ph idx="104" type="body" hasCustomPrompt="1"/>
          </p:nvPr>
        </p:nvSpPr>
        <p:spPr>
          <a:xfrm>
            <a:off x="950976" y="1847088"/>
            <a:ext cx="5029200" cy="274320"/>
          </a:xfrm>
          <a:prstGeom prst="rect">
            <a:avLst/>
          </a:prstGeom>
          <a:noFill/>
          <a:ln/>
        </p:spPr>
        <p:txBody>
          <a:bodyPr wrap="square" rtlCol="0"/>
          <a:lstStyle>
            <a:lvl1pPr indent="0" marL="0">
              <a:buNone/>
              <a:defRPr lang="en-US" sz="1300" b="1" spc="300" kern="0" dirty="0">
                <a:solidFill>
                  <a:schemeClr val="accent1"/>
                </a:solidFill>
              </a:defRPr>
            </a:lvl1pPr>
          </a:lstStyle>
          <a:p>
            <a:pPr indent="0" marL="0">
              <a:buNone/>
            </a:pPr>
            <a:endParaRPr lang="en-US" sz="1300" dirty="0"/>
          </a:p>
        </p:txBody>
      </p:sp>
      <p:sp>
        <p:nvSpPr>
          <p:cNvPr id="7" name="Text 3"/>
          <p:cNvSpPr/>
          <p:nvPr>
            <p:ph idx="105" type="title" hasCustomPrompt="1"/>
          </p:nvPr>
        </p:nvSpPr>
        <p:spPr>
          <a:xfrm>
            <a:off x="548640" y="2240280"/>
            <a:ext cx="576072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8" name="Text 3"/>
          <p:cNvSpPr/>
          <p:nvPr>
            <p:ph idx="106" type="body" hasCustomPrompt="1"/>
          </p:nvPr>
        </p:nvSpPr>
        <p:spPr>
          <a:xfrm>
            <a:off x="548640" y="3931920"/>
            <a:ext cx="502920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48640"/>
            <a:ext cx="310896" cy="0"/>
          </a:xfrm>
          <a:prstGeom prst="line">
            <a:avLst/>
          </a:prstGeom>
          <a:noFill/>
          <a:ln w="15875">
            <a:solidFill>
              <a:schemeClr val="accent1"/>
            </a:solidFill>
            <a:prstDash val="solid"/>
          </a:ln>
        </p:spPr>
      </p:sp>
      <p:sp>
        <p:nvSpPr>
          <p:cNvPr id="3" name="Shape 1"/>
          <p:cNvSpPr/>
          <p:nvPr/>
        </p:nvSpPr>
        <p:spPr>
          <a:xfrm>
            <a:off x="548640" y="484632"/>
            <a:ext cx="0" cy="128016"/>
          </a:xfrm>
          <a:prstGeom prst="line">
            <a:avLst/>
          </a:prstGeom>
          <a:noFill/>
          <a:ln w="15875">
            <a:solidFill>
              <a:schemeClr val="accent1"/>
            </a:solidFill>
            <a:prstDash val="solid"/>
          </a:ln>
        </p:spPr>
      </p:sp>
      <p:sp>
        <p:nvSpPr>
          <p:cNvPr id="4" name="Shape 2"/>
          <p:cNvSpPr/>
          <p:nvPr/>
        </p:nvSpPr>
        <p:spPr>
          <a:xfrm>
            <a:off x="859536" y="484632"/>
            <a:ext cx="0" cy="128016"/>
          </a:xfrm>
          <a:prstGeom prst="line">
            <a:avLst/>
          </a:prstGeom>
          <a:noFill/>
          <a:ln w="15875">
            <a:solidFill>
              <a:schemeClr val="accent1"/>
            </a:solidFill>
            <a:prstDash val="solid"/>
          </a:ln>
        </p:spPr>
      </p:sp>
      <p:pic>
        <p:nvPicPr>
          <p:cNvPr id="5" name="Image 0" descr="Dharstec Solutions">    </p:cNvPr>
          <p:cNvPicPr>
            <a:picLocks noChangeAspect="1"/>
          </p:cNvPicPr>
          <p:nvPr/>
        </p:nvPicPr>
        <p:blipFill>
          <a:blip r:embed="rId1"/>
          <a:stretch>
            <a:fillRect/>
          </a:stretch>
        </p:blipFill>
        <p:spPr>
          <a:xfrm>
            <a:off x="10180015" y="393192"/>
            <a:ext cx="1463040" cy="297476"/>
          </a:xfrm>
          <a:prstGeom prst="rect">
            <a:avLst/>
          </a:prstGeom>
        </p:spPr>
      </p:pic>
      <p:sp>
        <p:nvSpPr>
          <p:cNvPr id="6" name="Text 3"/>
          <p:cNvSpPr/>
          <p:nvPr/>
        </p:nvSpPr>
        <p:spPr>
          <a:xfrm>
            <a:off x="548640" y="6400800"/>
            <a:ext cx="5486400" cy="228600"/>
          </a:xfrm>
          <a:prstGeom prst="rect">
            <a:avLst/>
          </a:prstGeom>
          <a:noFill/>
          <a:ln/>
        </p:spPr>
        <p:txBody>
          <a:bodyPr wrap="square" lIns="0" tIns="0" rIns="0" bIns="0" rtlCol="0" anchor="ctr"/>
          <a:lstStyle/>
          <a:p>
            <a:pPr indent="0" marL="0">
              <a:buNone/>
            </a:pPr>
            <a:r>
              <a:rPr lang="en-US" sz="1000" dirty="0">
                <a:solidFill>
                  <a:schemeClr val="bg2"/>
                </a:solidFill>
              </a:rPr>
              <a:t>Dharstec Smart Factory  ·  Executive briefing</a:t>
            </a:r>
            <a:endParaRPr lang="en-US" sz="1000" dirty="0"/>
          </a:p>
        </p:txBody>
      </p:sp>
      <p:sp>
        <p:nvSpPr>
          <p:cNvPr id="7" name="Text 4"/>
          <p:cNvSpPr/>
          <p:nvPr>
            <p:ph idx="105" type="body" hasCustomPrompt="1"/>
          </p:nvPr>
        </p:nvSpPr>
        <p:spPr>
          <a:xfrm>
            <a:off x="950976" y="411480"/>
            <a:ext cx="7772400" cy="27432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8" name="Text 4"/>
          <p:cNvSpPr/>
          <p:nvPr>
            <p:ph idx="106" type="title" hasCustomPrompt="1"/>
          </p:nvPr>
        </p:nvSpPr>
        <p:spPr>
          <a:xfrm>
            <a:off x="548640" y="777240"/>
            <a:ext cx="11094415"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48640"/>
            <a:ext cx="310896" cy="0"/>
          </a:xfrm>
          <a:prstGeom prst="line">
            <a:avLst/>
          </a:prstGeom>
          <a:noFill/>
          <a:ln w="15875">
            <a:solidFill>
              <a:schemeClr val="accent6"/>
            </a:solidFill>
            <a:prstDash val="solid"/>
          </a:ln>
        </p:spPr>
      </p:sp>
      <p:sp>
        <p:nvSpPr>
          <p:cNvPr id="3" name="Shape 1"/>
          <p:cNvSpPr/>
          <p:nvPr/>
        </p:nvSpPr>
        <p:spPr>
          <a:xfrm>
            <a:off x="548640" y="484632"/>
            <a:ext cx="0" cy="128016"/>
          </a:xfrm>
          <a:prstGeom prst="line">
            <a:avLst/>
          </a:prstGeom>
          <a:noFill/>
          <a:ln w="15875">
            <a:solidFill>
              <a:schemeClr val="accent6"/>
            </a:solidFill>
            <a:prstDash val="solid"/>
          </a:ln>
        </p:spPr>
      </p:sp>
      <p:sp>
        <p:nvSpPr>
          <p:cNvPr id="4" name="Shape 2"/>
          <p:cNvSpPr/>
          <p:nvPr/>
        </p:nvSpPr>
        <p:spPr>
          <a:xfrm>
            <a:off x="859536" y="484632"/>
            <a:ext cx="0" cy="128016"/>
          </a:xfrm>
          <a:prstGeom prst="line">
            <a:avLst/>
          </a:prstGeom>
          <a:noFill/>
          <a:ln w="15875">
            <a:solidFill>
              <a:schemeClr val="accent6"/>
            </a:solidFill>
            <a:prstDash val="solid"/>
          </a:ln>
        </p:spPr>
      </p:sp>
      <p:pic>
        <p:nvPicPr>
          <p:cNvPr id="5" name="Image 0" descr="Dharstec Solutions">    </p:cNvPr>
          <p:cNvPicPr>
            <a:picLocks noChangeAspect="1"/>
          </p:cNvPicPr>
          <p:nvPr/>
        </p:nvPicPr>
        <p:blipFill>
          <a:blip r:embed="rId1"/>
          <a:stretch>
            <a:fillRect/>
          </a:stretch>
        </p:blipFill>
        <p:spPr>
          <a:xfrm>
            <a:off x="10180015" y="393192"/>
            <a:ext cx="1463040" cy="297476"/>
          </a:xfrm>
          <a:prstGeom prst="rect">
            <a:avLst/>
          </a:prstGeom>
        </p:spPr>
      </p:pic>
      <p:sp>
        <p:nvSpPr>
          <p:cNvPr id="6" name="Text 3"/>
          <p:cNvSpPr/>
          <p:nvPr/>
        </p:nvSpPr>
        <p:spPr>
          <a:xfrm>
            <a:off x="548640" y="6400800"/>
            <a:ext cx="5486400" cy="228600"/>
          </a:xfrm>
          <a:prstGeom prst="rect">
            <a:avLst/>
          </a:prstGeom>
          <a:noFill/>
          <a:ln/>
        </p:spPr>
        <p:txBody>
          <a:bodyPr wrap="square" lIns="0" tIns="0" rIns="0" bIns="0" rtlCol="0" anchor="ctr"/>
          <a:lstStyle/>
          <a:p>
            <a:pPr indent="0" marL="0">
              <a:buNone/>
            </a:pPr>
            <a:r>
              <a:rPr lang="en-US" sz="1000" dirty="0">
                <a:solidFill>
                  <a:schemeClr val="bg2"/>
                </a:solidFill>
              </a:rPr>
              <a:t>Dharstec Smart Factory  ·  Executive briefing</a:t>
            </a:r>
            <a:endParaRPr lang="en-US" sz="1000" dirty="0"/>
          </a:p>
        </p:txBody>
      </p:sp>
      <p:sp>
        <p:nvSpPr>
          <p:cNvPr id="7" name="Text 4"/>
          <p:cNvSpPr/>
          <p:nvPr>
            <p:ph idx="105" type="body" hasCustomPrompt="1"/>
          </p:nvPr>
        </p:nvSpPr>
        <p:spPr>
          <a:xfrm>
            <a:off x="950976" y="411480"/>
            <a:ext cx="7772400" cy="274320"/>
          </a:xfrm>
          <a:prstGeom prst="rect">
            <a:avLst/>
          </a:prstGeom>
          <a:noFill/>
          <a:ln/>
        </p:spPr>
        <p:txBody>
          <a:bodyPr wrap="square" rtlCol="0"/>
          <a:lstStyle>
            <a:lvl1pPr indent="0" marL="0">
              <a:buNone/>
              <a:defRPr lang="en-US" sz="1200" b="1" spc="300" kern="0" dirty="0">
                <a:solidFill>
                  <a:schemeClr val="accent6"/>
                </a:solidFill>
              </a:defRPr>
            </a:lvl1pPr>
          </a:lstStyle>
          <a:p>
            <a:pPr indent="0" marL="0">
              <a:buNone/>
            </a:pPr>
            <a:endParaRPr lang="en-US" sz="1200" dirty="0"/>
          </a:p>
        </p:txBody>
      </p:sp>
      <p:sp>
        <p:nvSpPr>
          <p:cNvPr id="8" name="Text 4"/>
          <p:cNvSpPr/>
          <p:nvPr>
            <p:ph idx="106" type="title" hasCustomPrompt="1"/>
          </p:nvPr>
        </p:nvSpPr>
        <p:spPr>
          <a:xfrm>
            <a:off x="548640" y="777240"/>
            <a:ext cx="11094415"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I_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Dharstec Solutions">    </p:cNvPr>
          <p:cNvPicPr>
            <a:picLocks noChangeAspect="1"/>
          </p:cNvPicPr>
          <p:nvPr/>
        </p:nvPicPr>
        <p:blipFill>
          <a:blip r:embed="rId1"/>
          <a:stretch>
            <a:fillRect/>
          </a:stretch>
        </p:blipFill>
        <p:spPr>
          <a:xfrm>
            <a:off x="548640" y="502920"/>
            <a:ext cx="1828800" cy="371845"/>
          </a:xfrm>
          <a:prstGeom prst="rect">
            <a:avLst/>
          </a:prstGeom>
        </p:spPr>
      </p:pic>
      <p:sp>
        <p:nvSpPr>
          <p:cNvPr id="3" name="Shape 0"/>
          <p:cNvSpPr/>
          <p:nvPr/>
        </p:nvSpPr>
        <p:spPr>
          <a:xfrm>
            <a:off x="548640" y="1938528"/>
            <a:ext cx="310896" cy="0"/>
          </a:xfrm>
          <a:prstGeom prst="line">
            <a:avLst/>
          </a:prstGeom>
          <a:noFill/>
          <a:ln w="15875">
            <a:solidFill>
              <a:schemeClr val="accent6"/>
            </a:solidFill>
            <a:prstDash val="solid"/>
          </a:ln>
        </p:spPr>
      </p:sp>
      <p:sp>
        <p:nvSpPr>
          <p:cNvPr id="4" name="Shape 1"/>
          <p:cNvSpPr/>
          <p:nvPr/>
        </p:nvSpPr>
        <p:spPr>
          <a:xfrm>
            <a:off x="548640" y="1874520"/>
            <a:ext cx="0" cy="128016"/>
          </a:xfrm>
          <a:prstGeom prst="line">
            <a:avLst/>
          </a:prstGeom>
          <a:noFill/>
          <a:ln w="15875">
            <a:solidFill>
              <a:schemeClr val="accent6"/>
            </a:solidFill>
            <a:prstDash val="solid"/>
          </a:ln>
        </p:spPr>
      </p:sp>
      <p:sp>
        <p:nvSpPr>
          <p:cNvPr id="5" name="Shape 2"/>
          <p:cNvSpPr/>
          <p:nvPr/>
        </p:nvSpPr>
        <p:spPr>
          <a:xfrm>
            <a:off x="859536" y="1874520"/>
            <a:ext cx="0" cy="128016"/>
          </a:xfrm>
          <a:prstGeom prst="line">
            <a:avLst/>
          </a:prstGeom>
          <a:noFill/>
          <a:ln w="15875">
            <a:solidFill>
              <a:schemeClr val="accent6"/>
            </a:solidFill>
            <a:prstDash val="solid"/>
          </a:ln>
        </p:spPr>
      </p:sp>
      <p:sp>
        <p:nvSpPr>
          <p:cNvPr id="6" name="Text 3"/>
          <p:cNvSpPr/>
          <p:nvPr/>
        </p:nvSpPr>
        <p:spPr>
          <a:xfrm>
            <a:off x="548640" y="6400800"/>
            <a:ext cx="5486400" cy="228600"/>
          </a:xfrm>
          <a:prstGeom prst="rect">
            <a:avLst/>
          </a:prstGeom>
          <a:noFill/>
          <a:ln/>
        </p:spPr>
        <p:txBody>
          <a:bodyPr wrap="square" lIns="0" tIns="0" rIns="0" bIns="0" rtlCol="0" anchor="ctr"/>
          <a:lstStyle/>
          <a:p>
            <a:pPr indent="0" marL="0">
              <a:buNone/>
            </a:pPr>
            <a:r>
              <a:rPr lang="en-US" sz="1000" dirty="0">
                <a:solidFill>
                  <a:schemeClr val="bg2"/>
                </a:solidFill>
              </a:rPr>
              <a:t>Dharstec Smart Factory  ·  Executive briefing</a:t>
            </a:r>
            <a:endParaRPr lang="en-US" sz="1000" dirty="0"/>
          </a:p>
        </p:txBody>
      </p:sp>
      <p:sp>
        <p:nvSpPr>
          <p:cNvPr id="7" name="Text 4"/>
          <p:cNvSpPr/>
          <p:nvPr>
            <p:ph idx="105" type="body" hasCustomPrompt="1"/>
          </p:nvPr>
        </p:nvSpPr>
        <p:spPr>
          <a:xfrm>
            <a:off x="950976" y="1801368"/>
            <a:ext cx="4206240" cy="274320"/>
          </a:xfrm>
          <a:prstGeom prst="rect">
            <a:avLst/>
          </a:prstGeom>
          <a:noFill/>
          <a:ln/>
        </p:spPr>
        <p:txBody>
          <a:bodyPr wrap="square" rtlCol="0"/>
          <a:lstStyle>
            <a:lvl1pPr indent="0" marL="0">
              <a:buNone/>
              <a:defRPr lang="en-US" sz="1300" b="1" spc="300" kern="0" dirty="0">
                <a:solidFill>
                  <a:schemeClr val="accent6"/>
                </a:solidFill>
              </a:defRPr>
            </a:lvl1pPr>
          </a:lstStyle>
          <a:p>
            <a:pPr indent="0" marL="0">
              <a:buNone/>
            </a:pPr>
            <a:endParaRPr lang="en-US" sz="1300" dirty="0"/>
          </a:p>
        </p:txBody>
      </p:sp>
      <p:sp>
        <p:nvSpPr>
          <p:cNvPr id="8" name="Text 4"/>
          <p:cNvSpPr/>
          <p:nvPr>
            <p:ph idx="106" type="title" hasCustomPrompt="1"/>
          </p:nvPr>
        </p:nvSpPr>
        <p:spPr>
          <a:xfrm>
            <a:off x="548640" y="2194560"/>
            <a:ext cx="5486400" cy="173736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9" name="Text 4"/>
          <p:cNvSpPr/>
          <p:nvPr>
            <p:ph idx="107" type="body" hasCustomPrompt="1"/>
          </p:nvPr>
        </p:nvSpPr>
        <p:spPr>
          <a:xfrm>
            <a:off x="548640" y="4069080"/>
            <a:ext cx="48463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4.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2.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6.png"/><Relationship Id="rId8" Type="http://schemas.openxmlformats.org/officeDocument/2006/relationships/image" Target="../media/image-13-6.png"/><Relationship Id="rId9" Type="http://schemas.openxmlformats.org/officeDocument/2006/relationships/image" Target="../media/image-13-9.png"/><Relationship Id="rId10" Type="http://schemas.openxmlformats.org/officeDocument/2006/relationships/slideLayout" Target="../slideLayouts/slideLayout3.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image" Target="../media/image-14-5.png"/><Relationship Id="rId6" Type="http://schemas.openxmlformats.org/officeDocument/2006/relationships/image" Target="../media/image-14-5.png"/><Relationship Id="rId7" Type="http://schemas.openxmlformats.org/officeDocument/2006/relationships/image" Target="../media/image-14-5.png"/><Relationship Id="rId8" Type="http://schemas.openxmlformats.org/officeDocument/2006/relationships/image" Target="../media/image-14-8.png"/><Relationship Id="rId9" Type="http://schemas.openxmlformats.org/officeDocument/2006/relationships/image" Target="../media/image-14-1.png"/><Relationship Id="rId10" Type="http://schemas.openxmlformats.org/officeDocument/2006/relationships/image" Target="../media/image-14-1.png"/><Relationship Id="rId11" Type="http://schemas.openxmlformats.org/officeDocument/2006/relationships/image" Target="../media/image-14-1.png"/><Relationship Id="rId12" Type="http://schemas.openxmlformats.org/officeDocument/2006/relationships/image" Target="../media/image-14-8.png"/><Relationship Id="rId13" Type="http://schemas.openxmlformats.org/officeDocument/2006/relationships/slideLayout" Target="../slideLayouts/slideLayout3.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4" type="body" hasCustomPrompt="1"/>
          </p:nvPr>
        </p:nvSpPr>
        <p:spPr>
          <a:xfrm>
            <a:off x="950976" y="1847088"/>
            <a:ext cx="50292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EXECUTIVE BRIEFING  ·  OCTOBER 2026</a:t>
            </a:r>
            <a:endParaRPr lang="en-US" sz="1300" dirty="0"/>
          </a:p>
        </p:txBody>
      </p:sp>
      <p:sp>
        <p:nvSpPr>
          <p:cNvPr id="3" name="Text 3"/>
          <p:cNvSpPr/>
          <p:nvPr>
            <p:ph idx="105" type="title" hasCustomPrompt="1"/>
          </p:nvPr>
        </p:nvSpPr>
        <p:spPr>
          <a:xfrm>
            <a:off x="548640" y="2240280"/>
            <a:ext cx="5760720" cy="1463040"/>
          </a:xfrm>
          <a:prstGeom prst="rect">
            <a:avLst/>
          </a:prstGeom>
          <a:noFill/>
          <a:ln/>
        </p:spPr>
        <p:txBody>
          <a:bodyPr wrap="square" lIns="0" tIns="0" rIns="0" bIns="0" rtlCol="0" anchor="t"/>
          <a:lstStyle/>
          <a:p>
            <a:pPr algn="l" indent="0" marL="0">
              <a:buNone/>
            </a:pPr>
            <a:r>
              <a:rPr lang="en-US" sz="4400" b="1" dirty="0">
                <a:solidFill>
                  <a:schemeClr val="bg1"/>
                </a:solidFill>
              </a:rPr>
              <a:t>See every machine.</a:t>
            </a:r>
            <a:endParaRPr lang="en-US" sz="4400" dirty="0"/>
          </a:p>
          <a:p>
            <a:pPr algn="l" indent="0" marL="0">
              <a:buNone/>
            </a:pPr>
            <a:r>
              <a:rPr lang="en-US" sz="4400" b="1" dirty="0">
                <a:solidFill>
                  <a:schemeClr val="accent1"/>
                </a:solidFill>
              </a:rPr>
              <a:t>Act on every minute.</a:t>
            </a:r>
            <a:endParaRPr lang="en-US" sz="4400" dirty="0"/>
          </a:p>
        </p:txBody>
      </p:sp>
      <p:sp>
        <p:nvSpPr>
          <p:cNvPr id="4" name="Text 3"/>
          <p:cNvSpPr/>
          <p:nvPr>
            <p:ph idx="106" type="body" hasCustomPrompt="1"/>
          </p:nvPr>
        </p:nvSpPr>
        <p:spPr>
          <a:xfrm>
            <a:off x="548640" y="3931920"/>
            <a:ext cx="5029200" cy="914400"/>
          </a:xfrm>
          <a:prstGeom prst="rect">
            <a:avLst/>
          </a:prstGeom>
          <a:noFill/>
          <a:ln/>
        </p:spPr>
        <p:txBody>
          <a:bodyPr wrap="square" lIns="0" tIns="0" rIns="0" bIns="0" rtlCol="0" anchor="t"/>
          <a:lstStyle/>
          <a:p>
            <a:pPr indent="0" marL="0">
              <a:buNone/>
            </a:pPr>
            <a:r>
              <a:rPr lang="en-US" sz="1800" dirty="0">
                <a:solidFill>
                  <a:schemeClr val="bg2"/>
                </a:solidFill>
              </a:rPr>
              <a:t>Dharstec Smart Factory shows every CNC machine on your floor live, on screen and on your phone, and answers your questions with AI.</a:t>
            </a:r>
            <a:endParaRPr lang="en-US" sz="1800" dirty="0"/>
          </a:p>
        </p:txBody>
      </p:sp>
      <p:sp>
        <p:nvSpPr>
          <p:cNvPr id="5" name="AI chip"/>
          <p:cNvSpPr/>
          <p:nvPr/>
        </p:nvSpPr>
        <p:spPr>
          <a:xfrm>
            <a:off x="548640" y="4983480"/>
            <a:ext cx="3429000" cy="420624"/>
          </a:xfrm>
          <a:prstGeom prst="roundRect">
            <a:avLst>
              <a:gd name="adj" fmla="val 50000"/>
            </a:avLst>
          </a:prstGeom>
          <a:solidFill>
            <a:schemeClr val="accent6">
              <a:alpha val="20000"/>
            </a:schemeClr>
          </a:solidFill>
          <a:ln w="9525">
            <a:solidFill>
              <a:schemeClr val="accent6">
                <a:alpha val="70000"/>
              </a:schemeClr>
            </a:solidFill>
            <a:prstDash val="solid"/>
          </a:ln>
        </p:spPr>
      </p:sp>
      <p:pic>
        <p:nvPicPr>
          <p:cNvPr id="6" name="AI chip orb" descr="Dharstec AI">    </p:cNvPr>
          <p:cNvPicPr>
            <a:picLocks noChangeAspect="1"/>
          </p:cNvPicPr>
          <p:nvPr/>
        </p:nvPicPr>
        <p:blipFill>
          <a:blip r:embed="rId1"/>
          <a:stretch>
            <a:fillRect/>
          </a:stretch>
        </p:blipFill>
        <p:spPr>
          <a:xfrm>
            <a:off x="566928" y="4937760"/>
            <a:ext cx="512064" cy="512064"/>
          </a:xfrm>
          <a:prstGeom prst="rect">
            <a:avLst/>
          </a:prstGeom>
        </p:spPr>
      </p:pic>
      <p:sp>
        <p:nvSpPr>
          <p:cNvPr id="7" name="AI chip text"/>
          <p:cNvSpPr txBox="1"/>
          <p:nvPr/>
        </p:nvSpPr>
        <p:spPr>
          <a:xfrm>
            <a:off x="1097280" y="4983480"/>
            <a:ext cx="2788920" cy="420624"/>
          </a:xfrm>
          <a:prstGeom prst="rect">
            <a:avLst/>
          </a:prstGeom>
          <a:noFill/>
          <a:ln/>
        </p:spPr>
        <p:txBody>
          <a:bodyPr wrap="square" lIns="0" tIns="0" rIns="0" bIns="0" rtlCol="0" anchor="ctr"/>
          <a:lstStyle/>
          <a:p>
            <a:pPr indent="0" marL="0">
              <a:buNone/>
            </a:pPr>
            <a:r>
              <a:rPr lang="en-US" sz="1200" b="1" spc="150" kern="0" dirty="0">
                <a:solidFill>
                  <a:schemeClr val="bg1"/>
                </a:solidFill>
              </a:rPr>
              <a:t>NEW: DHARSTEC AI ASSISTANT</a:t>
            </a:r>
            <a:endParaRPr lang="en-US" sz="1200" dirty="0"/>
          </a:p>
        </p:txBody>
      </p:sp>
      <p:pic>
        <p:nvPicPr>
          <p:cNvPr id="8" name="Live shop floor" descr="The live shop floor: each machine a block in its status colour, green running, amber idle, red alarm, grey offline">    </p:cNvPr>
          <p:cNvPicPr>
            <a:picLocks noChangeAspect="1"/>
          </p:cNvPicPr>
          <p:nvPr/>
        </p:nvPicPr>
        <p:blipFill>
          <a:blip r:embed="rId2"/>
          <a:stretch>
            <a:fillRect/>
          </a:stretch>
        </p:blipFill>
        <p:spPr>
          <a:xfrm>
            <a:off x="6035040" y="2103120"/>
            <a:ext cx="5669280" cy="3305349"/>
          </a:xfrm>
          <a:prstGeom prst="rect">
            <a:avLst/>
          </a:prstGeom>
        </p:spPr>
      </p:pic>
      <p:sp>
        <p:nvSpPr>
          <p:cNvPr id="9" name="Company line"/>
          <p:cNvSpPr txBox="1"/>
          <p:nvPr/>
        </p:nvSpPr>
        <p:spPr>
          <a:xfrm>
            <a:off x="548640" y="6144768"/>
            <a:ext cx="6400800" cy="274320"/>
          </a:xfrm>
          <a:prstGeom prst="rect">
            <a:avLst/>
          </a:prstGeom>
          <a:noFill/>
          <a:ln/>
        </p:spPr>
        <p:txBody>
          <a:bodyPr wrap="square" lIns="0" tIns="0" rIns="0" bIns="0" rtlCol="0" anchor="t"/>
          <a:lstStyle/>
          <a:p>
            <a:pPr indent="0" marL="0">
              <a:buNone/>
            </a:pPr>
            <a:r>
              <a:rPr lang="en-US" sz="1200" dirty="0">
                <a:solidFill>
                  <a:schemeClr val="bg2"/>
                </a:solidFill>
              </a:rPr>
              <a:t>Dharstec Solutions Pvt Ltd  ·  Chennai, India  ·  dharstec.com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CHALLENGE</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Hidden idle time costs you every shift</a:t>
            </a:r>
            <a:endParaRPr lang="en-US" sz="3600" dirty="0"/>
          </a:p>
        </p:txBody>
      </p:sp>
      <p:sp>
        <p:nvSpPr>
          <p:cNvPr id="4" name="Example card"/>
          <p:cNvSpPr/>
          <p:nvPr/>
        </p:nvSpPr>
        <p:spPr>
          <a:xfrm>
            <a:off x="548640" y="1783080"/>
            <a:ext cx="4937760" cy="4251960"/>
          </a:xfrm>
          <a:prstGeom prst="roundRect">
            <a:avLst>
              <a:gd name="adj" fmla="val 2581"/>
            </a:avLst>
          </a:prstGeom>
          <a:solidFill>
            <a:schemeClr val="tx2">
              <a:alpha val="92000"/>
            </a:schemeClr>
          </a:solidFill>
          <a:ln w="9525">
            <a:solidFill>
              <a:schemeClr val="bg2">
                <a:alpha val="22000"/>
              </a:schemeClr>
            </a:solidFill>
            <a:prstDash val="solid"/>
          </a:ln>
        </p:spPr>
      </p:sp>
      <p:sp>
        <p:nvSpPr>
          <p:cNvPr id="5" name="Example label"/>
          <p:cNvSpPr txBox="1"/>
          <p:nvPr/>
        </p:nvSpPr>
        <p:spPr>
          <a:xfrm>
            <a:off x="914400" y="2121408"/>
            <a:ext cx="420624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A SIMPLE EXAMPLE</a:t>
            </a:r>
            <a:endParaRPr lang="en-US" sz="1200" dirty="0"/>
          </a:p>
        </p:txBody>
      </p:sp>
      <p:sp>
        <p:nvSpPr>
          <p:cNvPr id="6" name="Lost hours"/>
          <p:cNvSpPr txBox="1"/>
          <p:nvPr/>
        </p:nvSpPr>
        <p:spPr>
          <a:xfrm>
            <a:off x="914400" y="2423160"/>
            <a:ext cx="4206240" cy="1143000"/>
          </a:xfrm>
          <a:prstGeom prst="rect">
            <a:avLst/>
          </a:prstGeom>
          <a:noFill/>
          <a:ln/>
        </p:spPr>
        <p:txBody>
          <a:bodyPr wrap="square" lIns="0" tIns="0" rIns="0" bIns="0" rtlCol="0" anchor="ctr"/>
          <a:lstStyle/>
          <a:p>
            <a:pPr indent="0" marL="0">
              <a:buNone/>
            </a:pPr>
            <a:r>
              <a:rPr lang="en-US" sz="8000" b="1" dirty="0">
                <a:solidFill>
                  <a:schemeClr val="accent4"/>
                </a:solidFill>
              </a:rPr>
              <a:t>3,000</a:t>
            </a:r>
            <a:endParaRPr lang="en-US" sz="8000" dirty="0"/>
          </a:p>
        </p:txBody>
      </p:sp>
      <p:sp>
        <p:nvSpPr>
          <p:cNvPr id="7" name="Lost hours label"/>
          <p:cNvSpPr txBox="1"/>
          <p:nvPr/>
        </p:nvSpPr>
        <p:spPr>
          <a:xfrm>
            <a:off x="914400" y="3584448"/>
            <a:ext cx="4206240" cy="411480"/>
          </a:xfrm>
          <a:prstGeom prst="rect">
            <a:avLst/>
          </a:prstGeom>
          <a:noFill/>
          <a:ln/>
        </p:spPr>
        <p:txBody>
          <a:bodyPr wrap="square" lIns="0" tIns="0" rIns="0" bIns="0" rtlCol="0" anchor="t"/>
          <a:lstStyle/>
          <a:p>
            <a:pPr indent="0" marL="0">
              <a:buNone/>
            </a:pPr>
            <a:r>
              <a:rPr lang="en-US" sz="2200" b="1" dirty="0">
                <a:solidFill>
                  <a:schemeClr val="bg1"/>
                </a:solidFill>
              </a:rPr>
              <a:t>machine hours lost in a year</a:t>
            </a:r>
            <a:endParaRPr lang="en-US" sz="2200" dirty="0"/>
          </a:p>
        </p:txBody>
      </p:sp>
      <p:sp>
        <p:nvSpPr>
          <p:cNvPr id="8" name="The sum"/>
          <p:cNvSpPr txBox="1"/>
          <p:nvPr/>
        </p:nvSpPr>
        <p:spPr>
          <a:xfrm>
            <a:off x="914400" y="4160520"/>
            <a:ext cx="4206240" cy="594360"/>
          </a:xfrm>
          <a:prstGeom prst="rect">
            <a:avLst/>
          </a:prstGeom>
          <a:noFill/>
          <a:ln/>
        </p:spPr>
        <p:txBody>
          <a:bodyPr wrap="square" lIns="0" tIns="0" rIns="0" bIns="0" rtlCol="0" anchor="t"/>
          <a:lstStyle/>
          <a:p>
            <a:pPr indent="0" marL="0">
              <a:buNone/>
            </a:pPr>
            <a:r>
              <a:rPr lang="en-US" sz="1500" dirty="0">
                <a:solidFill>
                  <a:schemeClr val="bg2"/>
                </a:solidFill>
              </a:rPr>
              <a:t>10 machines  ×  1 idle hour a day  ×  300 working days</a:t>
            </a:r>
            <a:endParaRPr lang="en-US" sz="1500" dirty="0"/>
          </a:p>
        </p:txBody>
      </p:sp>
      <p:sp>
        <p:nvSpPr>
          <p:cNvPr id="9" name="Takeaway"/>
          <p:cNvSpPr txBox="1"/>
          <p:nvPr/>
        </p:nvSpPr>
        <p:spPr>
          <a:xfrm>
            <a:off x="914400" y="4983480"/>
            <a:ext cx="4206240" cy="640080"/>
          </a:xfrm>
          <a:prstGeom prst="rect">
            <a:avLst/>
          </a:prstGeom>
          <a:noFill/>
          <a:ln/>
        </p:spPr>
        <p:txBody>
          <a:bodyPr wrap="square" lIns="0" tIns="0" rIns="0" bIns="0" rtlCol="0" anchor="t"/>
          <a:lstStyle/>
          <a:p>
            <a:pPr indent="0" marL="0">
              <a:buNone/>
            </a:pPr>
            <a:r>
              <a:rPr lang="en-US" sz="1600" i="1" dirty="0">
                <a:solidFill>
                  <a:schemeClr val="bg1"/>
                </a:solidFill>
              </a:rPr>
              <a:t>Most plants only find out at the end of the shift, or the month.</a:t>
            </a:r>
            <a:endParaRPr lang="en-US" sz="1600" dirty="0"/>
          </a:p>
        </p:txBody>
      </p:sp>
      <p:sp>
        <p:nvSpPr>
          <p:cNvPr id="10" name="Idle time nobody sees tile"/>
          <p:cNvSpPr/>
          <p:nvPr/>
        </p:nvSpPr>
        <p:spPr>
          <a:xfrm>
            <a:off x="5852160" y="1965960"/>
            <a:ext cx="731520" cy="731520"/>
          </a:xfrm>
          <a:prstGeom prst="roundRect">
            <a:avLst>
              <a:gd name="adj" fmla="val 24000"/>
            </a:avLst>
          </a:prstGeom>
          <a:solidFill>
            <a:schemeClr val="accent4">
              <a:alpha val="16000"/>
            </a:schemeClr>
          </a:solidFill>
          <a:ln/>
        </p:spPr>
      </p:sp>
      <p:pic>
        <p:nvPicPr>
          <p:cNvPr id="11" name="Idle time nobody sees icon" descr="Idle time nobody sees">    </p:cNvPr>
          <p:cNvPicPr>
            <a:picLocks noChangeAspect="1"/>
          </p:cNvPicPr>
          <p:nvPr/>
        </p:nvPicPr>
        <p:blipFill>
          <a:blip r:embed="rId1"/>
          <a:stretch>
            <a:fillRect/>
          </a:stretch>
        </p:blipFill>
        <p:spPr>
          <a:xfrm>
            <a:off x="6013094" y="2126894"/>
            <a:ext cx="409651" cy="409651"/>
          </a:xfrm>
          <a:prstGeom prst="rect">
            <a:avLst/>
          </a:prstGeom>
        </p:spPr>
      </p:pic>
      <p:sp>
        <p:nvSpPr>
          <p:cNvPr id="12" name="Idle time nobody sees heading"/>
          <p:cNvSpPr txBox="1"/>
          <p:nvPr/>
        </p:nvSpPr>
        <p:spPr>
          <a:xfrm>
            <a:off x="6858000" y="1947672"/>
            <a:ext cx="4782312" cy="384048"/>
          </a:xfrm>
          <a:prstGeom prst="rect">
            <a:avLst/>
          </a:prstGeom>
          <a:noFill/>
          <a:ln/>
        </p:spPr>
        <p:txBody>
          <a:bodyPr wrap="square" lIns="0" tIns="0" rIns="0" bIns="0" rtlCol="0" anchor="t"/>
          <a:lstStyle/>
          <a:p>
            <a:pPr indent="0" marL="0">
              <a:buNone/>
            </a:pPr>
            <a:r>
              <a:rPr lang="en-US" sz="2000" b="1" dirty="0">
                <a:solidFill>
                  <a:schemeClr val="bg1"/>
                </a:solidFill>
              </a:rPr>
              <a:t>Idle time nobody sees</a:t>
            </a:r>
            <a:endParaRPr lang="en-US" sz="2000" dirty="0"/>
          </a:p>
        </p:txBody>
      </p:sp>
      <p:sp>
        <p:nvSpPr>
          <p:cNvPr id="13" name="Idle time nobody sees text"/>
          <p:cNvSpPr txBox="1"/>
          <p:nvPr/>
        </p:nvSpPr>
        <p:spPr>
          <a:xfrm>
            <a:off x="6858000" y="2350008"/>
            <a:ext cx="4782312" cy="640080"/>
          </a:xfrm>
          <a:prstGeom prst="rect">
            <a:avLst/>
          </a:prstGeom>
          <a:noFill/>
          <a:ln/>
        </p:spPr>
        <p:txBody>
          <a:bodyPr wrap="square" lIns="0" tIns="0" rIns="0" bIns="0" rtlCol="0" anchor="t"/>
          <a:lstStyle/>
          <a:p>
            <a:pPr indent="0" marL="0">
              <a:buNone/>
            </a:pPr>
            <a:r>
              <a:rPr lang="en-US" sz="1500" dirty="0">
                <a:solidFill>
                  <a:schemeClr val="bg2"/>
                </a:solidFill>
              </a:rPr>
              <a:t>Machines wait for material, a program or an operator, and nobody is told.</a:t>
            </a:r>
            <a:endParaRPr lang="en-US" sz="1500" dirty="0"/>
          </a:p>
        </p:txBody>
      </p:sp>
      <p:sp>
        <p:nvSpPr>
          <p:cNvPr id="14" name="Alarms answered late tile"/>
          <p:cNvSpPr/>
          <p:nvPr/>
        </p:nvSpPr>
        <p:spPr>
          <a:xfrm>
            <a:off x="5852160" y="3364992"/>
            <a:ext cx="731520" cy="731520"/>
          </a:xfrm>
          <a:prstGeom prst="roundRect">
            <a:avLst>
              <a:gd name="adj" fmla="val 24000"/>
            </a:avLst>
          </a:prstGeom>
          <a:solidFill>
            <a:schemeClr val="accent5">
              <a:alpha val="16000"/>
            </a:schemeClr>
          </a:solidFill>
          <a:ln/>
        </p:spPr>
      </p:sp>
      <p:pic>
        <p:nvPicPr>
          <p:cNvPr id="15" name="Alarms answered late icon" descr="Alarms answered late">    </p:cNvPr>
          <p:cNvPicPr>
            <a:picLocks noChangeAspect="1"/>
          </p:cNvPicPr>
          <p:nvPr/>
        </p:nvPicPr>
        <p:blipFill>
          <a:blip r:embed="rId2"/>
          <a:stretch>
            <a:fillRect/>
          </a:stretch>
        </p:blipFill>
        <p:spPr>
          <a:xfrm>
            <a:off x="6013094" y="3525926"/>
            <a:ext cx="409651" cy="409651"/>
          </a:xfrm>
          <a:prstGeom prst="rect">
            <a:avLst/>
          </a:prstGeom>
        </p:spPr>
      </p:pic>
      <p:sp>
        <p:nvSpPr>
          <p:cNvPr id="16" name="Alarms answered late heading"/>
          <p:cNvSpPr txBox="1"/>
          <p:nvPr/>
        </p:nvSpPr>
        <p:spPr>
          <a:xfrm>
            <a:off x="6858000" y="3346704"/>
            <a:ext cx="4782312" cy="384048"/>
          </a:xfrm>
          <a:prstGeom prst="rect">
            <a:avLst/>
          </a:prstGeom>
          <a:noFill/>
          <a:ln/>
        </p:spPr>
        <p:txBody>
          <a:bodyPr wrap="square" lIns="0" tIns="0" rIns="0" bIns="0" rtlCol="0" anchor="t"/>
          <a:lstStyle/>
          <a:p>
            <a:pPr indent="0" marL="0">
              <a:buNone/>
            </a:pPr>
            <a:r>
              <a:rPr lang="en-US" sz="2000" b="1" dirty="0">
                <a:solidFill>
                  <a:schemeClr val="bg1"/>
                </a:solidFill>
              </a:rPr>
              <a:t>Alarms answered late</a:t>
            </a:r>
            <a:endParaRPr lang="en-US" sz="2000" dirty="0"/>
          </a:p>
        </p:txBody>
      </p:sp>
      <p:sp>
        <p:nvSpPr>
          <p:cNvPr id="17" name="Alarms answered late text"/>
          <p:cNvSpPr txBox="1"/>
          <p:nvPr/>
        </p:nvSpPr>
        <p:spPr>
          <a:xfrm>
            <a:off x="6858000" y="3749040"/>
            <a:ext cx="4782312" cy="640080"/>
          </a:xfrm>
          <a:prstGeom prst="rect">
            <a:avLst/>
          </a:prstGeom>
          <a:noFill/>
          <a:ln/>
        </p:spPr>
        <p:txBody>
          <a:bodyPr wrap="square" lIns="0" tIns="0" rIns="0" bIns="0" rtlCol="0" anchor="t"/>
          <a:lstStyle/>
          <a:p>
            <a:pPr indent="0" marL="0">
              <a:buNone/>
            </a:pPr>
            <a:r>
              <a:rPr lang="en-US" sz="1500" dirty="0">
                <a:solidFill>
                  <a:schemeClr val="bg2"/>
                </a:solidFill>
              </a:rPr>
              <a:t>A stopped machine can wait an hour before the right person hears.</a:t>
            </a:r>
            <a:endParaRPr lang="en-US" sz="1500" dirty="0"/>
          </a:p>
        </p:txBody>
      </p:sp>
      <p:sp>
        <p:nvSpPr>
          <p:cNvPr id="18" name="Reports that come too late tile"/>
          <p:cNvSpPr/>
          <p:nvPr/>
        </p:nvSpPr>
        <p:spPr>
          <a:xfrm>
            <a:off x="5852160" y="4764024"/>
            <a:ext cx="731520" cy="731520"/>
          </a:xfrm>
          <a:prstGeom prst="roundRect">
            <a:avLst>
              <a:gd name="adj" fmla="val 24000"/>
            </a:avLst>
          </a:prstGeom>
          <a:solidFill>
            <a:schemeClr val="accent6">
              <a:alpha val="16000"/>
            </a:schemeClr>
          </a:solidFill>
          <a:ln/>
        </p:spPr>
      </p:sp>
      <p:pic>
        <p:nvPicPr>
          <p:cNvPr id="19" name="Reports that come too late icon" descr="Reports that come too late">    </p:cNvPr>
          <p:cNvPicPr>
            <a:picLocks noChangeAspect="1"/>
          </p:cNvPicPr>
          <p:nvPr/>
        </p:nvPicPr>
        <p:blipFill>
          <a:blip r:embed="rId3"/>
          <a:stretch>
            <a:fillRect/>
          </a:stretch>
        </p:blipFill>
        <p:spPr>
          <a:xfrm>
            <a:off x="6013094" y="4924958"/>
            <a:ext cx="409651" cy="409651"/>
          </a:xfrm>
          <a:prstGeom prst="rect">
            <a:avLst/>
          </a:prstGeom>
        </p:spPr>
      </p:pic>
      <p:sp>
        <p:nvSpPr>
          <p:cNvPr id="20" name="Reports that come too late heading"/>
          <p:cNvSpPr txBox="1"/>
          <p:nvPr/>
        </p:nvSpPr>
        <p:spPr>
          <a:xfrm>
            <a:off x="6858000" y="4745736"/>
            <a:ext cx="4782312" cy="384048"/>
          </a:xfrm>
          <a:prstGeom prst="rect">
            <a:avLst/>
          </a:prstGeom>
          <a:noFill/>
          <a:ln/>
        </p:spPr>
        <p:txBody>
          <a:bodyPr wrap="square" lIns="0" tIns="0" rIns="0" bIns="0" rtlCol="0" anchor="t"/>
          <a:lstStyle/>
          <a:p>
            <a:pPr indent="0" marL="0">
              <a:buNone/>
            </a:pPr>
            <a:r>
              <a:rPr lang="en-US" sz="2000" b="1" dirty="0">
                <a:solidFill>
                  <a:schemeClr val="bg1"/>
                </a:solidFill>
              </a:rPr>
              <a:t>Reports that come too late</a:t>
            </a:r>
            <a:endParaRPr lang="en-US" sz="2000" dirty="0"/>
          </a:p>
        </p:txBody>
      </p:sp>
      <p:sp>
        <p:nvSpPr>
          <p:cNvPr id="21" name="Reports that come too late text"/>
          <p:cNvSpPr txBox="1"/>
          <p:nvPr/>
        </p:nvSpPr>
        <p:spPr>
          <a:xfrm>
            <a:off x="6858000" y="5148072"/>
            <a:ext cx="4782312" cy="640080"/>
          </a:xfrm>
          <a:prstGeom prst="rect">
            <a:avLst/>
          </a:prstGeom>
          <a:noFill/>
          <a:ln/>
        </p:spPr>
        <p:txBody>
          <a:bodyPr wrap="square" lIns="0" tIns="0" rIns="0" bIns="0" rtlCol="0" anchor="t"/>
          <a:lstStyle/>
          <a:p>
            <a:pPr indent="0" marL="0">
              <a:buNone/>
            </a:pPr>
            <a:r>
              <a:rPr lang="en-US" sz="1500" dirty="0">
                <a:solidFill>
                  <a:schemeClr val="bg2"/>
                </a:solidFill>
              </a:rPr>
              <a:t>Registers and spreadsheets arrive after the shift, and rarely agree.</a:t>
            </a:r>
            <a:endParaRPr lang="en-US" sz="15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LIVE DASHBOARD</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One live picture of your whole plant</a:t>
            </a:r>
            <a:endParaRPr lang="en-US" sz="3600" dirty="0"/>
          </a:p>
        </p:txBody>
      </p:sp>
      <p:pic>
        <p:nvPicPr>
          <p:cNvPr id="4" name="Live Dashboard screen" descr="Live Dashboard: the shop floor as coloured machine blocks, with running count, shift progress and the machines that need attention">    </p:cNvPr>
          <p:cNvPicPr>
            <a:picLocks noChangeAspect="1"/>
          </p:cNvPicPr>
          <p:nvPr/>
        </p:nvPicPr>
        <p:blipFill>
          <a:blip r:embed="rId1"/>
          <a:stretch>
            <a:fillRect/>
          </a:stretch>
        </p:blipFill>
        <p:spPr>
          <a:xfrm>
            <a:off x="548640" y="1783080"/>
            <a:ext cx="8001000" cy="4048506"/>
          </a:xfrm>
          <a:prstGeom prst="rect">
            <a:avLst/>
          </a:prstGeom>
        </p:spPr>
      </p:pic>
      <p:sp>
        <p:nvSpPr>
          <p:cNvPr id="5" name="Screen marker 1"/>
          <p:cNvSpPr/>
          <p:nvPr/>
        </p:nvSpPr>
        <p:spPr>
          <a:xfrm>
            <a:off x="1365885" y="2920013"/>
            <a:ext cx="365760" cy="365760"/>
          </a:xfrm>
          <a:prstGeom prst="ellipse">
            <a:avLst/>
          </a:prstGeom>
          <a:solidFill>
            <a:schemeClr val="accent1"/>
          </a:solidFill>
          <a:ln w="19050">
            <a:solidFill>
              <a:schemeClr val="tx1"/>
            </a:solidFill>
            <a:prstDash val="solid"/>
          </a:ln>
        </p:spPr>
      </p:sp>
      <p:sp>
        <p:nvSpPr>
          <p:cNvPr id="6" name="Screen marker 1 number"/>
          <p:cNvSpPr txBox="1"/>
          <p:nvPr/>
        </p:nvSpPr>
        <p:spPr>
          <a:xfrm>
            <a:off x="1365885" y="2920013"/>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Screen marker 2"/>
          <p:cNvSpPr/>
          <p:nvPr/>
        </p:nvSpPr>
        <p:spPr>
          <a:xfrm>
            <a:off x="5526405" y="2798558"/>
            <a:ext cx="365760" cy="365760"/>
          </a:xfrm>
          <a:prstGeom prst="ellipse">
            <a:avLst/>
          </a:prstGeom>
          <a:solidFill>
            <a:schemeClr val="accent1"/>
          </a:solidFill>
          <a:ln w="19050">
            <a:solidFill>
              <a:schemeClr val="tx1"/>
            </a:solidFill>
            <a:prstDash val="solid"/>
          </a:ln>
        </p:spPr>
      </p:sp>
      <p:sp>
        <p:nvSpPr>
          <p:cNvPr id="8" name="Screen marker 2 number"/>
          <p:cNvSpPr txBox="1"/>
          <p:nvPr/>
        </p:nvSpPr>
        <p:spPr>
          <a:xfrm>
            <a:off x="5526405" y="279855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9" name="Screen marker 3"/>
          <p:cNvSpPr/>
          <p:nvPr/>
        </p:nvSpPr>
        <p:spPr>
          <a:xfrm>
            <a:off x="5526405" y="4960460"/>
            <a:ext cx="365760" cy="365760"/>
          </a:xfrm>
          <a:prstGeom prst="ellipse">
            <a:avLst/>
          </a:prstGeom>
          <a:solidFill>
            <a:schemeClr val="accent1"/>
          </a:solidFill>
          <a:ln w="19050">
            <a:solidFill>
              <a:schemeClr val="tx1"/>
            </a:solidFill>
            <a:prstDash val="solid"/>
          </a:ln>
        </p:spPr>
      </p:sp>
      <p:sp>
        <p:nvSpPr>
          <p:cNvPr id="10" name="Screen marker 3 number"/>
          <p:cNvSpPr txBox="1"/>
          <p:nvPr/>
        </p:nvSpPr>
        <p:spPr>
          <a:xfrm>
            <a:off x="5526405" y="496046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Callout marker 1"/>
          <p:cNvSpPr/>
          <p:nvPr/>
        </p:nvSpPr>
        <p:spPr>
          <a:xfrm>
            <a:off x="8869680" y="1828800"/>
            <a:ext cx="365760" cy="365760"/>
          </a:xfrm>
          <a:prstGeom prst="ellipse">
            <a:avLst/>
          </a:prstGeom>
          <a:solidFill>
            <a:schemeClr val="accent1"/>
          </a:solidFill>
          <a:ln w="19050">
            <a:solidFill>
              <a:schemeClr val="tx1"/>
            </a:solidFill>
            <a:prstDash val="solid"/>
          </a:ln>
        </p:spPr>
      </p:sp>
      <p:sp>
        <p:nvSpPr>
          <p:cNvPr id="12" name="Callout marker 1 number"/>
          <p:cNvSpPr txBox="1"/>
          <p:nvPr/>
        </p:nvSpPr>
        <p:spPr>
          <a:xfrm>
            <a:off x="8869680" y="182880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3" name="Status in colour heading"/>
          <p:cNvSpPr txBox="1"/>
          <p:nvPr/>
        </p:nvSpPr>
        <p:spPr>
          <a:xfrm>
            <a:off x="9372600" y="1828800"/>
            <a:ext cx="2267712" cy="365760"/>
          </a:xfrm>
          <a:prstGeom prst="rect">
            <a:avLst/>
          </a:prstGeom>
          <a:noFill/>
          <a:ln/>
        </p:spPr>
        <p:txBody>
          <a:bodyPr wrap="square" lIns="0" tIns="0" rIns="0" bIns="0" rtlCol="0" anchor="ctr"/>
          <a:lstStyle/>
          <a:p>
            <a:pPr indent="0" marL="0">
              <a:buNone/>
            </a:pPr>
            <a:r>
              <a:rPr lang="en-US" sz="1800" b="1" dirty="0">
                <a:solidFill>
                  <a:schemeClr val="bg1"/>
                </a:solidFill>
              </a:rPr>
              <a:t>Status in colour</a:t>
            </a:r>
            <a:endParaRPr lang="en-US" sz="1800" dirty="0"/>
          </a:p>
        </p:txBody>
      </p:sp>
      <p:sp>
        <p:nvSpPr>
          <p:cNvPr id="14" name="Status in colour text"/>
          <p:cNvSpPr txBox="1"/>
          <p:nvPr/>
        </p:nvSpPr>
        <p:spPr>
          <a:xfrm>
            <a:off x="8869680" y="2304288"/>
            <a:ext cx="2770632" cy="777240"/>
          </a:xfrm>
          <a:prstGeom prst="rect">
            <a:avLst/>
          </a:prstGeom>
          <a:noFill/>
          <a:ln/>
        </p:spPr>
        <p:txBody>
          <a:bodyPr wrap="square" lIns="0" tIns="0" rIns="0" bIns="0" rtlCol="0" anchor="t"/>
          <a:lstStyle/>
          <a:p>
            <a:pPr indent="0" marL="0">
              <a:buNone/>
            </a:pPr>
            <a:r>
              <a:rPr lang="en-US" sz="1400" dirty="0">
                <a:solidFill>
                  <a:schemeClr val="bg2"/>
                </a:solidFill>
              </a:rPr>
              <a:t>Green running, amber idle, red alarm, grey offline, in one look.</a:t>
            </a:r>
            <a:endParaRPr lang="en-US" sz="1400" dirty="0"/>
          </a:p>
        </p:txBody>
      </p:sp>
      <p:sp>
        <p:nvSpPr>
          <p:cNvPr id="15" name="Callout marker 2"/>
          <p:cNvSpPr/>
          <p:nvPr/>
        </p:nvSpPr>
        <p:spPr>
          <a:xfrm>
            <a:off x="8869680" y="3200400"/>
            <a:ext cx="365760" cy="365760"/>
          </a:xfrm>
          <a:prstGeom prst="ellipse">
            <a:avLst/>
          </a:prstGeom>
          <a:solidFill>
            <a:schemeClr val="accent1"/>
          </a:solidFill>
          <a:ln w="19050">
            <a:solidFill>
              <a:schemeClr val="tx1"/>
            </a:solidFill>
            <a:prstDash val="solid"/>
          </a:ln>
        </p:spPr>
      </p:sp>
      <p:sp>
        <p:nvSpPr>
          <p:cNvPr id="16" name="Callout marker 2 number"/>
          <p:cNvSpPr txBox="1"/>
          <p:nvPr/>
        </p:nvSpPr>
        <p:spPr>
          <a:xfrm>
            <a:off x="8869680" y="320040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Shift at a glance heading"/>
          <p:cNvSpPr txBox="1"/>
          <p:nvPr/>
        </p:nvSpPr>
        <p:spPr>
          <a:xfrm>
            <a:off x="9372600" y="3200400"/>
            <a:ext cx="2267712" cy="365760"/>
          </a:xfrm>
          <a:prstGeom prst="rect">
            <a:avLst/>
          </a:prstGeom>
          <a:noFill/>
          <a:ln/>
        </p:spPr>
        <p:txBody>
          <a:bodyPr wrap="square" lIns="0" tIns="0" rIns="0" bIns="0" rtlCol="0" anchor="ctr"/>
          <a:lstStyle/>
          <a:p>
            <a:pPr indent="0" marL="0">
              <a:buNone/>
            </a:pPr>
            <a:r>
              <a:rPr lang="en-US" sz="1800" b="1" dirty="0">
                <a:solidFill>
                  <a:schemeClr val="bg1"/>
                </a:solidFill>
              </a:rPr>
              <a:t>Shift at a glance</a:t>
            </a:r>
            <a:endParaRPr lang="en-US" sz="1800" dirty="0"/>
          </a:p>
        </p:txBody>
      </p:sp>
      <p:sp>
        <p:nvSpPr>
          <p:cNvPr id="18" name="Shift at a glance text"/>
          <p:cNvSpPr txBox="1"/>
          <p:nvPr/>
        </p:nvSpPr>
        <p:spPr>
          <a:xfrm>
            <a:off x="8869680" y="3675888"/>
            <a:ext cx="2770632" cy="777240"/>
          </a:xfrm>
          <a:prstGeom prst="rect">
            <a:avLst/>
          </a:prstGeom>
          <a:noFill/>
          <a:ln/>
        </p:spPr>
        <p:txBody>
          <a:bodyPr wrap="square" lIns="0" tIns="0" rIns="0" bIns="0" rtlCol="0" anchor="t"/>
          <a:lstStyle/>
          <a:p>
            <a:pPr indent="0" marL="0">
              <a:buNone/>
            </a:pPr>
            <a:r>
              <a:rPr lang="en-US" sz="1400" dirty="0">
                <a:solidFill>
                  <a:schemeClr val="bg2"/>
                </a:solidFill>
              </a:rPr>
              <a:t>How many machines are running, and how much of the shift is left.</a:t>
            </a:r>
            <a:endParaRPr lang="en-US" sz="1400" dirty="0"/>
          </a:p>
        </p:txBody>
      </p:sp>
      <p:sp>
        <p:nvSpPr>
          <p:cNvPr id="19" name="Callout marker 3"/>
          <p:cNvSpPr/>
          <p:nvPr/>
        </p:nvSpPr>
        <p:spPr>
          <a:xfrm>
            <a:off x="8869680" y="4572000"/>
            <a:ext cx="365760" cy="365760"/>
          </a:xfrm>
          <a:prstGeom prst="ellipse">
            <a:avLst/>
          </a:prstGeom>
          <a:solidFill>
            <a:schemeClr val="accent1"/>
          </a:solidFill>
          <a:ln w="19050">
            <a:solidFill>
              <a:schemeClr val="tx1"/>
            </a:solidFill>
            <a:prstDash val="solid"/>
          </a:ln>
        </p:spPr>
      </p:sp>
      <p:sp>
        <p:nvSpPr>
          <p:cNvPr id="20" name="Callout marker 3 number"/>
          <p:cNvSpPr txBox="1"/>
          <p:nvPr/>
        </p:nvSpPr>
        <p:spPr>
          <a:xfrm>
            <a:off x="8869680" y="457200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1" name="What needs you heading"/>
          <p:cNvSpPr txBox="1"/>
          <p:nvPr/>
        </p:nvSpPr>
        <p:spPr>
          <a:xfrm>
            <a:off x="9372600" y="4572000"/>
            <a:ext cx="2267712" cy="365760"/>
          </a:xfrm>
          <a:prstGeom prst="rect">
            <a:avLst/>
          </a:prstGeom>
          <a:noFill/>
          <a:ln/>
        </p:spPr>
        <p:txBody>
          <a:bodyPr wrap="square" lIns="0" tIns="0" rIns="0" bIns="0" rtlCol="0" anchor="ctr"/>
          <a:lstStyle/>
          <a:p>
            <a:pPr indent="0" marL="0">
              <a:buNone/>
            </a:pPr>
            <a:r>
              <a:rPr lang="en-US" sz="1800" b="1" dirty="0">
                <a:solidFill>
                  <a:schemeClr val="bg1"/>
                </a:solidFill>
              </a:rPr>
              <a:t>What needs you</a:t>
            </a:r>
            <a:endParaRPr lang="en-US" sz="1800" dirty="0"/>
          </a:p>
        </p:txBody>
      </p:sp>
      <p:sp>
        <p:nvSpPr>
          <p:cNvPr id="22" name="What needs you text"/>
          <p:cNvSpPr txBox="1"/>
          <p:nvPr/>
        </p:nvSpPr>
        <p:spPr>
          <a:xfrm>
            <a:off x="8869680" y="5047488"/>
            <a:ext cx="2770632" cy="777240"/>
          </a:xfrm>
          <a:prstGeom prst="rect">
            <a:avLst/>
          </a:prstGeom>
          <a:noFill/>
          <a:ln/>
        </p:spPr>
        <p:txBody>
          <a:bodyPr wrap="square" lIns="0" tIns="0" rIns="0" bIns="0" rtlCol="0" anchor="t"/>
          <a:lstStyle/>
          <a:p>
            <a:pPr indent="0" marL="0">
              <a:buNone/>
            </a:pPr>
            <a:r>
              <a:rPr lang="en-US" sz="1400" dirty="0">
                <a:solidFill>
                  <a:schemeClr val="bg2"/>
                </a:solidFill>
              </a:rPr>
              <a:t>Machines in alarm or idle too long rise to the top of the list.</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MACHINE COCKPIT</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Every machine, read like a cockpit</a:t>
            </a:r>
            <a:endParaRPr lang="en-US" sz="3600" dirty="0"/>
          </a:p>
        </p:txBody>
      </p:sp>
      <p:pic>
        <p:nvPicPr>
          <p:cNvPr id="4" name="Machine cockpit screen" descr="Machine cockpit: spindle load dial, OEE rings, parts made against target, and status lamps">    </p:cNvPr>
          <p:cNvPicPr>
            <a:picLocks noChangeAspect="1"/>
          </p:cNvPicPr>
          <p:nvPr/>
        </p:nvPicPr>
        <p:blipFill>
          <a:blip r:embed="rId1"/>
          <a:stretch>
            <a:fillRect/>
          </a:stretch>
        </p:blipFill>
        <p:spPr>
          <a:xfrm>
            <a:off x="3934663" y="1783080"/>
            <a:ext cx="7708392" cy="3576694"/>
          </a:xfrm>
          <a:prstGeom prst="rect">
            <a:avLst/>
          </a:prstGeom>
        </p:spPr>
      </p:pic>
      <p:sp>
        <p:nvSpPr>
          <p:cNvPr id="5" name="Also on every machine"/>
          <p:cNvSpPr txBox="1"/>
          <p:nvPr/>
        </p:nvSpPr>
        <p:spPr>
          <a:xfrm>
            <a:off x="3934663" y="5577840"/>
            <a:ext cx="7708392" cy="320040"/>
          </a:xfrm>
          <a:prstGeom prst="rect">
            <a:avLst/>
          </a:prstGeom>
          <a:noFill/>
          <a:ln/>
        </p:spPr>
        <p:txBody>
          <a:bodyPr wrap="square" lIns="0" tIns="0" rIns="0" bIns="0" rtlCol="0" anchor="t"/>
          <a:lstStyle/>
          <a:p>
            <a:pPr indent="0" marL="0">
              <a:buNone/>
            </a:pPr>
            <a:r>
              <a:rPr lang="en-US" sz="1400" dirty="0">
                <a:solidFill>
                  <a:schemeClr val="bg2"/>
                </a:solidFill>
              </a:rPr>
              <a:t>Also on every machine: the shift timeline, hourly output, quality, operator and part.</a:t>
            </a:r>
            <a:endParaRPr lang="en-US" sz="1400" dirty="0"/>
          </a:p>
        </p:txBody>
      </p:sp>
      <p:sp>
        <p:nvSpPr>
          <p:cNvPr id="6" name="Spindle load tile"/>
          <p:cNvSpPr/>
          <p:nvPr/>
        </p:nvSpPr>
        <p:spPr>
          <a:xfrm>
            <a:off x="548640" y="1828800"/>
            <a:ext cx="502920" cy="502920"/>
          </a:xfrm>
          <a:prstGeom prst="roundRect">
            <a:avLst>
              <a:gd name="adj" fmla="val 24000"/>
            </a:avLst>
          </a:prstGeom>
          <a:solidFill>
            <a:schemeClr val="accent3">
              <a:alpha val="16000"/>
            </a:schemeClr>
          </a:solidFill>
          <a:ln/>
        </p:spPr>
      </p:sp>
      <p:pic>
        <p:nvPicPr>
          <p:cNvPr id="7" name="Spindle load icon" descr="Spindle load">    </p:cNvPr>
          <p:cNvPicPr>
            <a:picLocks noChangeAspect="1"/>
          </p:cNvPicPr>
          <p:nvPr/>
        </p:nvPicPr>
        <p:blipFill>
          <a:blip r:embed="rId2"/>
          <a:stretch>
            <a:fillRect/>
          </a:stretch>
        </p:blipFill>
        <p:spPr>
          <a:xfrm>
            <a:off x="659282" y="1939442"/>
            <a:ext cx="281635" cy="281635"/>
          </a:xfrm>
          <a:prstGeom prst="rect">
            <a:avLst/>
          </a:prstGeom>
        </p:spPr>
      </p:pic>
      <p:sp>
        <p:nvSpPr>
          <p:cNvPr id="8" name="Spindle load heading"/>
          <p:cNvSpPr txBox="1"/>
          <p:nvPr/>
        </p:nvSpPr>
        <p:spPr>
          <a:xfrm>
            <a:off x="1234440" y="1801368"/>
            <a:ext cx="2377440" cy="310896"/>
          </a:xfrm>
          <a:prstGeom prst="rect">
            <a:avLst/>
          </a:prstGeom>
          <a:noFill/>
          <a:ln/>
        </p:spPr>
        <p:txBody>
          <a:bodyPr wrap="square" lIns="0" tIns="0" rIns="0" bIns="0" rtlCol="0" anchor="t"/>
          <a:lstStyle/>
          <a:p>
            <a:pPr indent="0" marL="0">
              <a:buNone/>
            </a:pPr>
            <a:r>
              <a:rPr lang="en-US" sz="1700" b="1" dirty="0">
                <a:solidFill>
                  <a:schemeClr val="bg1"/>
                </a:solidFill>
              </a:rPr>
              <a:t>Spindle load</a:t>
            </a:r>
            <a:endParaRPr lang="en-US" sz="1700" dirty="0"/>
          </a:p>
        </p:txBody>
      </p:sp>
      <p:sp>
        <p:nvSpPr>
          <p:cNvPr id="9" name="Spindle load text"/>
          <p:cNvSpPr txBox="1"/>
          <p:nvPr/>
        </p:nvSpPr>
        <p:spPr>
          <a:xfrm>
            <a:off x="1234440" y="2121408"/>
            <a:ext cx="2377440" cy="548640"/>
          </a:xfrm>
          <a:prstGeom prst="rect">
            <a:avLst/>
          </a:prstGeom>
          <a:noFill/>
          <a:ln/>
        </p:spPr>
        <p:txBody>
          <a:bodyPr wrap="square" lIns="0" tIns="0" rIns="0" bIns="0" rtlCol="0" anchor="t"/>
          <a:lstStyle/>
          <a:p>
            <a:pPr indent="0" marL="0">
              <a:buNone/>
            </a:pPr>
            <a:r>
              <a:rPr lang="en-US" sz="1400" dirty="0">
                <a:solidFill>
                  <a:schemeClr val="bg2"/>
                </a:solidFill>
              </a:rPr>
              <a:t>Cutting well, or straining?</a:t>
            </a:r>
            <a:endParaRPr lang="en-US" sz="1400" dirty="0"/>
          </a:p>
        </p:txBody>
      </p:sp>
      <p:sp>
        <p:nvSpPr>
          <p:cNvPr id="10" name="OEE tile"/>
          <p:cNvSpPr/>
          <p:nvPr/>
        </p:nvSpPr>
        <p:spPr>
          <a:xfrm>
            <a:off x="548640" y="2834640"/>
            <a:ext cx="502920" cy="502920"/>
          </a:xfrm>
          <a:prstGeom prst="roundRect">
            <a:avLst>
              <a:gd name="adj" fmla="val 24000"/>
            </a:avLst>
          </a:prstGeom>
          <a:solidFill>
            <a:schemeClr val="accent2">
              <a:alpha val="16000"/>
            </a:schemeClr>
          </a:solidFill>
          <a:ln/>
        </p:spPr>
      </p:sp>
      <p:pic>
        <p:nvPicPr>
          <p:cNvPr id="11" name="OEE icon" descr="OEE">    </p:cNvPr>
          <p:cNvPicPr>
            <a:picLocks noChangeAspect="1"/>
          </p:cNvPicPr>
          <p:nvPr/>
        </p:nvPicPr>
        <p:blipFill>
          <a:blip r:embed="rId3"/>
          <a:stretch>
            <a:fillRect/>
          </a:stretch>
        </p:blipFill>
        <p:spPr>
          <a:xfrm>
            <a:off x="659282" y="2945282"/>
            <a:ext cx="281635" cy="281635"/>
          </a:xfrm>
          <a:prstGeom prst="rect">
            <a:avLst/>
          </a:prstGeom>
        </p:spPr>
      </p:pic>
      <p:sp>
        <p:nvSpPr>
          <p:cNvPr id="12" name="OEE heading"/>
          <p:cNvSpPr txBox="1"/>
          <p:nvPr/>
        </p:nvSpPr>
        <p:spPr>
          <a:xfrm>
            <a:off x="1234440" y="2807208"/>
            <a:ext cx="2377440" cy="310896"/>
          </a:xfrm>
          <a:prstGeom prst="rect">
            <a:avLst/>
          </a:prstGeom>
          <a:noFill/>
          <a:ln/>
        </p:spPr>
        <p:txBody>
          <a:bodyPr wrap="square" lIns="0" tIns="0" rIns="0" bIns="0" rtlCol="0" anchor="t"/>
          <a:lstStyle/>
          <a:p>
            <a:pPr indent="0" marL="0">
              <a:buNone/>
            </a:pPr>
            <a:r>
              <a:rPr lang="en-US" sz="1700" b="1" dirty="0">
                <a:solidFill>
                  <a:schemeClr val="bg1"/>
                </a:solidFill>
              </a:rPr>
              <a:t>OEE</a:t>
            </a:r>
            <a:endParaRPr lang="en-US" sz="1700" dirty="0"/>
          </a:p>
        </p:txBody>
      </p:sp>
      <p:sp>
        <p:nvSpPr>
          <p:cNvPr id="13" name="OEE text"/>
          <p:cNvSpPr txBox="1"/>
          <p:nvPr/>
        </p:nvSpPr>
        <p:spPr>
          <a:xfrm>
            <a:off x="1234440" y="3127248"/>
            <a:ext cx="2377440" cy="548640"/>
          </a:xfrm>
          <a:prstGeom prst="rect">
            <a:avLst/>
          </a:prstGeom>
          <a:noFill/>
          <a:ln/>
        </p:spPr>
        <p:txBody>
          <a:bodyPr wrap="square" lIns="0" tIns="0" rIns="0" bIns="0" rtlCol="0" anchor="t"/>
          <a:lstStyle/>
          <a:p>
            <a:pPr indent="0" marL="0">
              <a:buNone/>
            </a:pPr>
            <a:r>
              <a:rPr lang="en-US" sz="1400" dirty="0">
                <a:solidFill>
                  <a:schemeClr val="bg2"/>
                </a:solidFill>
              </a:rPr>
              <a:t>How well the shift is going, in one number.</a:t>
            </a:r>
            <a:endParaRPr lang="en-US" sz="1400" dirty="0"/>
          </a:p>
        </p:txBody>
      </p:sp>
      <p:sp>
        <p:nvSpPr>
          <p:cNvPr id="14" name="Parts made tile"/>
          <p:cNvSpPr/>
          <p:nvPr/>
        </p:nvSpPr>
        <p:spPr>
          <a:xfrm>
            <a:off x="548640" y="3840480"/>
            <a:ext cx="502920" cy="502920"/>
          </a:xfrm>
          <a:prstGeom prst="roundRect">
            <a:avLst>
              <a:gd name="adj" fmla="val 24000"/>
            </a:avLst>
          </a:prstGeom>
          <a:solidFill>
            <a:schemeClr val="accent1">
              <a:alpha val="16000"/>
            </a:schemeClr>
          </a:solidFill>
          <a:ln/>
        </p:spPr>
      </p:sp>
      <p:pic>
        <p:nvPicPr>
          <p:cNvPr id="15" name="Parts made icon" descr="Parts made">    </p:cNvPr>
          <p:cNvPicPr>
            <a:picLocks noChangeAspect="1"/>
          </p:cNvPicPr>
          <p:nvPr/>
        </p:nvPicPr>
        <p:blipFill>
          <a:blip r:embed="rId4"/>
          <a:stretch>
            <a:fillRect/>
          </a:stretch>
        </p:blipFill>
        <p:spPr>
          <a:xfrm>
            <a:off x="659282" y="3951122"/>
            <a:ext cx="281635" cy="281635"/>
          </a:xfrm>
          <a:prstGeom prst="rect">
            <a:avLst/>
          </a:prstGeom>
        </p:spPr>
      </p:pic>
      <p:sp>
        <p:nvSpPr>
          <p:cNvPr id="16" name="Parts made heading"/>
          <p:cNvSpPr txBox="1"/>
          <p:nvPr/>
        </p:nvSpPr>
        <p:spPr>
          <a:xfrm>
            <a:off x="1234440" y="3813048"/>
            <a:ext cx="2377440" cy="310896"/>
          </a:xfrm>
          <a:prstGeom prst="rect">
            <a:avLst/>
          </a:prstGeom>
          <a:noFill/>
          <a:ln/>
        </p:spPr>
        <p:txBody>
          <a:bodyPr wrap="square" lIns="0" tIns="0" rIns="0" bIns="0" rtlCol="0" anchor="t"/>
          <a:lstStyle/>
          <a:p>
            <a:pPr indent="0" marL="0">
              <a:buNone/>
            </a:pPr>
            <a:r>
              <a:rPr lang="en-US" sz="1700" b="1" dirty="0">
                <a:solidFill>
                  <a:schemeClr val="bg1"/>
                </a:solidFill>
              </a:rPr>
              <a:t>Parts made</a:t>
            </a:r>
            <a:endParaRPr lang="en-US" sz="1700" dirty="0"/>
          </a:p>
        </p:txBody>
      </p:sp>
      <p:sp>
        <p:nvSpPr>
          <p:cNvPr id="17" name="Parts made text"/>
          <p:cNvSpPr txBox="1"/>
          <p:nvPr/>
        </p:nvSpPr>
        <p:spPr>
          <a:xfrm>
            <a:off x="1234440" y="4133088"/>
            <a:ext cx="2377440" cy="548640"/>
          </a:xfrm>
          <a:prstGeom prst="rect">
            <a:avLst/>
          </a:prstGeom>
          <a:noFill/>
          <a:ln/>
        </p:spPr>
        <p:txBody>
          <a:bodyPr wrap="square" lIns="0" tIns="0" rIns="0" bIns="0" rtlCol="0" anchor="t"/>
          <a:lstStyle/>
          <a:p>
            <a:pPr indent="0" marL="0">
              <a:buNone/>
            </a:pPr>
            <a:r>
              <a:rPr lang="en-US" sz="1400" dirty="0">
                <a:solidFill>
                  <a:schemeClr val="bg2"/>
                </a:solidFill>
              </a:rPr>
              <a:t>Output against the shift target.</a:t>
            </a:r>
            <a:endParaRPr lang="en-US" sz="1400" dirty="0"/>
          </a:p>
        </p:txBody>
      </p:sp>
      <p:sp>
        <p:nvSpPr>
          <p:cNvPr id="18" name="Status lamps tile"/>
          <p:cNvSpPr/>
          <p:nvPr/>
        </p:nvSpPr>
        <p:spPr>
          <a:xfrm>
            <a:off x="548640" y="4846320"/>
            <a:ext cx="502920" cy="502920"/>
          </a:xfrm>
          <a:prstGeom prst="roundRect">
            <a:avLst>
              <a:gd name="adj" fmla="val 24000"/>
            </a:avLst>
          </a:prstGeom>
          <a:solidFill>
            <a:schemeClr val="accent4">
              <a:alpha val="16000"/>
            </a:schemeClr>
          </a:solidFill>
          <a:ln/>
        </p:spPr>
      </p:sp>
      <p:pic>
        <p:nvPicPr>
          <p:cNvPr id="19" name="Status lamps icon" descr="Status lamps">    </p:cNvPr>
          <p:cNvPicPr>
            <a:picLocks noChangeAspect="1"/>
          </p:cNvPicPr>
          <p:nvPr/>
        </p:nvPicPr>
        <p:blipFill>
          <a:blip r:embed="rId5"/>
          <a:stretch>
            <a:fillRect/>
          </a:stretch>
        </p:blipFill>
        <p:spPr>
          <a:xfrm>
            <a:off x="659282" y="4956962"/>
            <a:ext cx="281635" cy="281635"/>
          </a:xfrm>
          <a:prstGeom prst="rect">
            <a:avLst/>
          </a:prstGeom>
        </p:spPr>
      </p:pic>
      <p:sp>
        <p:nvSpPr>
          <p:cNvPr id="20" name="Status lamps heading"/>
          <p:cNvSpPr txBox="1"/>
          <p:nvPr/>
        </p:nvSpPr>
        <p:spPr>
          <a:xfrm>
            <a:off x="1234440" y="4818888"/>
            <a:ext cx="2377440" cy="310896"/>
          </a:xfrm>
          <a:prstGeom prst="rect">
            <a:avLst/>
          </a:prstGeom>
          <a:noFill/>
          <a:ln/>
        </p:spPr>
        <p:txBody>
          <a:bodyPr wrap="square" lIns="0" tIns="0" rIns="0" bIns="0" rtlCol="0" anchor="t"/>
          <a:lstStyle/>
          <a:p>
            <a:pPr indent="0" marL="0">
              <a:buNone/>
            </a:pPr>
            <a:r>
              <a:rPr lang="en-US" sz="1700" b="1" dirty="0">
                <a:solidFill>
                  <a:schemeClr val="bg1"/>
                </a:solidFill>
              </a:rPr>
              <a:t>Status lamps</a:t>
            </a:r>
            <a:endParaRPr lang="en-US" sz="1700" dirty="0"/>
          </a:p>
        </p:txBody>
      </p:sp>
      <p:sp>
        <p:nvSpPr>
          <p:cNvPr id="21" name="Status lamps text"/>
          <p:cNvSpPr txBox="1"/>
          <p:nvPr/>
        </p:nvSpPr>
        <p:spPr>
          <a:xfrm>
            <a:off x="1234440" y="5138928"/>
            <a:ext cx="2377440" cy="548640"/>
          </a:xfrm>
          <a:prstGeom prst="rect">
            <a:avLst/>
          </a:prstGeom>
          <a:noFill/>
          <a:ln/>
        </p:spPr>
        <p:txBody>
          <a:bodyPr wrap="square" lIns="0" tIns="0" rIns="0" bIns="0" rtlCol="0" anchor="t"/>
          <a:lstStyle/>
          <a:p>
            <a:pPr indent="0" marL="0">
              <a:buNone/>
            </a:pPr>
            <a:r>
              <a:rPr lang="en-US" sz="1400" dirty="0">
                <a:solidFill>
                  <a:schemeClr val="bg2"/>
                </a:solidFill>
              </a:rPr>
              <a:t>Run, idle, alarm or offline, as on the machine.</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MOBILE APP</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Your plant in your pocket</a:t>
            </a:r>
            <a:endParaRPr lang="en-US" sz="3600" dirty="0"/>
          </a:p>
        </p:txBody>
      </p:sp>
      <p:pic>
        <p:nvPicPr>
          <p:cNvPr id="4" name="Phone 1" descr="Mobile app: the shop floor with utilisation and every machine's status">    </p:cNvPr>
          <p:cNvPicPr>
            <a:picLocks noChangeAspect="1"/>
          </p:cNvPicPr>
          <p:nvPr/>
        </p:nvPicPr>
        <p:blipFill>
          <a:blip r:embed="rId1"/>
          <a:stretch>
            <a:fillRect/>
          </a:stretch>
        </p:blipFill>
        <p:spPr>
          <a:xfrm>
            <a:off x="548640" y="1737360"/>
            <a:ext cx="2049580" cy="4297680"/>
          </a:xfrm>
          <a:prstGeom prst="rect">
            <a:avLst/>
          </a:prstGeom>
        </p:spPr>
      </p:pic>
      <p:pic>
        <p:nvPicPr>
          <p:cNvPr id="5" name="Phone 2" descr="Mobile app: one machine in alarm, with spindle load, feed, shift timeline and OEE">    </p:cNvPr>
          <p:cNvPicPr>
            <a:picLocks noChangeAspect="1"/>
          </p:cNvPicPr>
          <p:nvPr/>
        </p:nvPicPr>
        <p:blipFill>
          <a:blip r:embed="rId2"/>
          <a:stretch>
            <a:fillRect/>
          </a:stretch>
        </p:blipFill>
        <p:spPr>
          <a:xfrm>
            <a:off x="2781100" y="1737360"/>
            <a:ext cx="2049580" cy="4297680"/>
          </a:xfrm>
          <a:prstGeom prst="rect">
            <a:avLst/>
          </a:prstGeom>
        </p:spPr>
      </p:pic>
      <p:pic>
        <p:nvPicPr>
          <p:cNvPr id="6" name="Phone 3" descr="Mobile app: active alarms to resolve">    </p:cNvPr>
          <p:cNvPicPr>
            <a:picLocks noChangeAspect="1"/>
          </p:cNvPicPr>
          <p:nvPr/>
        </p:nvPicPr>
        <p:blipFill>
          <a:blip r:embed="rId3"/>
          <a:stretch>
            <a:fillRect/>
          </a:stretch>
        </p:blipFill>
        <p:spPr>
          <a:xfrm>
            <a:off x="5013560" y="1737360"/>
            <a:ext cx="2049580" cy="4297680"/>
          </a:xfrm>
          <a:prstGeom prst="rect">
            <a:avLst/>
          </a:prstGeom>
        </p:spPr>
      </p:pic>
      <p:sp>
        <p:nvSpPr>
          <p:cNvPr id="7" name="Plan badge"/>
          <p:cNvSpPr/>
          <p:nvPr/>
        </p:nvSpPr>
        <p:spPr>
          <a:xfrm>
            <a:off x="7589520" y="1828800"/>
            <a:ext cx="3611880" cy="384048"/>
          </a:xfrm>
          <a:prstGeom prst="roundRect">
            <a:avLst>
              <a:gd name="adj" fmla="val 50000"/>
            </a:avLst>
          </a:prstGeom>
          <a:solidFill>
            <a:schemeClr val="accent1">
              <a:alpha val="15000"/>
            </a:schemeClr>
          </a:solidFill>
          <a:ln w="9525">
            <a:solidFill>
              <a:schemeClr val="accent1">
                <a:alpha val="65000"/>
              </a:schemeClr>
            </a:solidFill>
            <a:prstDash val="solid"/>
          </a:ln>
        </p:spPr>
      </p:sp>
      <p:sp>
        <p:nvSpPr>
          <p:cNvPr id="8" name="Plan badge text"/>
          <p:cNvSpPr txBox="1"/>
          <p:nvPr/>
        </p:nvSpPr>
        <p:spPr>
          <a:xfrm>
            <a:off x="7589520" y="1828800"/>
            <a:ext cx="3611880" cy="384048"/>
          </a:xfrm>
          <a:prstGeom prst="rect">
            <a:avLst/>
          </a:prstGeom>
          <a:noFill/>
          <a:ln/>
        </p:spPr>
        <p:txBody>
          <a:bodyPr wrap="square" lIns="0" tIns="0" rIns="0" bIns="0" rtlCol="0" anchor="ctr"/>
          <a:lstStyle/>
          <a:p>
            <a:pPr algn="ctr" indent="0" marL="0">
              <a:buNone/>
            </a:pPr>
            <a:r>
              <a:rPr lang="en-US" sz="1200" b="1" spc="150" kern="0" dirty="0">
                <a:solidFill>
                  <a:schemeClr val="accent1"/>
                </a:solidFill>
              </a:rPr>
              <a:t>INCLUDED IN STANDARD AND PREMIUM</a:t>
            </a:r>
            <a:endParaRPr lang="en-US" sz="1200" dirty="0"/>
          </a:p>
        </p:txBody>
      </p:sp>
      <p:sp>
        <p:nvSpPr>
          <p:cNvPr id="9" name="Every machine, live tile"/>
          <p:cNvSpPr/>
          <p:nvPr/>
        </p:nvSpPr>
        <p:spPr>
          <a:xfrm>
            <a:off x="7589520" y="2606040"/>
            <a:ext cx="548640" cy="548640"/>
          </a:xfrm>
          <a:prstGeom prst="roundRect">
            <a:avLst>
              <a:gd name="adj" fmla="val 24000"/>
            </a:avLst>
          </a:prstGeom>
          <a:solidFill>
            <a:schemeClr val="accent1">
              <a:alpha val="16000"/>
            </a:schemeClr>
          </a:solidFill>
          <a:ln/>
        </p:spPr>
      </p:sp>
      <p:pic>
        <p:nvPicPr>
          <p:cNvPr id="10" name="Every machine, live icon" descr="Every machine, live">    </p:cNvPr>
          <p:cNvPicPr>
            <a:picLocks noChangeAspect="1"/>
          </p:cNvPicPr>
          <p:nvPr/>
        </p:nvPicPr>
        <p:blipFill>
          <a:blip r:embed="rId4"/>
          <a:stretch>
            <a:fillRect/>
          </a:stretch>
        </p:blipFill>
        <p:spPr>
          <a:xfrm>
            <a:off x="7710221" y="2726741"/>
            <a:ext cx="307238" cy="307238"/>
          </a:xfrm>
          <a:prstGeom prst="rect">
            <a:avLst/>
          </a:prstGeom>
        </p:spPr>
      </p:pic>
      <p:sp>
        <p:nvSpPr>
          <p:cNvPr id="11" name="Every machine, live heading"/>
          <p:cNvSpPr txBox="1"/>
          <p:nvPr/>
        </p:nvSpPr>
        <p:spPr>
          <a:xfrm>
            <a:off x="8339328" y="2569464"/>
            <a:ext cx="3300984" cy="365760"/>
          </a:xfrm>
          <a:prstGeom prst="rect">
            <a:avLst/>
          </a:prstGeom>
          <a:noFill/>
          <a:ln/>
        </p:spPr>
        <p:txBody>
          <a:bodyPr wrap="square" lIns="0" tIns="0" rIns="0" bIns="0" rtlCol="0" anchor="t"/>
          <a:lstStyle/>
          <a:p>
            <a:pPr indent="0" marL="0">
              <a:buNone/>
            </a:pPr>
            <a:r>
              <a:rPr lang="en-US" sz="1800" b="1" dirty="0">
                <a:solidFill>
                  <a:schemeClr val="bg1"/>
                </a:solidFill>
              </a:rPr>
              <a:t>Every machine, live</a:t>
            </a:r>
            <a:endParaRPr lang="en-US" sz="1800" dirty="0"/>
          </a:p>
        </p:txBody>
      </p:sp>
      <p:sp>
        <p:nvSpPr>
          <p:cNvPr id="12" name="Every machine, live text"/>
          <p:cNvSpPr txBox="1"/>
          <p:nvPr/>
        </p:nvSpPr>
        <p:spPr>
          <a:xfrm>
            <a:off x="8339328" y="2935224"/>
            <a:ext cx="3300984" cy="566928"/>
          </a:xfrm>
          <a:prstGeom prst="rect">
            <a:avLst/>
          </a:prstGeom>
          <a:noFill/>
          <a:ln/>
        </p:spPr>
        <p:txBody>
          <a:bodyPr wrap="square" lIns="0" tIns="0" rIns="0" bIns="0" rtlCol="0" anchor="t"/>
          <a:lstStyle/>
          <a:p>
            <a:pPr indent="0" marL="0">
              <a:buNone/>
            </a:pPr>
            <a:r>
              <a:rPr lang="en-US" sz="1400" dirty="0">
                <a:solidFill>
                  <a:schemeClr val="bg2"/>
                </a:solidFill>
              </a:rPr>
              <a:t>Status and output, wherever you are.</a:t>
            </a:r>
            <a:endParaRPr lang="en-US" sz="1400" dirty="0"/>
          </a:p>
        </p:txBody>
      </p:sp>
      <p:sp>
        <p:nvSpPr>
          <p:cNvPr id="13" name="Alarms as they happen tile"/>
          <p:cNvSpPr/>
          <p:nvPr/>
        </p:nvSpPr>
        <p:spPr>
          <a:xfrm>
            <a:off x="7589520" y="3749040"/>
            <a:ext cx="548640" cy="548640"/>
          </a:xfrm>
          <a:prstGeom prst="roundRect">
            <a:avLst>
              <a:gd name="adj" fmla="val 24000"/>
            </a:avLst>
          </a:prstGeom>
          <a:solidFill>
            <a:schemeClr val="accent5">
              <a:alpha val="16000"/>
            </a:schemeClr>
          </a:solidFill>
          <a:ln/>
        </p:spPr>
      </p:sp>
      <p:pic>
        <p:nvPicPr>
          <p:cNvPr id="14" name="Alarms as they happen icon" descr="Alarms as they happen">    </p:cNvPr>
          <p:cNvPicPr>
            <a:picLocks noChangeAspect="1"/>
          </p:cNvPicPr>
          <p:nvPr/>
        </p:nvPicPr>
        <p:blipFill>
          <a:blip r:embed="rId5"/>
          <a:stretch>
            <a:fillRect/>
          </a:stretch>
        </p:blipFill>
        <p:spPr>
          <a:xfrm>
            <a:off x="7710221" y="3869741"/>
            <a:ext cx="307238" cy="307238"/>
          </a:xfrm>
          <a:prstGeom prst="rect">
            <a:avLst/>
          </a:prstGeom>
        </p:spPr>
      </p:pic>
      <p:sp>
        <p:nvSpPr>
          <p:cNvPr id="15" name="Alarms as they happen heading"/>
          <p:cNvSpPr txBox="1"/>
          <p:nvPr/>
        </p:nvSpPr>
        <p:spPr>
          <a:xfrm>
            <a:off x="8339328" y="3712464"/>
            <a:ext cx="3300984" cy="365760"/>
          </a:xfrm>
          <a:prstGeom prst="rect">
            <a:avLst/>
          </a:prstGeom>
          <a:noFill/>
          <a:ln/>
        </p:spPr>
        <p:txBody>
          <a:bodyPr wrap="square" lIns="0" tIns="0" rIns="0" bIns="0" rtlCol="0" anchor="t"/>
          <a:lstStyle/>
          <a:p>
            <a:pPr indent="0" marL="0">
              <a:buNone/>
            </a:pPr>
            <a:r>
              <a:rPr lang="en-US" sz="1800" b="1" dirty="0">
                <a:solidFill>
                  <a:schemeClr val="bg1"/>
                </a:solidFill>
              </a:rPr>
              <a:t>Alarms as they happen</a:t>
            </a:r>
            <a:endParaRPr lang="en-US" sz="1800" dirty="0"/>
          </a:p>
        </p:txBody>
      </p:sp>
      <p:sp>
        <p:nvSpPr>
          <p:cNvPr id="16" name="Alarms as they happen text"/>
          <p:cNvSpPr txBox="1"/>
          <p:nvPr/>
        </p:nvSpPr>
        <p:spPr>
          <a:xfrm>
            <a:off x="8339328" y="4078224"/>
            <a:ext cx="3300984" cy="566928"/>
          </a:xfrm>
          <a:prstGeom prst="rect">
            <a:avLst/>
          </a:prstGeom>
          <a:noFill/>
          <a:ln/>
        </p:spPr>
        <p:txBody>
          <a:bodyPr wrap="square" lIns="0" tIns="0" rIns="0" bIns="0" rtlCol="0" anchor="t"/>
          <a:lstStyle/>
          <a:p>
            <a:pPr indent="0" marL="0">
              <a:buNone/>
            </a:pPr>
            <a:r>
              <a:rPr lang="en-US" sz="1400" dirty="0">
                <a:solidFill>
                  <a:schemeClr val="bg2"/>
                </a:solidFill>
              </a:rPr>
              <a:t>Critical alerts reach the right person at once.</a:t>
            </a:r>
            <a:endParaRPr lang="en-US" sz="1400" dirty="0"/>
          </a:p>
        </p:txBody>
      </p:sp>
      <p:sp>
        <p:nvSpPr>
          <p:cNvPr id="17" name="Detail on demand tile"/>
          <p:cNvSpPr/>
          <p:nvPr/>
        </p:nvSpPr>
        <p:spPr>
          <a:xfrm>
            <a:off x="7589520" y="4892040"/>
            <a:ext cx="548640" cy="548640"/>
          </a:xfrm>
          <a:prstGeom prst="roundRect">
            <a:avLst>
              <a:gd name="adj" fmla="val 24000"/>
            </a:avLst>
          </a:prstGeom>
          <a:solidFill>
            <a:schemeClr val="accent3">
              <a:alpha val="16000"/>
            </a:schemeClr>
          </a:solidFill>
          <a:ln/>
        </p:spPr>
      </p:sp>
      <p:pic>
        <p:nvPicPr>
          <p:cNvPr id="18" name="Detail on demand icon" descr="Detail on demand">    </p:cNvPr>
          <p:cNvPicPr>
            <a:picLocks noChangeAspect="1"/>
          </p:cNvPicPr>
          <p:nvPr/>
        </p:nvPicPr>
        <p:blipFill>
          <a:blip r:embed="rId6"/>
          <a:stretch>
            <a:fillRect/>
          </a:stretch>
        </p:blipFill>
        <p:spPr>
          <a:xfrm>
            <a:off x="7710221" y="5012741"/>
            <a:ext cx="307238" cy="307238"/>
          </a:xfrm>
          <a:prstGeom prst="rect">
            <a:avLst/>
          </a:prstGeom>
        </p:spPr>
      </p:pic>
      <p:sp>
        <p:nvSpPr>
          <p:cNvPr id="19" name="Detail on demand heading"/>
          <p:cNvSpPr txBox="1"/>
          <p:nvPr/>
        </p:nvSpPr>
        <p:spPr>
          <a:xfrm>
            <a:off x="8339328" y="4855464"/>
            <a:ext cx="3300984" cy="365760"/>
          </a:xfrm>
          <a:prstGeom prst="rect">
            <a:avLst/>
          </a:prstGeom>
          <a:noFill/>
          <a:ln/>
        </p:spPr>
        <p:txBody>
          <a:bodyPr wrap="square" lIns="0" tIns="0" rIns="0" bIns="0" rtlCol="0" anchor="t"/>
          <a:lstStyle/>
          <a:p>
            <a:pPr indent="0" marL="0">
              <a:buNone/>
            </a:pPr>
            <a:r>
              <a:rPr lang="en-US" sz="1800" b="1" dirty="0">
                <a:solidFill>
                  <a:schemeClr val="bg1"/>
                </a:solidFill>
              </a:rPr>
              <a:t>Detail on demand</a:t>
            </a:r>
            <a:endParaRPr lang="en-US" sz="1800" dirty="0"/>
          </a:p>
        </p:txBody>
      </p:sp>
      <p:sp>
        <p:nvSpPr>
          <p:cNvPr id="20" name="Detail on demand text"/>
          <p:cNvSpPr txBox="1"/>
          <p:nvPr/>
        </p:nvSpPr>
        <p:spPr>
          <a:xfrm>
            <a:off x="8339328" y="5221224"/>
            <a:ext cx="3300984" cy="566928"/>
          </a:xfrm>
          <a:prstGeom prst="rect">
            <a:avLst/>
          </a:prstGeom>
          <a:noFill/>
          <a:ln/>
        </p:spPr>
        <p:txBody>
          <a:bodyPr wrap="square" lIns="0" tIns="0" rIns="0" bIns="0" rtlCol="0" anchor="t"/>
          <a:lstStyle/>
          <a:p>
            <a:pPr indent="0" marL="0">
              <a:buNone/>
            </a:pPr>
            <a:r>
              <a:rPr lang="en-US" sz="1400" dirty="0">
                <a:solidFill>
                  <a:schemeClr val="bg2"/>
                </a:solidFill>
              </a:rPr>
              <a:t>Spindle load, OEE and the shift timeline of each machine.</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ANALYTICS</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A dashboard for every question</a:t>
            </a:r>
            <a:endParaRPr lang="en-US" sz="3600" dirty="0"/>
          </a:p>
        </p:txBody>
      </p:sp>
      <p:pic>
        <p:nvPicPr>
          <p:cNvPr id="4" name="OEE dashboard screen" descr="OEE dashboard: Availability, performance and quality">    </p:cNvPr>
          <p:cNvPicPr>
            <a:picLocks noChangeAspect="1"/>
          </p:cNvPicPr>
          <p:nvPr/>
        </p:nvPicPr>
        <p:blipFill>
          <a:blip r:embed="rId1"/>
          <a:stretch>
            <a:fillRect/>
          </a:stretch>
        </p:blipFill>
        <p:spPr>
          <a:xfrm>
            <a:off x="548640" y="1737360"/>
            <a:ext cx="3515258" cy="1527882"/>
          </a:xfrm>
          <a:prstGeom prst="rect">
            <a:avLst/>
          </a:prstGeom>
        </p:spPr>
      </p:pic>
      <p:sp>
        <p:nvSpPr>
          <p:cNvPr id="5" name="OEE dashboard name"/>
          <p:cNvSpPr txBox="1"/>
          <p:nvPr/>
        </p:nvSpPr>
        <p:spPr>
          <a:xfrm>
            <a:off x="548640" y="3356682"/>
            <a:ext cx="3515258" cy="274320"/>
          </a:xfrm>
          <a:prstGeom prst="rect">
            <a:avLst/>
          </a:prstGeom>
          <a:noFill/>
          <a:ln/>
        </p:spPr>
        <p:txBody>
          <a:bodyPr wrap="square" lIns="0" tIns="0" rIns="0" bIns="0" rtlCol="0" anchor="t"/>
          <a:lstStyle/>
          <a:p>
            <a:pPr indent="0" marL="0">
              <a:buNone/>
            </a:pPr>
            <a:r>
              <a:rPr lang="en-US" sz="1500" b="1" dirty="0">
                <a:solidFill>
                  <a:schemeClr val="bg1"/>
                </a:solidFill>
              </a:rPr>
              <a:t>OEE dashboard</a:t>
            </a:r>
            <a:endParaRPr lang="en-US" sz="1500" dirty="0"/>
          </a:p>
        </p:txBody>
      </p:sp>
      <p:sp>
        <p:nvSpPr>
          <p:cNvPr id="6" name="OEE dashboard caption"/>
          <p:cNvSpPr txBox="1"/>
          <p:nvPr/>
        </p:nvSpPr>
        <p:spPr>
          <a:xfrm>
            <a:off x="548640" y="3631002"/>
            <a:ext cx="3515258" cy="256032"/>
          </a:xfrm>
          <a:prstGeom prst="rect">
            <a:avLst/>
          </a:prstGeom>
          <a:noFill/>
          <a:ln/>
        </p:spPr>
        <p:txBody>
          <a:bodyPr wrap="square" lIns="0" tIns="0" rIns="0" bIns="0" rtlCol="0" anchor="t"/>
          <a:lstStyle/>
          <a:p>
            <a:pPr indent="0" marL="0">
              <a:buNone/>
            </a:pPr>
            <a:r>
              <a:rPr lang="en-US" sz="1200" dirty="0">
                <a:solidFill>
                  <a:schemeClr val="bg2"/>
                </a:solidFill>
              </a:rPr>
              <a:t>Availability, performance and quality</a:t>
            </a:r>
            <a:endParaRPr lang="en-US" sz="1200" dirty="0"/>
          </a:p>
        </p:txBody>
      </p:sp>
      <p:pic>
        <p:nvPicPr>
          <p:cNvPr id="7" name="Downtime analysis screen" descr="Downtime analysis: Why machines stop, and what it costs">    </p:cNvPr>
          <p:cNvPicPr>
            <a:picLocks noChangeAspect="1"/>
          </p:cNvPicPr>
          <p:nvPr/>
        </p:nvPicPr>
        <p:blipFill>
          <a:blip r:embed="rId2"/>
          <a:stretch>
            <a:fillRect/>
          </a:stretch>
        </p:blipFill>
        <p:spPr>
          <a:xfrm>
            <a:off x="4338218" y="1737360"/>
            <a:ext cx="3515258" cy="1527882"/>
          </a:xfrm>
          <a:prstGeom prst="rect">
            <a:avLst/>
          </a:prstGeom>
        </p:spPr>
      </p:pic>
      <p:sp>
        <p:nvSpPr>
          <p:cNvPr id="8" name="Downtime analysis name"/>
          <p:cNvSpPr txBox="1"/>
          <p:nvPr/>
        </p:nvSpPr>
        <p:spPr>
          <a:xfrm>
            <a:off x="4338218" y="3356682"/>
            <a:ext cx="3515258" cy="274320"/>
          </a:xfrm>
          <a:prstGeom prst="rect">
            <a:avLst/>
          </a:prstGeom>
          <a:noFill/>
          <a:ln/>
        </p:spPr>
        <p:txBody>
          <a:bodyPr wrap="square" lIns="0" tIns="0" rIns="0" bIns="0" rtlCol="0" anchor="t"/>
          <a:lstStyle/>
          <a:p>
            <a:pPr indent="0" marL="0">
              <a:buNone/>
            </a:pPr>
            <a:r>
              <a:rPr lang="en-US" sz="1500" b="1" dirty="0">
                <a:solidFill>
                  <a:schemeClr val="bg1"/>
                </a:solidFill>
              </a:rPr>
              <a:t>Downtime analysis</a:t>
            </a:r>
            <a:endParaRPr lang="en-US" sz="1500" dirty="0"/>
          </a:p>
        </p:txBody>
      </p:sp>
      <p:sp>
        <p:nvSpPr>
          <p:cNvPr id="9" name="Downtime analysis caption"/>
          <p:cNvSpPr txBox="1"/>
          <p:nvPr/>
        </p:nvSpPr>
        <p:spPr>
          <a:xfrm>
            <a:off x="4338218" y="3631002"/>
            <a:ext cx="3515258" cy="256032"/>
          </a:xfrm>
          <a:prstGeom prst="rect">
            <a:avLst/>
          </a:prstGeom>
          <a:noFill/>
          <a:ln/>
        </p:spPr>
        <p:txBody>
          <a:bodyPr wrap="square" lIns="0" tIns="0" rIns="0" bIns="0" rtlCol="0" anchor="t"/>
          <a:lstStyle/>
          <a:p>
            <a:pPr indent="0" marL="0">
              <a:buNone/>
            </a:pPr>
            <a:r>
              <a:rPr lang="en-US" sz="1200" dirty="0">
                <a:solidFill>
                  <a:schemeClr val="bg2"/>
                </a:solidFill>
              </a:rPr>
              <a:t>Why machines stop, and what it costs</a:t>
            </a:r>
            <a:endParaRPr lang="en-US" sz="1200" dirty="0"/>
          </a:p>
        </p:txBody>
      </p:sp>
      <p:pic>
        <p:nvPicPr>
          <p:cNvPr id="10" name="Energy dashboard screen" descr="Energy dashboard: Power, cost and supply of each machine">    </p:cNvPr>
          <p:cNvPicPr>
            <a:picLocks noChangeAspect="1"/>
          </p:cNvPicPr>
          <p:nvPr/>
        </p:nvPicPr>
        <p:blipFill>
          <a:blip r:embed="rId3"/>
          <a:stretch>
            <a:fillRect/>
          </a:stretch>
        </p:blipFill>
        <p:spPr>
          <a:xfrm>
            <a:off x="8127797" y="1737360"/>
            <a:ext cx="3515258" cy="1527882"/>
          </a:xfrm>
          <a:prstGeom prst="rect">
            <a:avLst/>
          </a:prstGeom>
        </p:spPr>
      </p:pic>
      <p:sp>
        <p:nvSpPr>
          <p:cNvPr id="11" name="Energy dashboard name"/>
          <p:cNvSpPr txBox="1"/>
          <p:nvPr/>
        </p:nvSpPr>
        <p:spPr>
          <a:xfrm>
            <a:off x="8127797" y="3356682"/>
            <a:ext cx="3515258" cy="274320"/>
          </a:xfrm>
          <a:prstGeom prst="rect">
            <a:avLst/>
          </a:prstGeom>
          <a:noFill/>
          <a:ln/>
        </p:spPr>
        <p:txBody>
          <a:bodyPr wrap="square" lIns="0" tIns="0" rIns="0" bIns="0" rtlCol="0" anchor="t"/>
          <a:lstStyle/>
          <a:p>
            <a:pPr indent="0" marL="0">
              <a:buNone/>
            </a:pPr>
            <a:r>
              <a:rPr lang="en-US" sz="1500" b="1" dirty="0">
                <a:solidFill>
                  <a:schemeClr val="bg1"/>
                </a:solidFill>
              </a:rPr>
              <a:t>Energy dashboard</a:t>
            </a:r>
            <a:endParaRPr lang="en-US" sz="1500" dirty="0"/>
          </a:p>
        </p:txBody>
      </p:sp>
      <p:sp>
        <p:nvSpPr>
          <p:cNvPr id="12" name="Energy dashboard caption"/>
          <p:cNvSpPr txBox="1"/>
          <p:nvPr/>
        </p:nvSpPr>
        <p:spPr>
          <a:xfrm>
            <a:off x="8127797" y="3631002"/>
            <a:ext cx="3515258" cy="256032"/>
          </a:xfrm>
          <a:prstGeom prst="rect">
            <a:avLst/>
          </a:prstGeom>
          <a:noFill/>
          <a:ln/>
        </p:spPr>
        <p:txBody>
          <a:bodyPr wrap="square" lIns="0" tIns="0" rIns="0" bIns="0" rtlCol="0" anchor="t"/>
          <a:lstStyle/>
          <a:p>
            <a:pPr indent="0" marL="0">
              <a:buNone/>
            </a:pPr>
            <a:r>
              <a:rPr lang="en-US" sz="1200" dirty="0">
                <a:solidFill>
                  <a:schemeClr val="bg2"/>
                </a:solidFill>
              </a:rPr>
              <a:t>Power, cost and supply of each machine</a:t>
            </a:r>
            <a:endParaRPr lang="en-US" sz="1200" dirty="0"/>
          </a:p>
        </p:txBody>
      </p:sp>
      <p:pic>
        <p:nvPicPr>
          <p:cNvPr id="13" name="Preventive maintenance screen" descr="Preventive maintenance: Service planned before a breakdown">    </p:cNvPr>
          <p:cNvPicPr>
            <a:picLocks noChangeAspect="1"/>
          </p:cNvPicPr>
          <p:nvPr/>
        </p:nvPicPr>
        <p:blipFill>
          <a:blip r:embed="rId4"/>
          <a:stretch>
            <a:fillRect/>
          </a:stretch>
        </p:blipFill>
        <p:spPr>
          <a:xfrm>
            <a:off x="548640" y="3951042"/>
            <a:ext cx="3515258" cy="1527882"/>
          </a:xfrm>
          <a:prstGeom prst="rect">
            <a:avLst/>
          </a:prstGeom>
        </p:spPr>
      </p:pic>
      <p:sp>
        <p:nvSpPr>
          <p:cNvPr id="14" name="Preventive maintenance name"/>
          <p:cNvSpPr txBox="1"/>
          <p:nvPr/>
        </p:nvSpPr>
        <p:spPr>
          <a:xfrm>
            <a:off x="548640" y="5570364"/>
            <a:ext cx="3515258" cy="274320"/>
          </a:xfrm>
          <a:prstGeom prst="rect">
            <a:avLst/>
          </a:prstGeom>
          <a:noFill/>
          <a:ln/>
        </p:spPr>
        <p:txBody>
          <a:bodyPr wrap="square" lIns="0" tIns="0" rIns="0" bIns="0" rtlCol="0" anchor="t"/>
          <a:lstStyle/>
          <a:p>
            <a:pPr indent="0" marL="0">
              <a:buNone/>
            </a:pPr>
            <a:r>
              <a:rPr lang="en-US" sz="1500" b="1" dirty="0">
                <a:solidFill>
                  <a:schemeClr val="bg1"/>
                </a:solidFill>
              </a:rPr>
              <a:t>Preventive maintenance</a:t>
            </a:r>
            <a:endParaRPr lang="en-US" sz="1500" dirty="0"/>
          </a:p>
        </p:txBody>
      </p:sp>
      <p:sp>
        <p:nvSpPr>
          <p:cNvPr id="15" name="Preventive maintenance caption"/>
          <p:cNvSpPr txBox="1"/>
          <p:nvPr/>
        </p:nvSpPr>
        <p:spPr>
          <a:xfrm>
            <a:off x="548640" y="5844684"/>
            <a:ext cx="3515258" cy="256032"/>
          </a:xfrm>
          <a:prstGeom prst="rect">
            <a:avLst/>
          </a:prstGeom>
          <a:noFill/>
          <a:ln/>
        </p:spPr>
        <p:txBody>
          <a:bodyPr wrap="square" lIns="0" tIns="0" rIns="0" bIns="0" rtlCol="0" anchor="t"/>
          <a:lstStyle/>
          <a:p>
            <a:pPr indent="0" marL="0">
              <a:buNone/>
            </a:pPr>
            <a:r>
              <a:rPr lang="en-US" sz="1200" dirty="0">
                <a:solidFill>
                  <a:schemeClr val="bg2"/>
                </a:solidFill>
              </a:rPr>
              <a:t>Service planned before a breakdown</a:t>
            </a:r>
            <a:endParaRPr lang="en-US" sz="1200" dirty="0"/>
          </a:p>
        </p:txBody>
      </p:sp>
      <p:pic>
        <p:nvPicPr>
          <p:cNvPr id="16" name="Machine health screen" descr="Machine health: Spindle, servo, fans and batteries">    </p:cNvPr>
          <p:cNvPicPr>
            <a:picLocks noChangeAspect="1"/>
          </p:cNvPicPr>
          <p:nvPr/>
        </p:nvPicPr>
        <p:blipFill>
          <a:blip r:embed="rId5"/>
          <a:stretch>
            <a:fillRect/>
          </a:stretch>
        </p:blipFill>
        <p:spPr>
          <a:xfrm>
            <a:off x="4338218" y="3951042"/>
            <a:ext cx="3515258" cy="1527882"/>
          </a:xfrm>
          <a:prstGeom prst="rect">
            <a:avLst/>
          </a:prstGeom>
        </p:spPr>
      </p:pic>
      <p:sp>
        <p:nvSpPr>
          <p:cNvPr id="17" name="Machine health name"/>
          <p:cNvSpPr txBox="1"/>
          <p:nvPr/>
        </p:nvSpPr>
        <p:spPr>
          <a:xfrm>
            <a:off x="4338218" y="5570364"/>
            <a:ext cx="3515258" cy="274320"/>
          </a:xfrm>
          <a:prstGeom prst="rect">
            <a:avLst/>
          </a:prstGeom>
          <a:noFill/>
          <a:ln/>
        </p:spPr>
        <p:txBody>
          <a:bodyPr wrap="square" lIns="0" tIns="0" rIns="0" bIns="0" rtlCol="0" anchor="t"/>
          <a:lstStyle/>
          <a:p>
            <a:pPr indent="0" marL="0">
              <a:buNone/>
            </a:pPr>
            <a:r>
              <a:rPr lang="en-US" sz="1500" b="1" dirty="0">
                <a:solidFill>
                  <a:schemeClr val="bg1"/>
                </a:solidFill>
              </a:rPr>
              <a:t>Machine health</a:t>
            </a:r>
            <a:endParaRPr lang="en-US" sz="1500" dirty="0"/>
          </a:p>
        </p:txBody>
      </p:sp>
      <p:sp>
        <p:nvSpPr>
          <p:cNvPr id="18" name="Machine health caption"/>
          <p:cNvSpPr txBox="1"/>
          <p:nvPr/>
        </p:nvSpPr>
        <p:spPr>
          <a:xfrm>
            <a:off x="4338218" y="5844684"/>
            <a:ext cx="3515258" cy="256032"/>
          </a:xfrm>
          <a:prstGeom prst="rect">
            <a:avLst/>
          </a:prstGeom>
          <a:noFill/>
          <a:ln/>
        </p:spPr>
        <p:txBody>
          <a:bodyPr wrap="square" lIns="0" tIns="0" rIns="0" bIns="0" rtlCol="0" anchor="t"/>
          <a:lstStyle/>
          <a:p>
            <a:pPr indent="0" marL="0">
              <a:buNone/>
            </a:pPr>
            <a:r>
              <a:rPr lang="en-US" sz="1200" dirty="0">
                <a:solidFill>
                  <a:schemeClr val="bg2"/>
                </a:solidFill>
              </a:rPr>
              <a:t>Spindle, servo, fans and batteries</a:t>
            </a:r>
            <a:endParaRPr lang="en-US" sz="1200" dirty="0"/>
          </a:p>
        </p:txBody>
      </p:sp>
      <p:pic>
        <p:nvPicPr>
          <p:cNvPr id="19" name="Operator performance screen" descr="Operator performance: Output and ranking of each operator">    </p:cNvPr>
          <p:cNvPicPr>
            <a:picLocks noChangeAspect="1"/>
          </p:cNvPicPr>
          <p:nvPr/>
        </p:nvPicPr>
        <p:blipFill>
          <a:blip r:embed="rId6"/>
          <a:stretch>
            <a:fillRect/>
          </a:stretch>
        </p:blipFill>
        <p:spPr>
          <a:xfrm>
            <a:off x="8127797" y="3951042"/>
            <a:ext cx="3515258" cy="1527882"/>
          </a:xfrm>
          <a:prstGeom prst="rect">
            <a:avLst/>
          </a:prstGeom>
        </p:spPr>
      </p:pic>
      <p:sp>
        <p:nvSpPr>
          <p:cNvPr id="20" name="Operator performance name"/>
          <p:cNvSpPr txBox="1"/>
          <p:nvPr/>
        </p:nvSpPr>
        <p:spPr>
          <a:xfrm>
            <a:off x="8127797" y="5570364"/>
            <a:ext cx="3515258" cy="274320"/>
          </a:xfrm>
          <a:prstGeom prst="rect">
            <a:avLst/>
          </a:prstGeom>
          <a:noFill/>
          <a:ln/>
        </p:spPr>
        <p:txBody>
          <a:bodyPr wrap="square" lIns="0" tIns="0" rIns="0" bIns="0" rtlCol="0" anchor="t"/>
          <a:lstStyle/>
          <a:p>
            <a:pPr indent="0" marL="0">
              <a:buNone/>
            </a:pPr>
            <a:r>
              <a:rPr lang="en-US" sz="1500" b="1" dirty="0">
                <a:solidFill>
                  <a:schemeClr val="bg1"/>
                </a:solidFill>
              </a:rPr>
              <a:t>Operator performance</a:t>
            </a:r>
            <a:endParaRPr lang="en-US" sz="1500" dirty="0"/>
          </a:p>
        </p:txBody>
      </p:sp>
      <p:sp>
        <p:nvSpPr>
          <p:cNvPr id="21" name="Operator performance caption"/>
          <p:cNvSpPr txBox="1"/>
          <p:nvPr/>
        </p:nvSpPr>
        <p:spPr>
          <a:xfrm>
            <a:off x="8127797" y="5844684"/>
            <a:ext cx="3515258" cy="256032"/>
          </a:xfrm>
          <a:prstGeom prst="rect">
            <a:avLst/>
          </a:prstGeom>
          <a:noFill/>
          <a:ln/>
        </p:spPr>
        <p:txBody>
          <a:bodyPr wrap="square" lIns="0" tIns="0" rIns="0" bIns="0" rtlCol="0" anchor="t"/>
          <a:lstStyle/>
          <a:p>
            <a:pPr indent="0" marL="0">
              <a:buNone/>
            </a:pPr>
            <a:r>
              <a:rPr lang="en-US" sz="1200" dirty="0">
                <a:solidFill>
                  <a:schemeClr val="bg2"/>
                </a:solidFill>
              </a:rPr>
              <a:t>Output and ranking of each operator</a:t>
            </a:r>
            <a:endParaRPr lang="en-US" sz="12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5" type="body" hasCustomPrompt="1"/>
          </p:nvPr>
        </p:nvSpPr>
        <p:spPr>
          <a:xfrm>
            <a:off x="950976" y="1801368"/>
            <a:ext cx="4206240" cy="274320"/>
          </a:xfrm>
          <a:prstGeom prst="rect">
            <a:avLst/>
          </a:prstGeom>
          <a:noFill/>
          <a:ln/>
        </p:spPr>
        <p:txBody>
          <a:bodyPr wrap="square" lIns="0" tIns="0" rIns="0" bIns="0" rtlCol="0" anchor="ctr"/>
          <a:lstStyle/>
          <a:p>
            <a:pPr indent="0" marL="0">
              <a:buNone/>
            </a:pPr>
            <a:r>
              <a:rPr lang="en-US" sz="1300" b="1" spc="300" kern="0" dirty="0">
                <a:solidFill>
                  <a:schemeClr val="accent6"/>
                </a:solidFill>
              </a:rPr>
              <a:t>NEW  ·  DHARSTEC AI</a:t>
            </a:r>
            <a:endParaRPr lang="en-US" sz="1300" dirty="0"/>
          </a:p>
        </p:txBody>
      </p:sp>
      <p:sp>
        <p:nvSpPr>
          <p:cNvPr id="3" name="Text 4"/>
          <p:cNvSpPr/>
          <p:nvPr>
            <p:ph idx="106" type="title" hasCustomPrompt="1"/>
          </p:nvPr>
        </p:nvSpPr>
        <p:spPr>
          <a:xfrm>
            <a:off x="548640" y="2194560"/>
            <a:ext cx="5486400" cy="1737360"/>
          </a:xfrm>
          <a:prstGeom prst="rect">
            <a:avLst/>
          </a:prstGeom>
          <a:noFill/>
          <a:ln/>
        </p:spPr>
        <p:txBody>
          <a:bodyPr wrap="square" lIns="0" tIns="0" rIns="0" bIns="0" rtlCol="0" anchor="t"/>
          <a:lstStyle/>
          <a:p>
            <a:pPr algn="l" indent="0" marL="0">
              <a:buNone/>
            </a:pPr>
            <a:r>
              <a:rPr lang="en-US" sz="5000" b="1" dirty="0">
                <a:solidFill>
                  <a:schemeClr val="bg1"/>
                </a:solidFill>
              </a:rPr>
              <a:t>Ask your factory</a:t>
            </a:r>
            <a:endParaRPr lang="en-US" sz="5000" dirty="0"/>
          </a:p>
          <a:p>
            <a:pPr algn="l" indent="0" marL="0">
              <a:buNone/>
            </a:pPr>
            <a:r>
              <a:rPr lang="en-US" sz="5000" b="1" dirty="0">
                <a:solidFill>
                  <a:schemeClr val="accent6"/>
                </a:solidFill>
              </a:rPr>
              <a:t>anything</a:t>
            </a:r>
            <a:endParaRPr lang="en-US" sz="5000" dirty="0"/>
          </a:p>
        </p:txBody>
      </p:sp>
      <p:sp>
        <p:nvSpPr>
          <p:cNvPr id="4" name="Text 4"/>
          <p:cNvSpPr/>
          <p:nvPr>
            <p:ph idx="107" type="body" hasCustomPrompt="1"/>
          </p:nvPr>
        </p:nvSpPr>
        <p:spPr>
          <a:xfrm>
            <a:off x="548640" y="4069080"/>
            <a:ext cx="4846320" cy="914400"/>
          </a:xfrm>
          <a:prstGeom prst="rect">
            <a:avLst/>
          </a:prstGeom>
          <a:noFill/>
          <a:ln/>
        </p:spPr>
        <p:txBody>
          <a:bodyPr wrap="square" lIns="0" tIns="0" rIns="0" bIns="0" rtlCol="0" anchor="t"/>
          <a:lstStyle/>
          <a:p>
            <a:pPr indent="0" marL="0">
              <a:buNone/>
            </a:pPr>
            <a:r>
              <a:rPr lang="en-US" sz="1800" dirty="0">
                <a:solidFill>
                  <a:schemeClr val="bg2"/>
                </a:solidFill>
              </a:rPr>
              <a:t>Dharstec AI reads your plant’s own data and answers in plain words, with the report to prove it.</a:t>
            </a:r>
            <a:endParaRPr lang="en-US" sz="1800" dirty="0"/>
          </a:p>
        </p:txBody>
      </p:sp>
      <p:sp>
        <p:nvSpPr>
          <p:cNvPr id="5" name="AI plans"/>
          <p:cNvSpPr/>
          <p:nvPr/>
        </p:nvSpPr>
        <p:spPr>
          <a:xfrm>
            <a:off x="548640" y="5212080"/>
            <a:ext cx="3566160" cy="384048"/>
          </a:xfrm>
          <a:prstGeom prst="roundRect">
            <a:avLst>
              <a:gd name="adj" fmla="val 50000"/>
            </a:avLst>
          </a:prstGeom>
          <a:solidFill>
            <a:schemeClr val="accent6">
              <a:alpha val="15000"/>
            </a:schemeClr>
          </a:solidFill>
          <a:ln w="9525">
            <a:solidFill>
              <a:schemeClr val="accent6">
                <a:alpha val="65000"/>
              </a:schemeClr>
            </a:solidFill>
            <a:prstDash val="solid"/>
          </a:ln>
        </p:spPr>
      </p:sp>
      <p:sp>
        <p:nvSpPr>
          <p:cNvPr id="6" name="AI plans text"/>
          <p:cNvSpPr txBox="1"/>
          <p:nvPr/>
        </p:nvSpPr>
        <p:spPr>
          <a:xfrm>
            <a:off x="548640" y="5212080"/>
            <a:ext cx="3566160" cy="384048"/>
          </a:xfrm>
          <a:prstGeom prst="rect">
            <a:avLst/>
          </a:prstGeom>
          <a:noFill/>
          <a:ln/>
        </p:spPr>
        <p:txBody>
          <a:bodyPr wrap="square" lIns="0" tIns="0" rIns="0" bIns="0" rtlCol="0" anchor="ctr"/>
          <a:lstStyle/>
          <a:p>
            <a:pPr algn="ctr" indent="0" marL="0">
              <a:buNone/>
            </a:pPr>
            <a:r>
              <a:rPr lang="en-US" sz="1200" b="1" spc="150" kern="0" dirty="0">
                <a:solidFill>
                  <a:schemeClr val="bg1"/>
                </a:solidFill>
              </a:rPr>
              <a:t>ADD-ON FOR STANDARD AND PREMIUM</a:t>
            </a:r>
            <a:endParaRPr lang="en-US" sz="1200" dirty="0"/>
          </a:p>
        </p:txBody>
      </p:sp>
      <p:pic>
        <p:nvPicPr>
          <p:cNvPr id="7" name="Dharstec AI on the Live Dashboard" descr="Dharstec AI open over the Live Dashboard, answering which machines are running right now">    </p:cNvPr>
          <p:cNvPicPr>
            <a:picLocks noChangeAspect="1"/>
          </p:cNvPicPr>
          <p:nvPr/>
        </p:nvPicPr>
        <p:blipFill>
          <a:blip r:embed="rId1"/>
          <a:stretch>
            <a:fillRect/>
          </a:stretch>
        </p:blipFill>
        <p:spPr>
          <a:xfrm>
            <a:off x="5989320" y="1188720"/>
            <a:ext cx="5650992" cy="4562571"/>
          </a:xfrm>
          <a:prstGeom prst="rect">
            <a:avLst/>
          </a:prstGeom>
        </p:spPr>
      </p:pic>
      <p:pic>
        <p:nvPicPr>
          <p:cNvPr id="8" name="AI orb" descr="Dharstec AI">    </p:cNvPr>
          <p:cNvPicPr>
            <a:picLocks noChangeAspect="1"/>
          </p:cNvPicPr>
          <p:nvPr/>
        </p:nvPicPr>
        <p:blipFill>
          <a:blip r:embed="rId2"/>
          <a:stretch>
            <a:fillRect/>
          </a:stretch>
        </p:blipFill>
        <p:spPr>
          <a:xfrm>
            <a:off x="5349240" y="548640"/>
            <a:ext cx="1280160" cy="1280160"/>
          </a:xfrm>
          <a:prstGeom prst="rect">
            <a:avLst/>
          </a:prstGeom>
        </p:spPr>
      </p:pic>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DHARSTEC AI</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Answers from your own data</a:t>
            </a:r>
            <a:endParaRPr lang="en-US" sz="3600" dirty="0"/>
          </a:p>
        </p:txBody>
      </p:sp>
      <p:pic>
        <p:nvPicPr>
          <p:cNvPr id="4" name="Dharstec AI conversation" descr="A conversation with Dharstec AI: OEE this week against last week, and a summary of today's production, each with its source report">    </p:cNvPr>
          <p:cNvPicPr>
            <a:picLocks noChangeAspect="1"/>
          </p:cNvPicPr>
          <p:nvPr/>
        </p:nvPicPr>
        <p:blipFill>
          <a:blip r:embed="rId1"/>
          <a:stretch>
            <a:fillRect/>
          </a:stretch>
        </p:blipFill>
        <p:spPr>
          <a:xfrm>
            <a:off x="548640" y="1737360"/>
            <a:ext cx="4698721" cy="4343400"/>
          </a:xfrm>
          <a:prstGeom prst="rect">
            <a:avLst/>
          </a:prstGeom>
        </p:spPr>
      </p:pic>
      <p:sp>
        <p:nvSpPr>
          <p:cNvPr id="5" name="Ask in plain words tile"/>
          <p:cNvSpPr/>
          <p:nvPr/>
        </p:nvSpPr>
        <p:spPr>
          <a:xfrm>
            <a:off x="5760720" y="1783080"/>
            <a:ext cx="475488" cy="475488"/>
          </a:xfrm>
          <a:prstGeom prst="roundRect">
            <a:avLst>
              <a:gd name="adj" fmla="val 24000"/>
            </a:avLst>
          </a:prstGeom>
          <a:solidFill>
            <a:schemeClr val="accent6">
              <a:alpha val="16000"/>
            </a:schemeClr>
          </a:solidFill>
          <a:ln/>
        </p:spPr>
      </p:sp>
      <p:pic>
        <p:nvPicPr>
          <p:cNvPr id="6" name="Ask in plain words icon" descr="Ask in plain words">    </p:cNvPr>
          <p:cNvPicPr>
            <a:picLocks noChangeAspect="1"/>
          </p:cNvPicPr>
          <p:nvPr/>
        </p:nvPicPr>
        <p:blipFill>
          <a:blip r:embed="rId2"/>
          <a:stretch>
            <a:fillRect/>
          </a:stretch>
        </p:blipFill>
        <p:spPr>
          <a:xfrm>
            <a:off x="5865327" y="1887687"/>
            <a:ext cx="266273" cy="266273"/>
          </a:xfrm>
          <a:prstGeom prst="rect">
            <a:avLst/>
          </a:prstGeom>
        </p:spPr>
      </p:pic>
      <p:sp>
        <p:nvSpPr>
          <p:cNvPr id="7" name="Ask in plain words heading"/>
          <p:cNvSpPr txBox="1"/>
          <p:nvPr/>
        </p:nvSpPr>
        <p:spPr>
          <a:xfrm>
            <a:off x="6446520" y="1746504"/>
            <a:ext cx="5193792" cy="310896"/>
          </a:xfrm>
          <a:prstGeom prst="rect">
            <a:avLst/>
          </a:prstGeom>
          <a:noFill/>
          <a:ln/>
        </p:spPr>
        <p:txBody>
          <a:bodyPr wrap="square" lIns="0" tIns="0" rIns="0" bIns="0" rtlCol="0" anchor="t"/>
          <a:lstStyle/>
          <a:p>
            <a:pPr indent="0" marL="0">
              <a:buNone/>
            </a:pPr>
            <a:r>
              <a:rPr lang="en-US" sz="1700" b="1" dirty="0">
                <a:solidFill>
                  <a:schemeClr val="bg1"/>
                </a:solidFill>
              </a:rPr>
              <a:t>Ask in plain words</a:t>
            </a:r>
            <a:endParaRPr lang="en-US" sz="1700" dirty="0"/>
          </a:p>
        </p:txBody>
      </p:sp>
      <p:sp>
        <p:nvSpPr>
          <p:cNvPr id="8" name="Ask in plain words text"/>
          <p:cNvSpPr txBox="1"/>
          <p:nvPr/>
        </p:nvSpPr>
        <p:spPr>
          <a:xfrm>
            <a:off x="6446520" y="2057400"/>
            <a:ext cx="5193792" cy="274320"/>
          </a:xfrm>
          <a:prstGeom prst="rect">
            <a:avLst/>
          </a:prstGeom>
          <a:noFill/>
          <a:ln/>
        </p:spPr>
        <p:txBody>
          <a:bodyPr wrap="square" lIns="0" tIns="0" rIns="0" bIns="0" rtlCol="0" anchor="t"/>
          <a:lstStyle/>
          <a:p>
            <a:pPr indent="0" marL="0">
              <a:buNone/>
            </a:pPr>
            <a:r>
              <a:rPr lang="en-US" sz="1400" dirty="0">
                <a:solidFill>
                  <a:schemeClr val="bg2"/>
                </a:solidFill>
              </a:rPr>
              <a:t>Production, OEE, alarms, downtime, maintenance or energy.</a:t>
            </a:r>
            <a:endParaRPr lang="en-US" sz="1400" dirty="0"/>
          </a:p>
        </p:txBody>
      </p:sp>
      <p:sp>
        <p:nvSpPr>
          <p:cNvPr id="9" name="Every answer shows its source tile"/>
          <p:cNvSpPr/>
          <p:nvPr/>
        </p:nvSpPr>
        <p:spPr>
          <a:xfrm>
            <a:off x="5760720" y="2496312"/>
            <a:ext cx="475488" cy="475488"/>
          </a:xfrm>
          <a:prstGeom prst="roundRect">
            <a:avLst>
              <a:gd name="adj" fmla="val 24000"/>
            </a:avLst>
          </a:prstGeom>
          <a:solidFill>
            <a:schemeClr val="accent2">
              <a:alpha val="16000"/>
            </a:schemeClr>
          </a:solidFill>
          <a:ln/>
        </p:spPr>
      </p:sp>
      <p:pic>
        <p:nvPicPr>
          <p:cNvPr id="10" name="Every answer shows its source icon" descr="Every answer shows its source">    </p:cNvPr>
          <p:cNvPicPr>
            <a:picLocks noChangeAspect="1"/>
          </p:cNvPicPr>
          <p:nvPr/>
        </p:nvPicPr>
        <p:blipFill>
          <a:blip r:embed="rId3"/>
          <a:stretch>
            <a:fillRect/>
          </a:stretch>
        </p:blipFill>
        <p:spPr>
          <a:xfrm>
            <a:off x="5865327" y="2600919"/>
            <a:ext cx="266273" cy="266273"/>
          </a:xfrm>
          <a:prstGeom prst="rect">
            <a:avLst/>
          </a:prstGeom>
        </p:spPr>
      </p:pic>
      <p:sp>
        <p:nvSpPr>
          <p:cNvPr id="11" name="Every answer shows its source heading"/>
          <p:cNvSpPr txBox="1"/>
          <p:nvPr/>
        </p:nvSpPr>
        <p:spPr>
          <a:xfrm>
            <a:off x="6446520" y="2459736"/>
            <a:ext cx="5193792" cy="310896"/>
          </a:xfrm>
          <a:prstGeom prst="rect">
            <a:avLst/>
          </a:prstGeom>
          <a:noFill/>
          <a:ln/>
        </p:spPr>
        <p:txBody>
          <a:bodyPr wrap="square" lIns="0" tIns="0" rIns="0" bIns="0" rtlCol="0" anchor="t"/>
          <a:lstStyle/>
          <a:p>
            <a:pPr indent="0" marL="0">
              <a:buNone/>
            </a:pPr>
            <a:r>
              <a:rPr lang="en-US" sz="1700" b="1" dirty="0">
                <a:solidFill>
                  <a:schemeClr val="bg1"/>
                </a:solidFill>
              </a:rPr>
              <a:t>Every answer shows its source</a:t>
            </a:r>
            <a:endParaRPr lang="en-US" sz="1700" dirty="0"/>
          </a:p>
        </p:txBody>
      </p:sp>
      <p:sp>
        <p:nvSpPr>
          <p:cNvPr id="12" name="Every answer shows its source text"/>
          <p:cNvSpPr txBox="1"/>
          <p:nvPr/>
        </p:nvSpPr>
        <p:spPr>
          <a:xfrm>
            <a:off x="6446520" y="2770632"/>
            <a:ext cx="5193792" cy="274320"/>
          </a:xfrm>
          <a:prstGeom prst="rect">
            <a:avLst/>
          </a:prstGeom>
          <a:noFill/>
          <a:ln/>
        </p:spPr>
        <p:txBody>
          <a:bodyPr wrap="square" lIns="0" tIns="0" rIns="0" bIns="0" rtlCol="0" anchor="t"/>
          <a:lstStyle/>
          <a:p>
            <a:pPr indent="0" marL="0">
              <a:buNone/>
            </a:pPr>
            <a:r>
              <a:rPr lang="en-US" sz="1400" dirty="0">
                <a:solidFill>
                  <a:schemeClr val="bg2"/>
                </a:solidFill>
              </a:rPr>
              <a:t>Report, dates and filters, so figures can be checked.</a:t>
            </a:r>
            <a:endParaRPr lang="en-US" sz="1400" dirty="0"/>
          </a:p>
        </p:txBody>
      </p:sp>
      <p:sp>
        <p:nvSpPr>
          <p:cNvPr id="13" name="One click to the full report tile"/>
          <p:cNvSpPr/>
          <p:nvPr/>
        </p:nvSpPr>
        <p:spPr>
          <a:xfrm>
            <a:off x="5760720" y="3209544"/>
            <a:ext cx="475488" cy="475488"/>
          </a:xfrm>
          <a:prstGeom prst="roundRect">
            <a:avLst>
              <a:gd name="adj" fmla="val 24000"/>
            </a:avLst>
          </a:prstGeom>
          <a:solidFill>
            <a:schemeClr val="accent1">
              <a:alpha val="16000"/>
            </a:schemeClr>
          </a:solidFill>
          <a:ln/>
        </p:spPr>
      </p:sp>
      <p:pic>
        <p:nvPicPr>
          <p:cNvPr id="14" name="One click to the full report icon" descr="One click to the full report">    </p:cNvPr>
          <p:cNvPicPr>
            <a:picLocks noChangeAspect="1"/>
          </p:cNvPicPr>
          <p:nvPr/>
        </p:nvPicPr>
        <p:blipFill>
          <a:blip r:embed="rId4"/>
          <a:stretch>
            <a:fillRect/>
          </a:stretch>
        </p:blipFill>
        <p:spPr>
          <a:xfrm>
            <a:off x="5865327" y="3314151"/>
            <a:ext cx="266273" cy="266273"/>
          </a:xfrm>
          <a:prstGeom prst="rect">
            <a:avLst/>
          </a:prstGeom>
        </p:spPr>
      </p:pic>
      <p:sp>
        <p:nvSpPr>
          <p:cNvPr id="15" name="One click to the full report heading"/>
          <p:cNvSpPr txBox="1"/>
          <p:nvPr/>
        </p:nvSpPr>
        <p:spPr>
          <a:xfrm>
            <a:off x="6446520" y="3172968"/>
            <a:ext cx="5193792" cy="310896"/>
          </a:xfrm>
          <a:prstGeom prst="rect">
            <a:avLst/>
          </a:prstGeom>
          <a:noFill/>
          <a:ln/>
        </p:spPr>
        <p:txBody>
          <a:bodyPr wrap="square" lIns="0" tIns="0" rIns="0" bIns="0" rtlCol="0" anchor="t"/>
          <a:lstStyle/>
          <a:p>
            <a:pPr indent="0" marL="0">
              <a:buNone/>
            </a:pPr>
            <a:r>
              <a:rPr lang="en-US" sz="1700" b="1" dirty="0">
                <a:solidFill>
                  <a:schemeClr val="bg1"/>
                </a:solidFill>
              </a:rPr>
              <a:t>One click to the full report</a:t>
            </a:r>
            <a:endParaRPr lang="en-US" sz="1700" dirty="0"/>
          </a:p>
        </p:txBody>
      </p:sp>
      <p:sp>
        <p:nvSpPr>
          <p:cNvPr id="16" name="One click to the full report text"/>
          <p:cNvSpPr txBox="1"/>
          <p:nvPr/>
        </p:nvSpPr>
        <p:spPr>
          <a:xfrm>
            <a:off x="6446520" y="3483864"/>
            <a:ext cx="5193792" cy="274320"/>
          </a:xfrm>
          <a:prstGeom prst="rect">
            <a:avLst/>
          </a:prstGeom>
          <a:noFill/>
          <a:ln/>
        </p:spPr>
        <p:txBody>
          <a:bodyPr wrap="square" lIns="0" tIns="0" rIns="0" bIns="0" rtlCol="0" anchor="t"/>
          <a:lstStyle/>
          <a:p>
            <a:pPr indent="0" marL="0">
              <a:buNone/>
            </a:pPr>
            <a:r>
              <a:rPr lang="en-US" sz="1400" dirty="0">
                <a:solidFill>
                  <a:schemeClr val="bg2"/>
                </a:solidFill>
              </a:rPr>
              <a:t>View it, or download it in Excel.</a:t>
            </a:r>
            <a:endParaRPr lang="en-US" sz="1400" dirty="0"/>
          </a:p>
        </p:txBody>
      </p:sp>
      <p:sp>
        <p:nvSpPr>
          <p:cNvPr id="17" name="Knows what you are looking at tile"/>
          <p:cNvSpPr/>
          <p:nvPr/>
        </p:nvSpPr>
        <p:spPr>
          <a:xfrm>
            <a:off x="5760720" y="3922776"/>
            <a:ext cx="475488" cy="475488"/>
          </a:xfrm>
          <a:prstGeom prst="roundRect">
            <a:avLst>
              <a:gd name="adj" fmla="val 24000"/>
            </a:avLst>
          </a:prstGeom>
          <a:solidFill>
            <a:schemeClr val="accent3">
              <a:alpha val="16000"/>
            </a:schemeClr>
          </a:solidFill>
          <a:ln/>
        </p:spPr>
      </p:sp>
      <p:pic>
        <p:nvPicPr>
          <p:cNvPr id="18" name="Knows what you are looking at icon" descr="Knows what you are looking at">    </p:cNvPr>
          <p:cNvPicPr>
            <a:picLocks noChangeAspect="1"/>
          </p:cNvPicPr>
          <p:nvPr/>
        </p:nvPicPr>
        <p:blipFill>
          <a:blip r:embed="rId5"/>
          <a:stretch>
            <a:fillRect/>
          </a:stretch>
        </p:blipFill>
        <p:spPr>
          <a:xfrm>
            <a:off x="5865327" y="4027383"/>
            <a:ext cx="266273" cy="266273"/>
          </a:xfrm>
          <a:prstGeom prst="rect">
            <a:avLst/>
          </a:prstGeom>
        </p:spPr>
      </p:pic>
      <p:sp>
        <p:nvSpPr>
          <p:cNvPr id="19" name="Knows what you are looking at heading"/>
          <p:cNvSpPr txBox="1"/>
          <p:nvPr/>
        </p:nvSpPr>
        <p:spPr>
          <a:xfrm>
            <a:off x="6446520" y="3886200"/>
            <a:ext cx="5193792" cy="310896"/>
          </a:xfrm>
          <a:prstGeom prst="rect">
            <a:avLst/>
          </a:prstGeom>
          <a:noFill/>
          <a:ln/>
        </p:spPr>
        <p:txBody>
          <a:bodyPr wrap="square" lIns="0" tIns="0" rIns="0" bIns="0" rtlCol="0" anchor="t"/>
          <a:lstStyle/>
          <a:p>
            <a:pPr indent="0" marL="0">
              <a:buNone/>
            </a:pPr>
            <a:r>
              <a:rPr lang="en-US" sz="1700" b="1" dirty="0">
                <a:solidFill>
                  <a:schemeClr val="bg1"/>
                </a:solidFill>
              </a:rPr>
              <a:t>Knows what you are looking at</a:t>
            </a:r>
            <a:endParaRPr lang="en-US" sz="1700" dirty="0"/>
          </a:p>
        </p:txBody>
      </p:sp>
      <p:sp>
        <p:nvSpPr>
          <p:cNvPr id="20" name="Knows what you are looking at text"/>
          <p:cNvSpPr txBox="1"/>
          <p:nvPr/>
        </p:nvSpPr>
        <p:spPr>
          <a:xfrm>
            <a:off x="6446520" y="4197096"/>
            <a:ext cx="5193792" cy="274320"/>
          </a:xfrm>
          <a:prstGeom prst="rect">
            <a:avLst/>
          </a:prstGeom>
          <a:noFill/>
          <a:ln/>
        </p:spPr>
        <p:txBody>
          <a:bodyPr wrap="square" lIns="0" tIns="0" rIns="0" bIns="0" rtlCol="0" anchor="t"/>
          <a:lstStyle/>
          <a:p>
            <a:pPr indent="0" marL="0">
              <a:buNone/>
            </a:pPr>
            <a:r>
              <a:rPr lang="en-US" sz="1400" dirty="0">
                <a:solidFill>
                  <a:schemeClr val="bg2"/>
                </a:solidFill>
              </a:rPr>
              <a:t>On a report page it uses that page’s filters.</a:t>
            </a:r>
            <a:endParaRPr lang="en-US" sz="1400" dirty="0"/>
          </a:p>
        </p:txBody>
      </p:sp>
      <p:sp>
        <p:nvSpPr>
          <p:cNvPr id="21" name="Follows your roles tile"/>
          <p:cNvSpPr/>
          <p:nvPr/>
        </p:nvSpPr>
        <p:spPr>
          <a:xfrm>
            <a:off x="5760720" y="4636008"/>
            <a:ext cx="475488" cy="475488"/>
          </a:xfrm>
          <a:prstGeom prst="roundRect">
            <a:avLst>
              <a:gd name="adj" fmla="val 24000"/>
            </a:avLst>
          </a:prstGeom>
          <a:solidFill>
            <a:schemeClr val="accent4">
              <a:alpha val="16000"/>
            </a:schemeClr>
          </a:solidFill>
          <a:ln/>
        </p:spPr>
      </p:sp>
      <p:pic>
        <p:nvPicPr>
          <p:cNvPr id="22" name="Follows your roles icon" descr="Follows your roles">    </p:cNvPr>
          <p:cNvPicPr>
            <a:picLocks noChangeAspect="1"/>
          </p:cNvPicPr>
          <p:nvPr/>
        </p:nvPicPr>
        <p:blipFill>
          <a:blip r:embed="rId6"/>
          <a:stretch>
            <a:fillRect/>
          </a:stretch>
        </p:blipFill>
        <p:spPr>
          <a:xfrm>
            <a:off x="5865327" y="4740615"/>
            <a:ext cx="266273" cy="266273"/>
          </a:xfrm>
          <a:prstGeom prst="rect">
            <a:avLst/>
          </a:prstGeom>
        </p:spPr>
      </p:pic>
      <p:sp>
        <p:nvSpPr>
          <p:cNvPr id="23" name="Follows your roles heading"/>
          <p:cNvSpPr txBox="1"/>
          <p:nvPr/>
        </p:nvSpPr>
        <p:spPr>
          <a:xfrm>
            <a:off x="6446520" y="4599432"/>
            <a:ext cx="5193792" cy="310896"/>
          </a:xfrm>
          <a:prstGeom prst="rect">
            <a:avLst/>
          </a:prstGeom>
          <a:noFill/>
          <a:ln/>
        </p:spPr>
        <p:txBody>
          <a:bodyPr wrap="square" lIns="0" tIns="0" rIns="0" bIns="0" rtlCol="0" anchor="t"/>
          <a:lstStyle/>
          <a:p>
            <a:pPr indent="0" marL="0">
              <a:buNone/>
            </a:pPr>
            <a:r>
              <a:rPr lang="en-US" sz="1700" b="1" dirty="0">
                <a:solidFill>
                  <a:schemeClr val="bg1"/>
                </a:solidFill>
              </a:rPr>
              <a:t>Follows your roles</a:t>
            </a:r>
            <a:endParaRPr lang="en-US" sz="1700" dirty="0"/>
          </a:p>
        </p:txBody>
      </p:sp>
      <p:sp>
        <p:nvSpPr>
          <p:cNvPr id="24" name="Follows your roles text"/>
          <p:cNvSpPr txBox="1"/>
          <p:nvPr/>
        </p:nvSpPr>
        <p:spPr>
          <a:xfrm>
            <a:off x="6446520" y="4910328"/>
            <a:ext cx="5193792" cy="274320"/>
          </a:xfrm>
          <a:prstGeom prst="rect">
            <a:avLst/>
          </a:prstGeom>
          <a:noFill/>
          <a:ln/>
        </p:spPr>
        <p:txBody>
          <a:bodyPr wrap="square" lIns="0" tIns="0" rIns="0" bIns="0" rtlCol="0" anchor="t"/>
          <a:lstStyle/>
          <a:p>
            <a:pPr indent="0" marL="0">
              <a:buNone/>
            </a:pPr>
            <a:r>
              <a:rPr lang="en-US" sz="1400" dirty="0">
                <a:solidFill>
                  <a:schemeClr val="bg2"/>
                </a:solidFill>
              </a:rPr>
              <a:t>People get answers only about what they may see.</a:t>
            </a:r>
            <a:endParaRPr lang="en-US" sz="1400" dirty="0"/>
          </a:p>
        </p:txBody>
      </p:sp>
      <p:sp>
        <p:nvSpPr>
          <p:cNvPr id="25" name="Private by design tile"/>
          <p:cNvSpPr/>
          <p:nvPr/>
        </p:nvSpPr>
        <p:spPr>
          <a:xfrm>
            <a:off x="5760720" y="5349240"/>
            <a:ext cx="475488" cy="475488"/>
          </a:xfrm>
          <a:prstGeom prst="roundRect">
            <a:avLst>
              <a:gd name="adj" fmla="val 24000"/>
            </a:avLst>
          </a:prstGeom>
          <a:solidFill>
            <a:schemeClr val="accent6">
              <a:alpha val="16000"/>
            </a:schemeClr>
          </a:solidFill>
          <a:ln/>
        </p:spPr>
      </p:sp>
      <p:pic>
        <p:nvPicPr>
          <p:cNvPr id="26" name="Private by design icon" descr="Private by design">    </p:cNvPr>
          <p:cNvPicPr>
            <a:picLocks noChangeAspect="1"/>
          </p:cNvPicPr>
          <p:nvPr/>
        </p:nvPicPr>
        <p:blipFill>
          <a:blip r:embed="rId7"/>
          <a:stretch>
            <a:fillRect/>
          </a:stretch>
        </p:blipFill>
        <p:spPr>
          <a:xfrm>
            <a:off x="5865327" y="5453847"/>
            <a:ext cx="266273" cy="266273"/>
          </a:xfrm>
          <a:prstGeom prst="rect">
            <a:avLst/>
          </a:prstGeom>
        </p:spPr>
      </p:pic>
      <p:sp>
        <p:nvSpPr>
          <p:cNvPr id="27" name="Private by design heading"/>
          <p:cNvSpPr txBox="1"/>
          <p:nvPr/>
        </p:nvSpPr>
        <p:spPr>
          <a:xfrm>
            <a:off x="6446520" y="5312664"/>
            <a:ext cx="5193792" cy="310896"/>
          </a:xfrm>
          <a:prstGeom prst="rect">
            <a:avLst/>
          </a:prstGeom>
          <a:noFill/>
          <a:ln/>
        </p:spPr>
        <p:txBody>
          <a:bodyPr wrap="square" lIns="0" tIns="0" rIns="0" bIns="0" rtlCol="0" anchor="t"/>
          <a:lstStyle/>
          <a:p>
            <a:pPr indent="0" marL="0">
              <a:buNone/>
            </a:pPr>
            <a:r>
              <a:rPr lang="en-US" sz="1700" b="1" dirty="0">
                <a:solidFill>
                  <a:schemeClr val="bg1"/>
                </a:solidFill>
              </a:rPr>
              <a:t>Private by design</a:t>
            </a:r>
            <a:endParaRPr lang="en-US" sz="1700" dirty="0"/>
          </a:p>
        </p:txBody>
      </p:sp>
      <p:sp>
        <p:nvSpPr>
          <p:cNvPr id="28" name="Private by design text"/>
          <p:cNvSpPr txBox="1"/>
          <p:nvPr/>
        </p:nvSpPr>
        <p:spPr>
          <a:xfrm>
            <a:off x="6446520" y="5623560"/>
            <a:ext cx="5193792" cy="274320"/>
          </a:xfrm>
          <a:prstGeom prst="rect">
            <a:avLst/>
          </a:prstGeom>
          <a:noFill/>
          <a:ln/>
        </p:spPr>
        <p:txBody>
          <a:bodyPr wrap="square" lIns="0" tIns="0" rIns="0" bIns="0" rtlCol="0" anchor="t"/>
          <a:lstStyle/>
          <a:p>
            <a:pPr indent="0" marL="0">
              <a:buNone/>
            </a:pPr>
            <a:r>
              <a:rPr lang="en-US" sz="1400" dirty="0">
                <a:solidFill>
                  <a:schemeClr val="bg2"/>
                </a:solidFill>
              </a:rPr>
              <a:t>Cleared at sign-out; the server stores none of it.</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DHARSTEC AI</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Your team asks, Dharstec AI answers</a:t>
            </a:r>
            <a:endParaRPr lang="en-US" sz="3600" dirty="0"/>
          </a:p>
        </p:txBody>
      </p:sp>
      <p:sp>
        <p:nvSpPr>
          <p:cNvPr id="4" name="AI watermark"/>
          <p:cNvSpPr txBox="1"/>
          <p:nvPr/>
        </p:nvSpPr>
        <p:spPr>
          <a:xfrm>
            <a:off x="6583680" y="1188720"/>
            <a:ext cx="5056632" cy="4206240"/>
          </a:xfrm>
          <a:prstGeom prst="rect">
            <a:avLst/>
          </a:prstGeom>
          <a:noFill/>
          <a:ln/>
        </p:spPr>
        <p:txBody>
          <a:bodyPr wrap="square" lIns="0" tIns="0" rIns="0" bIns="0" rtlCol="0" anchor="ctr"/>
          <a:lstStyle/>
          <a:p>
            <a:pPr algn="r" indent="0" marL="0">
              <a:buNone/>
            </a:pPr>
            <a:r>
              <a:rPr lang="en-US" sz="28000" b="1" dirty="0">
                <a:solidFill>
                  <a:schemeClr val="accent6">
                    <a:alpha val="12000"/>
                  </a:schemeClr>
                </a:solidFill>
              </a:rPr>
              <a:t>AI</a:t>
            </a:r>
            <a:endParaRPr lang="en-US" sz="28000" dirty="0"/>
          </a:p>
        </p:txBody>
      </p:sp>
      <p:sp>
        <p:nvSpPr>
          <p:cNvPr id="5" name="Question: Which machines are running right now?"/>
          <p:cNvSpPr/>
          <p:nvPr/>
        </p:nvSpPr>
        <p:spPr>
          <a:xfrm>
            <a:off x="548640" y="1783080"/>
            <a:ext cx="5420563" cy="594360"/>
          </a:xfrm>
          <a:prstGeom prst="roundRect">
            <a:avLst>
              <a:gd name="adj" fmla="val 50000"/>
            </a:avLst>
          </a:prstGeom>
          <a:solidFill>
            <a:schemeClr val="accent2"/>
          </a:solidFill>
          <a:ln w="9525">
            <a:solidFill>
              <a:schemeClr val="accent2"/>
            </a:solidFill>
            <a:prstDash val="solid"/>
          </a:ln>
        </p:spPr>
      </p:sp>
      <p:sp>
        <p:nvSpPr>
          <p:cNvPr id="6" name="Question text: Which machines are running right now?"/>
          <p:cNvSpPr txBox="1"/>
          <p:nvPr/>
        </p:nvSpPr>
        <p:spPr>
          <a:xfrm>
            <a:off x="548640" y="1783080"/>
            <a:ext cx="5420563" cy="594360"/>
          </a:xfrm>
          <a:prstGeom prst="rect">
            <a:avLst/>
          </a:prstGeom>
          <a:noFill/>
          <a:ln/>
        </p:spPr>
        <p:txBody>
          <a:bodyPr wrap="square" lIns="0" tIns="0" rIns="0" bIns="0" rtlCol="0" anchor="ctr"/>
          <a:lstStyle/>
          <a:p>
            <a:pPr algn="ctr" indent="0" marL="0">
              <a:buNone/>
            </a:pPr>
            <a:r>
              <a:rPr lang="en-US" sz="2000" b="1" dirty="0">
                <a:solidFill>
                  <a:schemeClr val="bg1"/>
                </a:solidFill>
              </a:rPr>
              <a:t>Which machines are running right now?</a:t>
            </a:r>
            <a:endParaRPr lang="en-US" sz="2000" dirty="0"/>
          </a:p>
        </p:txBody>
      </p:sp>
      <p:sp>
        <p:nvSpPr>
          <p:cNvPr id="7" name="Question: Compare this week’s OEE with last week."/>
          <p:cNvSpPr/>
          <p:nvPr/>
        </p:nvSpPr>
        <p:spPr>
          <a:xfrm>
            <a:off x="6986199" y="1783080"/>
            <a:ext cx="4656856" cy="530352"/>
          </a:xfrm>
          <a:prstGeom prst="roundRect">
            <a:avLst>
              <a:gd name="adj" fmla="val 50000"/>
            </a:avLst>
          </a:prstGeom>
          <a:solidFill>
            <a:schemeClr val="tx2">
              <a:alpha val="95000"/>
            </a:schemeClr>
          </a:solidFill>
          <a:ln w="9525">
            <a:solidFill>
              <a:schemeClr val="bg2">
                <a:alpha val="35000"/>
              </a:schemeClr>
            </a:solidFill>
            <a:prstDash val="solid"/>
          </a:ln>
        </p:spPr>
      </p:sp>
      <p:sp>
        <p:nvSpPr>
          <p:cNvPr id="8" name="Question text: Compare this week’s OEE with last week."/>
          <p:cNvSpPr txBox="1"/>
          <p:nvPr/>
        </p:nvSpPr>
        <p:spPr>
          <a:xfrm>
            <a:off x="6986199" y="1783080"/>
            <a:ext cx="4656856" cy="530352"/>
          </a:xfrm>
          <a:prstGeom prst="rect">
            <a:avLst/>
          </a:prstGeom>
          <a:noFill/>
          <a:ln/>
        </p:spPr>
        <p:txBody>
          <a:bodyPr wrap="square" lIns="0" tIns="0" rIns="0" bIns="0" rtlCol="0" anchor="ctr"/>
          <a:lstStyle/>
          <a:p>
            <a:pPr algn="ctr" indent="0" marL="0">
              <a:buNone/>
            </a:pPr>
            <a:r>
              <a:rPr lang="en-US" sz="1600" dirty="0">
                <a:solidFill>
                  <a:schemeClr val="bg1"/>
                </a:solidFill>
              </a:rPr>
              <a:t>Compare this week’s OEE with last week.</a:t>
            </a:r>
            <a:endParaRPr lang="en-US" sz="1600" dirty="0"/>
          </a:p>
        </p:txBody>
      </p:sp>
      <p:sp>
        <p:nvSpPr>
          <p:cNvPr id="9" name="Question: Which machine lost the most time yesterday?"/>
          <p:cNvSpPr/>
          <p:nvPr/>
        </p:nvSpPr>
        <p:spPr>
          <a:xfrm>
            <a:off x="1188720" y="2569464"/>
            <a:ext cx="5078212" cy="530352"/>
          </a:xfrm>
          <a:prstGeom prst="roundRect">
            <a:avLst>
              <a:gd name="adj" fmla="val 50000"/>
            </a:avLst>
          </a:prstGeom>
          <a:solidFill>
            <a:schemeClr val="accent6">
              <a:alpha val="28000"/>
            </a:schemeClr>
          </a:solidFill>
          <a:ln w="12700">
            <a:solidFill>
              <a:schemeClr val="accent6">
                <a:alpha val="75000"/>
              </a:schemeClr>
            </a:solidFill>
            <a:prstDash val="solid"/>
          </a:ln>
        </p:spPr>
      </p:sp>
      <p:sp>
        <p:nvSpPr>
          <p:cNvPr id="10" name="Question text: Which machine lost the most time yesterday?"/>
          <p:cNvSpPr txBox="1"/>
          <p:nvPr/>
        </p:nvSpPr>
        <p:spPr>
          <a:xfrm>
            <a:off x="1188720" y="2569464"/>
            <a:ext cx="5078212" cy="530352"/>
          </a:xfrm>
          <a:prstGeom prst="rect">
            <a:avLst/>
          </a:prstGeom>
          <a:noFill/>
          <a:ln/>
        </p:spPr>
        <p:txBody>
          <a:bodyPr wrap="square" lIns="0" tIns="0" rIns="0" bIns="0" rtlCol="0" anchor="ctr"/>
          <a:lstStyle/>
          <a:p>
            <a:pPr algn="ctr" indent="0" marL="0">
              <a:buNone/>
            </a:pPr>
            <a:r>
              <a:rPr lang="en-US" sz="1600" dirty="0">
                <a:solidFill>
                  <a:schemeClr val="bg1"/>
                </a:solidFill>
              </a:rPr>
              <a:t>Which machine lost the most time yesterday?</a:t>
            </a:r>
            <a:endParaRPr lang="en-US" sz="1600" dirty="0"/>
          </a:p>
        </p:txBody>
      </p:sp>
      <p:sp>
        <p:nvSpPr>
          <p:cNvPr id="11" name="Question: How many parts did Shift 2 make?"/>
          <p:cNvSpPr/>
          <p:nvPr/>
        </p:nvSpPr>
        <p:spPr>
          <a:xfrm>
            <a:off x="6845016" y="2569464"/>
            <a:ext cx="4340840" cy="562356"/>
          </a:xfrm>
          <a:prstGeom prst="roundRect">
            <a:avLst>
              <a:gd name="adj" fmla="val 50000"/>
            </a:avLst>
          </a:prstGeom>
          <a:solidFill>
            <a:schemeClr val="accent2"/>
          </a:solidFill>
          <a:ln w="9525">
            <a:solidFill>
              <a:schemeClr val="accent2"/>
            </a:solidFill>
            <a:prstDash val="solid"/>
          </a:ln>
        </p:spPr>
      </p:sp>
      <p:sp>
        <p:nvSpPr>
          <p:cNvPr id="12" name="Question text: How many parts did Shift 2 make?"/>
          <p:cNvSpPr txBox="1"/>
          <p:nvPr/>
        </p:nvSpPr>
        <p:spPr>
          <a:xfrm>
            <a:off x="6845016" y="2569464"/>
            <a:ext cx="4340840" cy="562356"/>
          </a:xfrm>
          <a:prstGeom prst="rect">
            <a:avLst/>
          </a:prstGeom>
          <a:noFill/>
          <a:ln/>
        </p:spPr>
        <p:txBody>
          <a:bodyPr wrap="square" lIns="0" tIns="0" rIns="0" bIns="0" rtlCol="0" anchor="ctr"/>
          <a:lstStyle/>
          <a:p>
            <a:pPr algn="ctr" indent="0" marL="0">
              <a:buNone/>
            </a:pPr>
            <a:r>
              <a:rPr lang="en-US" sz="1800" b="1" dirty="0">
                <a:solidFill>
                  <a:schemeClr val="bg1"/>
                </a:solidFill>
              </a:rPr>
              <a:t>How many parts did Shift 2 make?</a:t>
            </a:r>
            <a:endParaRPr lang="en-US" sz="1800" dirty="0"/>
          </a:p>
        </p:txBody>
      </p:sp>
      <p:sp>
        <p:nvSpPr>
          <p:cNvPr id="13" name="Question: Why is HMC - 07 below target?"/>
          <p:cNvSpPr/>
          <p:nvPr/>
        </p:nvSpPr>
        <p:spPr>
          <a:xfrm>
            <a:off x="548640" y="3355848"/>
            <a:ext cx="4367174" cy="594360"/>
          </a:xfrm>
          <a:prstGeom prst="roundRect">
            <a:avLst>
              <a:gd name="adj" fmla="val 50000"/>
            </a:avLst>
          </a:prstGeom>
          <a:solidFill>
            <a:schemeClr val="accent6">
              <a:alpha val="28000"/>
            </a:schemeClr>
          </a:solidFill>
          <a:ln w="12700">
            <a:solidFill>
              <a:schemeClr val="accent6">
                <a:alpha val="75000"/>
              </a:schemeClr>
            </a:solidFill>
            <a:prstDash val="solid"/>
          </a:ln>
        </p:spPr>
      </p:sp>
      <p:sp>
        <p:nvSpPr>
          <p:cNvPr id="14" name="Question text: Why is HMC - 07 below target?"/>
          <p:cNvSpPr txBox="1"/>
          <p:nvPr/>
        </p:nvSpPr>
        <p:spPr>
          <a:xfrm>
            <a:off x="548640" y="3355848"/>
            <a:ext cx="4367174" cy="594360"/>
          </a:xfrm>
          <a:prstGeom prst="rect">
            <a:avLst/>
          </a:prstGeom>
          <a:noFill/>
          <a:ln/>
        </p:spPr>
        <p:txBody>
          <a:bodyPr wrap="square" lIns="0" tIns="0" rIns="0" bIns="0" rtlCol="0" anchor="ctr"/>
          <a:lstStyle/>
          <a:p>
            <a:pPr algn="ctr" indent="0" marL="0">
              <a:buNone/>
            </a:pPr>
            <a:r>
              <a:rPr lang="en-US" sz="2000" b="1" dirty="0">
                <a:solidFill>
                  <a:schemeClr val="bg1"/>
                </a:solidFill>
              </a:rPr>
              <a:t>Why is HMC - 07 below target?</a:t>
            </a:r>
            <a:endParaRPr lang="en-US" sz="2000" dirty="0"/>
          </a:p>
        </p:txBody>
      </p:sp>
      <p:sp>
        <p:nvSpPr>
          <p:cNvPr id="15" name="Question: Summarize today’s production report."/>
          <p:cNvSpPr/>
          <p:nvPr/>
        </p:nvSpPr>
        <p:spPr>
          <a:xfrm>
            <a:off x="5394960" y="3355848"/>
            <a:ext cx="4340840" cy="530352"/>
          </a:xfrm>
          <a:prstGeom prst="roundRect">
            <a:avLst>
              <a:gd name="adj" fmla="val 50000"/>
            </a:avLst>
          </a:prstGeom>
          <a:solidFill>
            <a:schemeClr val="tx2">
              <a:alpha val="95000"/>
            </a:schemeClr>
          </a:solidFill>
          <a:ln w="9525">
            <a:solidFill>
              <a:schemeClr val="bg2">
                <a:alpha val="35000"/>
              </a:schemeClr>
            </a:solidFill>
            <a:prstDash val="solid"/>
          </a:ln>
        </p:spPr>
      </p:sp>
      <p:sp>
        <p:nvSpPr>
          <p:cNvPr id="16" name="Question text: Summarize today’s production report."/>
          <p:cNvSpPr txBox="1"/>
          <p:nvPr/>
        </p:nvSpPr>
        <p:spPr>
          <a:xfrm>
            <a:off x="5394960" y="3355848"/>
            <a:ext cx="4340840" cy="530352"/>
          </a:xfrm>
          <a:prstGeom prst="rect">
            <a:avLst/>
          </a:prstGeom>
          <a:noFill/>
          <a:ln/>
        </p:spPr>
        <p:txBody>
          <a:bodyPr wrap="square" lIns="0" tIns="0" rIns="0" bIns="0" rtlCol="0" anchor="ctr"/>
          <a:lstStyle/>
          <a:p>
            <a:pPr algn="ctr" indent="0" marL="0">
              <a:buNone/>
            </a:pPr>
            <a:r>
              <a:rPr lang="en-US" sz="1600" dirty="0">
                <a:solidFill>
                  <a:schemeClr val="bg1"/>
                </a:solidFill>
              </a:rPr>
              <a:t>Summarize today’s production report.</a:t>
            </a:r>
            <a:endParaRPr lang="en-US" sz="1600" dirty="0"/>
          </a:p>
        </p:txBody>
      </p:sp>
      <p:sp>
        <p:nvSpPr>
          <p:cNvPr id="17" name="Question: Show the top alarms of the month."/>
          <p:cNvSpPr/>
          <p:nvPr/>
        </p:nvSpPr>
        <p:spPr>
          <a:xfrm>
            <a:off x="1828800" y="4142232"/>
            <a:ext cx="4024823" cy="530352"/>
          </a:xfrm>
          <a:prstGeom prst="roundRect">
            <a:avLst>
              <a:gd name="adj" fmla="val 50000"/>
            </a:avLst>
          </a:prstGeom>
          <a:solidFill>
            <a:schemeClr val="tx2">
              <a:alpha val="95000"/>
            </a:schemeClr>
          </a:solidFill>
          <a:ln w="9525">
            <a:solidFill>
              <a:schemeClr val="bg2">
                <a:alpha val="35000"/>
              </a:schemeClr>
            </a:solidFill>
            <a:prstDash val="solid"/>
          </a:ln>
        </p:spPr>
      </p:sp>
      <p:sp>
        <p:nvSpPr>
          <p:cNvPr id="18" name="Question text: Show the top alarms of the month."/>
          <p:cNvSpPr txBox="1"/>
          <p:nvPr/>
        </p:nvSpPr>
        <p:spPr>
          <a:xfrm>
            <a:off x="1828800" y="4142232"/>
            <a:ext cx="4024823" cy="530352"/>
          </a:xfrm>
          <a:prstGeom prst="rect">
            <a:avLst/>
          </a:prstGeom>
          <a:noFill/>
          <a:ln/>
        </p:spPr>
        <p:txBody>
          <a:bodyPr wrap="square" lIns="0" tIns="0" rIns="0" bIns="0" rtlCol="0" anchor="ctr"/>
          <a:lstStyle/>
          <a:p>
            <a:pPr algn="ctr" indent="0" marL="0">
              <a:buNone/>
            </a:pPr>
            <a:r>
              <a:rPr lang="en-US" sz="1600" dirty="0">
                <a:solidFill>
                  <a:schemeClr val="bg1"/>
                </a:solidFill>
              </a:rPr>
              <a:t>Show the top alarms of the month.</a:t>
            </a:r>
            <a:endParaRPr lang="en-US" sz="1600" dirty="0"/>
          </a:p>
        </p:txBody>
      </p:sp>
      <p:sp>
        <p:nvSpPr>
          <p:cNvPr id="19" name="Question: What did energy cost us this month?"/>
          <p:cNvSpPr/>
          <p:nvPr/>
        </p:nvSpPr>
        <p:spPr>
          <a:xfrm>
            <a:off x="6946697" y="4142232"/>
            <a:ext cx="4696358" cy="562356"/>
          </a:xfrm>
          <a:prstGeom prst="roundRect">
            <a:avLst>
              <a:gd name="adj" fmla="val 50000"/>
            </a:avLst>
          </a:prstGeom>
          <a:solidFill>
            <a:schemeClr val="accent6">
              <a:alpha val="28000"/>
            </a:schemeClr>
          </a:solidFill>
          <a:ln w="12700">
            <a:solidFill>
              <a:schemeClr val="accent6">
                <a:alpha val="75000"/>
              </a:schemeClr>
            </a:solidFill>
            <a:prstDash val="solid"/>
          </a:ln>
        </p:spPr>
      </p:sp>
      <p:sp>
        <p:nvSpPr>
          <p:cNvPr id="20" name="Question text: What did energy cost us this month?"/>
          <p:cNvSpPr txBox="1"/>
          <p:nvPr/>
        </p:nvSpPr>
        <p:spPr>
          <a:xfrm>
            <a:off x="6946697" y="4142232"/>
            <a:ext cx="4696358" cy="562356"/>
          </a:xfrm>
          <a:prstGeom prst="rect">
            <a:avLst/>
          </a:prstGeom>
          <a:noFill/>
          <a:ln/>
        </p:spPr>
        <p:txBody>
          <a:bodyPr wrap="square" lIns="0" tIns="0" rIns="0" bIns="0" rtlCol="0" anchor="ctr"/>
          <a:lstStyle/>
          <a:p>
            <a:pPr algn="ctr" indent="0" marL="0">
              <a:buNone/>
            </a:pPr>
            <a:r>
              <a:rPr lang="en-US" sz="1800" b="1" dirty="0">
                <a:solidFill>
                  <a:schemeClr val="bg1"/>
                </a:solidFill>
              </a:rPr>
              <a:t>What did energy cost us this month?</a:t>
            </a:r>
            <a:endParaRPr lang="en-US" sz="1800" dirty="0"/>
          </a:p>
        </p:txBody>
      </p:sp>
      <p:sp>
        <p:nvSpPr>
          <p:cNvPr id="21" name="Question: Which maintenance is due this week?"/>
          <p:cNvSpPr/>
          <p:nvPr/>
        </p:nvSpPr>
        <p:spPr>
          <a:xfrm>
            <a:off x="548640" y="4928616"/>
            <a:ext cx="4235501" cy="530352"/>
          </a:xfrm>
          <a:prstGeom prst="roundRect">
            <a:avLst>
              <a:gd name="adj" fmla="val 50000"/>
            </a:avLst>
          </a:prstGeom>
          <a:solidFill>
            <a:schemeClr val="accent2"/>
          </a:solidFill>
          <a:ln w="9525">
            <a:solidFill>
              <a:schemeClr val="accent2"/>
            </a:solidFill>
            <a:prstDash val="solid"/>
          </a:ln>
        </p:spPr>
      </p:sp>
      <p:sp>
        <p:nvSpPr>
          <p:cNvPr id="22" name="Question text: Which maintenance is due this week?"/>
          <p:cNvSpPr txBox="1"/>
          <p:nvPr/>
        </p:nvSpPr>
        <p:spPr>
          <a:xfrm>
            <a:off x="548640" y="4928616"/>
            <a:ext cx="4235501" cy="530352"/>
          </a:xfrm>
          <a:prstGeom prst="rect">
            <a:avLst/>
          </a:prstGeom>
          <a:noFill/>
          <a:ln/>
        </p:spPr>
        <p:txBody>
          <a:bodyPr wrap="square" lIns="0" tIns="0" rIns="0" bIns="0" rtlCol="0" anchor="ctr"/>
          <a:lstStyle/>
          <a:p>
            <a:pPr algn="ctr" indent="0" marL="0">
              <a:buNone/>
            </a:pPr>
            <a:r>
              <a:rPr lang="en-US" sz="1600" dirty="0">
                <a:solidFill>
                  <a:schemeClr val="bg1"/>
                </a:solidFill>
              </a:rPr>
              <a:t>Which maintenance is due this week?</a:t>
            </a:r>
            <a:endParaRPr lang="en-US" sz="1600" dirty="0"/>
          </a:p>
        </p:txBody>
      </p:sp>
      <p:sp>
        <p:nvSpPr>
          <p:cNvPr id="23" name="Question: How do I download a report?"/>
          <p:cNvSpPr/>
          <p:nvPr/>
        </p:nvSpPr>
        <p:spPr>
          <a:xfrm>
            <a:off x="5669280" y="4928616"/>
            <a:ext cx="3215030" cy="514350"/>
          </a:xfrm>
          <a:prstGeom prst="roundRect">
            <a:avLst>
              <a:gd name="adj" fmla="val 50000"/>
            </a:avLst>
          </a:prstGeom>
          <a:solidFill>
            <a:schemeClr val="tx2">
              <a:alpha val="95000"/>
            </a:schemeClr>
          </a:solidFill>
          <a:ln w="9525">
            <a:solidFill>
              <a:schemeClr val="bg2">
                <a:alpha val="35000"/>
              </a:schemeClr>
            </a:solidFill>
            <a:prstDash val="solid"/>
          </a:ln>
        </p:spPr>
      </p:sp>
      <p:sp>
        <p:nvSpPr>
          <p:cNvPr id="24" name="Question text: How do I download a report?"/>
          <p:cNvSpPr txBox="1"/>
          <p:nvPr/>
        </p:nvSpPr>
        <p:spPr>
          <a:xfrm>
            <a:off x="5669280" y="4928616"/>
            <a:ext cx="3215030" cy="514350"/>
          </a:xfrm>
          <a:prstGeom prst="rect">
            <a:avLst/>
          </a:prstGeom>
          <a:noFill/>
          <a:ln/>
        </p:spPr>
        <p:txBody>
          <a:bodyPr wrap="square" lIns="0" tIns="0" rIns="0" bIns="0" rtlCol="0" anchor="ctr"/>
          <a:lstStyle/>
          <a:p>
            <a:pPr algn="ctr" indent="0" marL="0">
              <a:buNone/>
            </a:pPr>
            <a:r>
              <a:rPr lang="en-US" sz="1500" dirty="0">
                <a:solidFill>
                  <a:schemeClr val="bg1"/>
                </a:solidFill>
              </a:rPr>
              <a:t>How do I download a report?</a:t>
            </a:r>
            <a:endParaRPr lang="en-US" sz="1500" dirty="0"/>
          </a:p>
        </p:txBody>
      </p:sp>
      <p:pic>
        <p:nvPicPr>
          <p:cNvPr id="25" name="AI orb small" descr="Dharstec AI">    </p:cNvPr>
          <p:cNvPicPr>
            <a:picLocks noChangeAspect="1"/>
          </p:cNvPicPr>
          <p:nvPr/>
        </p:nvPicPr>
        <p:blipFill>
          <a:blip r:embed="rId1"/>
          <a:stretch>
            <a:fillRect/>
          </a:stretch>
        </p:blipFill>
        <p:spPr>
          <a:xfrm>
            <a:off x="475488" y="5596128"/>
            <a:ext cx="566928" cy="566928"/>
          </a:xfrm>
          <a:prstGeom prst="rect">
            <a:avLst/>
          </a:prstGeom>
        </p:spPr>
      </p:pic>
      <p:sp>
        <p:nvSpPr>
          <p:cNvPr id="26" name="AI availability"/>
          <p:cNvSpPr txBox="1"/>
          <p:nvPr/>
        </p:nvSpPr>
        <p:spPr>
          <a:xfrm>
            <a:off x="1097280" y="5650992"/>
            <a:ext cx="7315200" cy="457200"/>
          </a:xfrm>
          <a:prstGeom prst="rect">
            <a:avLst/>
          </a:prstGeom>
          <a:noFill/>
          <a:ln/>
        </p:spPr>
        <p:txBody>
          <a:bodyPr wrap="square" lIns="0" tIns="0" rIns="0" bIns="0" rtlCol="0" anchor="ctr"/>
          <a:lstStyle/>
          <a:p>
            <a:pPr indent="0" marL="0">
              <a:buNone/>
            </a:pPr>
            <a:r>
              <a:rPr lang="en-US" sz="1500" b="1" dirty="0">
                <a:solidFill>
                  <a:schemeClr val="bg1"/>
                </a:solidFill>
              </a:rPr>
              <a:t>Add-on for Standard and Premium  ·  On web and mobile</a:t>
            </a:r>
            <a:endParaRPr lang="en-US" sz="15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WHAT YOU CAN ANSWER</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Answers in seconds, not at month-end</a:t>
            </a:r>
            <a:endParaRPr lang="en-US" sz="3600" dirty="0"/>
          </a:p>
        </p:txBody>
      </p:sp>
      <p:sp>
        <p:nvSpPr>
          <p:cNvPr id="4" name="LIVE DASHBOARD card"/>
          <p:cNvSpPr/>
          <p:nvPr/>
        </p:nvSpPr>
        <p:spPr>
          <a:xfrm>
            <a:off x="548640" y="1783080"/>
            <a:ext cx="3515258" cy="1920240"/>
          </a:xfrm>
          <a:prstGeom prst="roundRect">
            <a:avLst>
              <a:gd name="adj" fmla="val 5714"/>
            </a:avLst>
          </a:prstGeom>
          <a:solidFill>
            <a:schemeClr val="tx2">
              <a:alpha val="92000"/>
            </a:schemeClr>
          </a:solidFill>
          <a:ln w="9525">
            <a:solidFill>
              <a:schemeClr val="bg2">
                <a:alpha val="22000"/>
              </a:schemeClr>
            </a:solidFill>
            <a:prstDash val="solid"/>
          </a:ln>
        </p:spPr>
      </p:sp>
      <p:sp>
        <p:nvSpPr>
          <p:cNvPr id="5" name="LIVE DASHBOARD tile"/>
          <p:cNvSpPr/>
          <p:nvPr/>
        </p:nvSpPr>
        <p:spPr>
          <a:xfrm>
            <a:off x="822960" y="2057400"/>
            <a:ext cx="548640" cy="548640"/>
          </a:xfrm>
          <a:prstGeom prst="roundRect">
            <a:avLst>
              <a:gd name="adj" fmla="val 24000"/>
            </a:avLst>
          </a:prstGeom>
          <a:solidFill>
            <a:schemeClr val="accent3">
              <a:alpha val="16000"/>
            </a:schemeClr>
          </a:solidFill>
          <a:ln/>
        </p:spPr>
      </p:sp>
      <p:pic>
        <p:nvPicPr>
          <p:cNvPr id="6" name="LIVE DASHBOARD icon" descr="LIVE DASHBOARD">    </p:cNvPr>
          <p:cNvPicPr>
            <a:picLocks noChangeAspect="1"/>
          </p:cNvPicPr>
          <p:nvPr/>
        </p:nvPicPr>
        <p:blipFill>
          <a:blip r:embed="rId1"/>
          <a:stretch>
            <a:fillRect/>
          </a:stretch>
        </p:blipFill>
        <p:spPr>
          <a:xfrm>
            <a:off x="943661" y="2178101"/>
            <a:ext cx="307238" cy="307238"/>
          </a:xfrm>
          <a:prstGeom prst="rect">
            <a:avLst/>
          </a:prstGeom>
        </p:spPr>
      </p:pic>
      <p:sp>
        <p:nvSpPr>
          <p:cNvPr id="7" name="LIVE DASHBOARD label"/>
          <p:cNvSpPr txBox="1"/>
          <p:nvPr/>
        </p:nvSpPr>
        <p:spPr>
          <a:xfrm>
            <a:off x="1536192" y="2057400"/>
            <a:ext cx="2253386" cy="548640"/>
          </a:xfrm>
          <a:prstGeom prst="rect">
            <a:avLst/>
          </a:prstGeom>
          <a:noFill/>
          <a:ln/>
        </p:spPr>
        <p:txBody>
          <a:bodyPr wrap="square" lIns="0" tIns="0" rIns="0" bIns="0" rtlCol="0" anchor="ctr"/>
          <a:lstStyle/>
          <a:p>
            <a:pPr indent="0" marL="0">
              <a:buNone/>
            </a:pPr>
            <a:r>
              <a:rPr lang="en-US" sz="1100" b="1" spc="150" kern="0" dirty="0">
                <a:solidFill>
                  <a:schemeClr val="accent3"/>
                </a:solidFill>
              </a:rPr>
              <a:t>LIVE DASHBOARD</a:t>
            </a:r>
            <a:endParaRPr lang="en-US" sz="1100" dirty="0"/>
          </a:p>
        </p:txBody>
      </p:sp>
      <p:sp>
        <p:nvSpPr>
          <p:cNvPr id="8" name="LIVE DASHBOARD question"/>
          <p:cNvSpPr txBox="1"/>
          <p:nvPr/>
        </p:nvSpPr>
        <p:spPr>
          <a:xfrm>
            <a:off x="822960" y="2752344"/>
            <a:ext cx="2966618" cy="384048"/>
          </a:xfrm>
          <a:prstGeom prst="rect">
            <a:avLst/>
          </a:prstGeom>
          <a:noFill/>
          <a:ln/>
        </p:spPr>
        <p:txBody>
          <a:bodyPr wrap="square" lIns="0" tIns="0" rIns="0" bIns="0" rtlCol="0" anchor="t"/>
          <a:lstStyle/>
          <a:p>
            <a:pPr indent="0" marL="0">
              <a:buNone/>
            </a:pPr>
            <a:r>
              <a:rPr lang="en-US" sz="1800" b="1" dirty="0">
                <a:solidFill>
                  <a:schemeClr val="bg1"/>
                </a:solidFill>
              </a:rPr>
              <a:t>Are my machines running?</a:t>
            </a:r>
            <a:endParaRPr lang="en-US" sz="1800" dirty="0"/>
          </a:p>
        </p:txBody>
      </p:sp>
      <p:sp>
        <p:nvSpPr>
          <p:cNvPr id="9" name="LIVE DASHBOARD answer"/>
          <p:cNvSpPr txBox="1"/>
          <p:nvPr/>
        </p:nvSpPr>
        <p:spPr>
          <a:xfrm>
            <a:off x="822960" y="3154680"/>
            <a:ext cx="2966618" cy="475488"/>
          </a:xfrm>
          <a:prstGeom prst="rect">
            <a:avLst/>
          </a:prstGeom>
          <a:noFill/>
          <a:ln/>
        </p:spPr>
        <p:txBody>
          <a:bodyPr wrap="square" lIns="0" tIns="0" rIns="0" bIns="0" rtlCol="0" anchor="t"/>
          <a:lstStyle/>
          <a:p>
            <a:pPr indent="0" marL="0">
              <a:buNone/>
            </a:pPr>
            <a:r>
              <a:rPr lang="en-US" sz="1400" dirty="0">
                <a:solidFill>
                  <a:schemeClr val="bg2"/>
                </a:solidFill>
              </a:rPr>
              <a:t>Live status, parts and run time, machine by machine.</a:t>
            </a:r>
            <a:endParaRPr lang="en-US" sz="1400" dirty="0"/>
          </a:p>
        </p:txBody>
      </p:sp>
      <p:sp>
        <p:nvSpPr>
          <p:cNvPr id="10" name="OEE card"/>
          <p:cNvSpPr/>
          <p:nvPr/>
        </p:nvSpPr>
        <p:spPr>
          <a:xfrm>
            <a:off x="4338218" y="1783080"/>
            <a:ext cx="3515258" cy="1920240"/>
          </a:xfrm>
          <a:prstGeom prst="roundRect">
            <a:avLst>
              <a:gd name="adj" fmla="val 5714"/>
            </a:avLst>
          </a:prstGeom>
          <a:solidFill>
            <a:schemeClr val="tx2">
              <a:alpha val="92000"/>
            </a:schemeClr>
          </a:solidFill>
          <a:ln w="9525">
            <a:solidFill>
              <a:schemeClr val="bg2">
                <a:alpha val="22000"/>
              </a:schemeClr>
            </a:solidFill>
            <a:prstDash val="solid"/>
          </a:ln>
        </p:spPr>
      </p:sp>
      <p:sp>
        <p:nvSpPr>
          <p:cNvPr id="11" name="OEE tile"/>
          <p:cNvSpPr/>
          <p:nvPr/>
        </p:nvSpPr>
        <p:spPr>
          <a:xfrm>
            <a:off x="4612538" y="2057400"/>
            <a:ext cx="548640" cy="548640"/>
          </a:xfrm>
          <a:prstGeom prst="roundRect">
            <a:avLst>
              <a:gd name="adj" fmla="val 24000"/>
            </a:avLst>
          </a:prstGeom>
          <a:solidFill>
            <a:schemeClr val="accent2">
              <a:alpha val="16000"/>
            </a:schemeClr>
          </a:solidFill>
          <a:ln/>
        </p:spPr>
      </p:sp>
      <p:pic>
        <p:nvPicPr>
          <p:cNvPr id="12" name="OEE icon" descr="OEE">    </p:cNvPr>
          <p:cNvPicPr>
            <a:picLocks noChangeAspect="1"/>
          </p:cNvPicPr>
          <p:nvPr/>
        </p:nvPicPr>
        <p:blipFill>
          <a:blip r:embed="rId2"/>
          <a:stretch>
            <a:fillRect/>
          </a:stretch>
        </p:blipFill>
        <p:spPr>
          <a:xfrm>
            <a:off x="4733239" y="2178101"/>
            <a:ext cx="307238" cy="307238"/>
          </a:xfrm>
          <a:prstGeom prst="rect">
            <a:avLst/>
          </a:prstGeom>
        </p:spPr>
      </p:pic>
      <p:sp>
        <p:nvSpPr>
          <p:cNvPr id="13" name="OEE label"/>
          <p:cNvSpPr txBox="1"/>
          <p:nvPr/>
        </p:nvSpPr>
        <p:spPr>
          <a:xfrm>
            <a:off x="5325770" y="2057400"/>
            <a:ext cx="2253386" cy="548640"/>
          </a:xfrm>
          <a:prstGeom prst="rect">
            <a:avLst/>
          </a:prstGeom>
          <a:noFill/>
          <a:ln/>
        </p:spPr>
        <p:txBody>
          <a:bodyPr wrap="square" lIns="0" tIns="0" rIns="0" bIns="0" rtlCol="0" anchor="ctr"/>
          <a:lstStyle/>
          <a:p>
            <a:pPr indent="0" marL="0">
              <a:buNone/>
            </a:pPr>
            <a:r>
              <a:rPr lang="en-US" sz="1100" b="1" spc="150" kern="0" dirty="0">
                <a:solidFill>
                  <a:schemeClr val="accent2"/>
                </a:solidFill>
              </a:rPr>
              <a:t>OEE</a:t>
            </a:r>
            <a:endParaRPr lang="en-US" sz="1100" dirty="0"/>
          </a:p>
        </p:txBody>
      </p:sp>
      <p:sp>
        <p:nvSpPr>
          <p:cNvPr id="14" name="OEE question"/>
          <p:cNvSpPr txBox="1"/>
          <p:nvPr/>
        </p:nvSpPr>
        <p:spPr>
          <a:xfrm>
            <a:off x="4612538" y="2752344"/>
            <a:ext cx="2966618" cy="384048"/>
          </a:xfrm>
          <a:prstGeom prst="rect">
            <a:avLst/>
          </a:prstGeom>
          <a:noFill/>
          <a:ln/>
        </p:spPr>
        <p:txBody>
          <a:bodyPr wrap="square" lIns="0" tIns="0" rIns="0" bIns="0" rtlCol="0" anchor="t"/>
          <a:lstStyle/>
          <a:p>
            <a:pPr indent="0" marL="0">
              <a:buNone/>
            </a:pPr>
            <a:r>
              <a:rPr lang="en-US" sz="1800" b="1" dirty="0">
                <a:solidFill>
                  <a:schemeClr val="bg1"/>
                </a:solidFill>
              </a:rPr>
              <a:t>How did today’s shift go?</a:t>
            </a:r>
            <a:endParaRPr lang="en-US" sz="1800" dirty="0"/>
          </a:p>
        </p:txBody>
      </p:sp>
      <p:sp>
        <p:nvSpPr>
          <p:cNvPr id="15" name="OEE answer"/>
          <p:cNvSpPr txBox="1"/>
          <p:nvPr/>
        </p:nvSpPr>
        <p:spPr>
          <a:xfrm>
            <a:off x="4612538" y="3154680"/>
            <a:ext cx="2966618" cy="475488"/>
          </a:xfrm>
          <a:prstGeom prst="rect">
            <a:avLst/>
          </a:prstGeom>
          <a:noFill/>
          <a:ln/>
        </p:spPr>
        <p:txBody>
          <a:bodyPr wrap="square" lIns="0" tIns="0" rIns="0" bIns="0" rtlCol="0" anchor="t"/>
          <a:lstStyle/>
          <a:p>
            <a:pPr indent="0" marL="0">
              <a:buNone/>
            </a:pPr>
            <a:r>
              <a:rPr lang="en-US" sz="1400" dirty="0">
                <a:solidFill>
                  <a:schemeClr val="bg2"/>
                </a:solidFill>
              </a:rPr>
              <a:t>Availability, performance and quality against target.</a:t>
            </a:r>
            <a:endParaRPr lang="en-US" sz="1400" dirty="0"/>
          </a:p>
        </p:txBody>
      </p:sp>
      <p:sp>
        <p:nvSpPr>
          <p:cNvPr id="16" name="DOWNTIME COST card"/>
          <p:cNvSpPr/>
          <p:nvPr/>
        </p:nvSpPr>
        <p:spPr>
          <a:xfrm>
            <a:off x="8127797" y="1783080"/>
            <a:ext cx="3515258" cy="1920240"/>
          </a:xfrm>
          <a:prstGeom prst="roundRect">
            <a:avLst>
              <a:gd name="adj" fmla="val 5714"/>
            </a:avLst>
          </a:prstGeom>
          <a:solidFill>
            <a:schemeClr val="tx2">
              <a:alpha val="92000"/>
            </a:schemeClr>
          </a:solidFill>
          <a:ln w="9525">
            <a:solidFill>
              <a:schemeClr val="bg2">
                <a:alpha val="22000"/>
              </a:schemeClr>
            </a:solidFill>
            <a:prstDash val="solid"/>
          </a:ln>
        </p:spPr>
      </p:sp>
      <p:sp>
        <p:nvSpPr>
          <p:cNvPr id="17" name="DOWNTIME COST tile"/>
          <p:cNvSpPr/>
          <p:nvPr/>
        </p:nvSpPr>
        <p:spPr>
          <a:xfrm>
            <a:off x="8402117" y="2057400"/>
            <a:ext cx="548640" cy="548640"/>
          </a:xfrm>
          <a:prstGeom prst="roundRect">
            <a:avLst>
              <a:gd name="adj" fmla="val 24000"/>
            </a:avLst>
          </a:prstGeom>
          <a:solidFill>
            <a:schemeClr val="accent4">
              <a:alpha val="16000"/>
            </a:schemeClr>
          </a:solidFill>
          <a:ln/>
        </p:spPr>
      </p:sp>
      <p:pic>
        <p:nvPicPr>
          <p:cNvPr id="18" name="DOWNTIME COST icon" descr="DOWNTIME COST">    </p:cNvPr>
          <p:cNvPicPr>
            <a:picLocks noChangeAspect="1"/>
          </p:cNvPicPr>
          <p:nvPr/>
        </p:nvPicPr>
        <p:blipFill>
          <a:blip r:embed="rId3"/>
          <a:stretch>
            <a:fillRect/>
          </a:stretch>
        </p:blipFill>
        <p:spPr>
          <a:xfrm>
            <a:off x="8522818" y="2178101"/>
            <a:ext cx="307238" cy="307238"/>
          </a:xfrm>
          <a:prstGeom prst="rect">
            <a:avLst/>
          </a:prstGeom>
        </p:spPr>
      </p:pic>
      <p:sp>
        <p:nvSpPr>
          <p:cNvPr id="19" name="DOWNTIME COST label"/>
          <p:cNvSpPr txBox="1"/>
          <p:nvPr/>
        </p:nvSpPr>
        <p:spPr>
          <a:xfrm>
            <a:off x="9115349" y="2057400"/>
            <a:ext cx="2253386" cy="548640"/>
          </a:xfrm>
          <a:prstGeom prst="rect">
            <a:avLst/>
          </a:prstGeom>
          <a:noFill/>
          <a:ln/>
        </p:spPr>
        <p:txBody>
          <a:bodyPr wrap="square" lIns="0" tIns="0" rIns="0" bIns="0" rtlCol="0" anchor="ctr"/>
          <a:lstStyle/>
          <a:p>
            <a:pPr indent="0" marL="0">
              <a:buNone/>
            </a:pPr>
            <a:r>
              <a:rPr lang="en-US" sz="1100" b="1" spc="150" kern="0" dirty="0">
                <a:solidFill>
                  <a:schemeClr val="accent4"/>
                </a:solidFill>
              </a:rPr>
              <a:t>DOWNTIME COST</a:t>
            </a:r>
            <a:endParaRPr lang="en-US" sz="1100" dirty="0"/>
          </a:p>
        </p:txBody>
      </p:sp>
      <p:sp>
        <p:nvSpPr>
          <p:cNvPr id="20" name="DOWNTIME COST question"/>
          <p:cNvSpPr txBox="1"/>
          <p:nvPr/>
        </p:nvSpPr>
        <p:spPr>
          <a:xfrm>
            <a:off x="8402117" y="2752344"/>
            <a:ext cx="2966618" cy="384048"/>
          </a:xfrm>
          <a:prstGeom prst="rect">
            <a:avLst/>
          </a:prstGeom>
          <a:noFill/>
          <a:ln/>
        </p:spPr>
        <p:txBody>
          <a:bodyPr wrap="square" lIns="0" tIns="0" rIns="0" bIns="0" rtlCol="0" anchor="t"/>
          <a:lstStyle/>
          <a:p>
            <a:pPr indent="0" marL="0">
              <a:buNone/>
            </a:pPr>
            <a:r>
              <a:rPr lang="en-US" sz="1800" b="1" dirty="0">
                <a:solidFill>
                  <a:schemeClr val="bg1"/>
                </a:solidFill>
              </a:rPr>
              <a:t>What did downtime cost us?</a:t>
            </a:r>
            <a:endParaRPr lang="en-US" sz="1800" dirty="0"/>
          </a:p>
        </p:txBody>
      </p:sp>
      <p:sp>
        <p:nvSpPr>
          <p:cNvPr id="21" name="DOWNTIME COST answer"/>
          <p:cNvSpPr txBox="1"/>
          <p:nvPr/>
        </p:nvSpPr>
        <p:spPr>
          <a:xfrm>
            <a:off x="8402117" y="3154680"/>
            <a:ext cx="2966618" cy="475488"/>
          </a:xfrm>
          <a:prstGeom prst="rect">
            <a:avLst/>
          </a:prstGeom>
          <a:noFill/>
          <a:ln/>
        </p:spPr>
        <p:txBody>
          <a:bodyPr wrap="square" lIns="0" tIns="0" rIns="0" bIns="0" rtlCol="0" anchor="t"/>
          <a:lstStyle/>
          <a:p>
            <a:pPr indent="0" marL="0">
              <a:buNone/>
            </a:pPr>
            <a:r>
              <a:rPr lang="en-US" sz="1400" dirty="0">
                <a:solidFill>
                  <a:schemeClr val="bg2"/>
                </a:solidFill>
              </a:rPr>
              <a:t>Why machines stopped, and what the idle hours cost.</a:t>
            </a:r>
            <a:endParaRPr lang="en-US" sz="1400" dirty="0"/>
          </a:p>
        </p:txBody>
      </p:sp>
      <p:sp>
        <p:nvSpPr>
          <p:cNvPr id="22" name="ALARMS card"/>
          <p:cNvSpPr/>
          <p:nvPr/>
        </p:nvSpPr>
        <p:spPr>
          <a:xfrm>
            <a:off x="548640" y="3931920"/>
            <a:ext cx="3515258" cy="1920240"/>
          </a:xfrm>
          <a:prstGeom prst="roundRect">
            <a:avLst>
              <a:gd name="adj" fmla="val 5714"/>
            </a:avLst>
          </a:prstGeom>
          <a:solidFill>
            <a:schemeClr val="tx2">
              <a:alpha val="92000"/>
            </a:schemeClr>
          </a:solidFill>
          <a:ln w="9525">
            <a:solidFill>
              <a:schemeClr val="bg2">
                <a:alpha val="22000"/>
              </a:schemeClr>
            </a:solidFill>
            <a:prstDash val="solid"/>
          </a:ln>
        </p:spPr>
      </p:sp>
      <p:sp>
        <p:nvSpPr>
          <p:cNvPr id="23" name="ALARMS tile"/>
          <p:cNvSpPr/>
          <p:nvPr/>
        </p:nvSpPr>
        <p:spPr>
          <a:xfrm>
            <a:off x="822960" y="4206240"/>
            <a:ext cx="548640" cy="548640"/>
          </a:xfrm>
          <a:prstGeom prst="roundRect">
            <a:avLst>
              <a:gd name="adj" fmla="val 24000"/>
            </a:avLst>
          </a:prstGeom>
          <a:solidFill>
            <a:schemeClr val="accent5">
              <a:alpha val="16000"/>
            </a:schemeClr>
          </a:solidFill>
          <a:ln/>
        </p:spPr>
      </p:sp>
      <p:pic>
        <p:nvPicPr>
          <p:cNvPr id="24" name="ALARMS icon" descr="ALARMS">    </p:cNvPr>
          <p:cNvPicPr>
            <a:picLocks noChangeAspect="1"/>
          </p:cNvPicPr>
          <p:nvPr/>
        </p:nvPicPr>
        <p:blipFill>
          <a:blip r:embed="rId4"/>
          <a:stretch>
            <a:fillRect/>
          </a:stretch>
        </p:blipFill>
        <p:spPr>
          <a:xfrm>
            <a:off x="943661" y="4326941"/>
            <a:ext cx="307238" cy="307238"/>
          </a:xfrm>
          <a:prstGeom prst="rect">
            <a:avLst/>
          </a:prstGeom>
        </p:spPr>
      </p:pic>
      <p:sp>
        <p:nvSpPr>
          <p:cNvPr id="25" name="ALARMS label"/>
          <p:cNvSpPr txBox="1"/>
          <p:nvPr/>
        </p:nvSpPr>
        <p:spPr>
          <a:xfrm>
            <a:off x="1536192" y="4206240"/>
            <a:ext cx="2253386" cy="548640"/>
          </a:xfrm>
          <a:prstGeom prst="rect">
            <a:avLst/>
          </a:prstGeom>
          <a:noFill/>
          <a:ln/>
        </p:spPr>
        <p:txBody>
          <a:bodyPr wrap="square" lIns="0" tIns="0" rIns="0" bIns="0" rtlCol="0" anchor="ctr"/>
          <a:lstStyle/>
          <a:p>
            <a:pPr indent="0" marL="0">
              <a:buNone/>
            </a:pPr>
            <a:r>
              <a:rPr lang="en-US" sz="1100" b="1" spc="150" kern="0" dirty="0">
                <a:solidFill>
                  <a:schemeClr val="accent5"/>
                </a:solidFill>
              </a:rPr>
              <a:t>ALARMS</a:t>
            </a:r>
            <a:endParaRPr lang="en-US" sz="1100" dirty="0"/>
          </a:p>
        </p:txBody>
      </p:sp>
      <p:sp>
        <p:nvSpPr>
          <p:cNvPr id="26" name="ALARMS question"/>
          <p:cNvSpPr txBox="1"/>
          <p:nvPr/>
        </p:nvSpPr>
        <p:spPr>
          <a:xfrm>
            <a:off x="822960" y="4901184"/>
            <a:ext cx="2966618" cy="384048"/>
          </a:xfrm>
          <a:prstGeom prst="rect">
            <a:avLst/>
          </a:prstGeom>
          <a:noFill/>
          <a:ln/>
        </p:spPr>
        <p:txBody>
          <a:bodyPr wrap="square" lIns="0" tIns="0" rIns="0" bIns="0" rtlCol="0" anchor="t"/>
          <a:lstStyle/>
          <a:p>
            <a:pPr indent="0" marL="0">
              <a:buNone/>
            </a:pPr>
            <a:r>
              <a:rPr lang="en-US" sz="1800" b="1" dirty="0">
                <a:solidFill>
                  <a:schemeClr val="bg1"/>
                </a:solidFill>
              </a:rPr>
              <a:t>What needs attention now?</a:t>
            </a:r>
            <a:endParaRPr lang="en-US" sz="1800" dirty="0"/>
          </a:p>
        </p:txBody>
      </p:sp>
      <p:sp>
        <p:nvSpPr>
          <p:cNvPr id="27" name="ALARMS answer"/>
          <p:cNvSpPr txBox="1"/>
          <p:nvPr/>
        </p:nvSpPr>
        <p:spPr>
          <a:xfrm>
            <a:off x="822960" y="5303520"/>
            <a:ext cx="2966618" cy="475488"/>
          </a:xfrm>
          <a:prstGeom prst="rect">
            <a:avLst/>
          </a:prstGeom>
          <a:noFill/>
          <a:ln/>
        </p:spPr>
        <p:txBody>
          <a:bodyPr wrap="square" lIns="0" tIns="0" rIns="0" bIns="0" rtlCol="0" anchor="t"/>
          <a:lstStyle/>
          <a:p>
            <a:pPr indent="0" marL="0">
              <a:buNone/>
            </a:pPr>
            <a:r>
              <a:rPr lang="en-US" sz="1400" dirty="0">
                <a:solidFill>
                  <a:schemeClr val="bg2"/>
                </a:solidFill>
              </a:rPr>
              <a:t>Live alarms and critical alerts, on web and phone.</a:t>
            </a:r>
            <a:endParaRPr lang="en-US" sz="1400" dirty="0"/>
          </a:p>
        </p:txBody>
      </p:sp>
      <p:sp>
        <p:nvSpPr>
          <p:cNvPr id="28" name="MACHINE HEALTH card"/>
          <p:cNvSpPr/>
          <p:nvPr/>
        </p:nvSpPr>
        <p:spPr>
          <a:xfrm>
            <a:off x="4338218" y="3931920"/>
            <a:ext cx="3515258" cy="1920240"/>
          </a:xfrm>
          <a:prstGeom prst="roundRect">
            <a:avLst>
              <a:gd name="adj" fmla="val 5714"/>
            </a:avLst>
          </a:prstGeom>
          <a:solidFill>
            <a:schemeClr val="tx2">
              <a:alpha val="92000"/>
            </a:schemeClr>
          </a:solidFill>
          <a:ln w="9525">
            <a:solidFill>
              <a:schemeClr val="bg2">
                <a:alpha val="22000"/>
              </a:schemeClr>
            </a:solidFill>
            <a:prstDash val="solid"/>
          </a:ln>
        </p:spPr>
      </p:sp>
      <p:sp>
        <p:nvSpPr>
          <p:cNvPr id="29" name="MACHINE HEALTH tile"/>
          <p:cNvSpPr/>
          <p:nvPr/>
        </p:nvSpPr>
        <p:spPr>
          <a:xfrm>
            <a:off x="4612538" y="4206240"/>
            <a:ext cx="548640" cy="548640"/>
          </a:xfrm>
          <a:prstGeom prst="roundRect">
            <a:avLst>
              <a:gd name="adj" fmla="val 24000"/>
            </a:avLst>
          </a:prstGeom>
          <a:solidFill>
            <a:schemeClr val="accent6">
              <a:alpha val="16000"/>
            </a:schemeClr>
          </a:solidFill>
          <a:ln/>
        </p:spPr>
      </p:sp>
      <p:pic>
        <p:nvPicPr>
          <p:cNvPr id="30" name="MACHINE HEALTH icon" descr="MACHINE HEALTH">    </p:cNvPr>
          <p:cNvPicPr>
            <a:picLocks noChangeAspect="1"/>
          </p:cNvPicPr>
          <p:nvPr/>
        </p:nvPicPr>
        <p:blipFill>
          <a:blip r:embed="rId5"/>
          <a:stretch>
            <a:fillRect/>
          </a:stretch>
        </p:blipFill>
        <p:spPr>
          <a:xfrm>
            <a:off x="4733239" y="4326941"/>
            <a:ext cx="307238" cy="307238"/>
          </a:xfrm>
          <a:prstGeom prst="rect">
            <a:avLst/>
          </a:prstGeom>
        </p:spPr>
      </p:pic>
      <p:sp>
        <p:nvSpPr>
          <p:cNvPr id="31" name="MACHINE HEALTH label"/>
          <p:cNvSpPr txBox="1"/>
          <p:nvPr/>
        </p:nvSpPr>
        <p:spPr>
          <a:xfrm>
            <a:off x="5325770" y="4206240"/>
            <a:ext cx="2253386" cy="548640"/>
          </a:xfrm>
          <a:prstGeom prst="rect">
            <a:avLst/>
          </a:prstGeom>
          <a:noFill/>
          <a:ln/>
        </p:spPr>
        <p:txBody>
          <a:bodyPr wrap="square" lIns="0" tIns="0" rIns="0" bIns="0" rtlCol="0" anchor="ctr"/>
          <a:lstStyle/>
          <a:p>
            <a:pPr indent="0" marL="0">
              <a:buNone/>
            </a:pPr>
            <a:r>
              <a:rPr lang="en-US" sz="1100" b="1" spc="150" kern="0" dirty="0">
                <a:solidFill>
                  <a:schemeClr val="accent6"/>
                </a:solidFill>
              </a:rPr>
              <a:t>MACHINE HEALTH</a:t>
            </a:r>
            <a:endParaRPr lang="en-US" sz="1100" dirty="0"/>
          </a:p>
        </p:txBody>
      </p:sp>
      <p:sp>
        <p:nvSpPr>
          <p:cNvPr id="32" name="MACHINE HEALTH question"/>
          <p:cNvSpPr txBox="1"/>
          <p:nvPr/>
        </p:nvSpPr>
        <p:spPr>
          <a:xfrm>
            <a:off x="4612538" y="4901184"/>
            <a:ext cx="2966618" cy="384048"/>
          </a:xfrm>
          <a:prstGeom prst="rect">
            <a:avLst/>
          </a:prstGeom>
          <a:noFill/>
          <a:ln/>
        </p:spPr>
        <p:txBody>
          <a:bodyPr wrap="square" lIns="0" tIns="0" rIns="0" bIns="0" rtlCol="0" anchor="t"/>
          <a:lstStyle/>
          <a:p>
            <a:pPr indent="0" marL="0">
              <a:buNone/>
            </a:pPr>
            <a:r>
              <a:rPr lang="en-US" sz="1800" b="1" dirty="0">
                <a:solidFill>
                  <a:schemeClr val="bg1"/>
                </a:solidFill>
              </a:rPr>
              <a:t>Is a breakdown coming?</a:t>
            </a:r>
            <a:endParaRPr lang="en-US" sz="1800" dirty="0"/>
          </a:p>
        </p:txBody>
      </p:sp>
      <p:sp>
        <p:nvSpPr>
          <p:cNvPr id="33" name="MACHINE HEALTH answer"/>
          <p:cNvSpPr txBox="1"/>
          <p:nvPr/>
        </p:nvSpPr>
        <p:spPr>
          <a:xfrm>
            <a:off x="4612538" y="5303520"/>
            <a:ext cx="2966618" cy="475488"/>
          </a:xfrm>
          <a:prstGeom prst="rect">
            <a:avLst/>
          </a:prstGeom>
          <a:noFill/>
          <a:ln/>
        </p:spPr>
        <p:txBody>
          <a:bodyPr wrap="square" lIns="0" tIns="0" rIns="0" bIns="0" rtlCol="0" anchor="t"/>
          <a:lstStyle/>
          <a:p>
            <a:pPr indent="0" marL="0">
              <a:buNone/>
            </a:pPr>
            <a:r>
              <a:rPr lang="en-US" sz="1400" dirty="0">
                <a:solidFill>
                  <a:schemeClr val="bg2"/>
                </a:solidFill>
              </a:rPr>
              <a:t>Health readings, vibration and maintenance by usage.</a:t>
            </a:r>
            <a:endParaRPr lang="en-US" sz="1400" dirty="0"/>
          </a:p>
        </p:txBody>
      </p:sp>
      <p:sp>
        <p:nvSpPr>
          <p:cNvPr id="34" name="ENERGY card"/>
          <p:cNvSpPr/>
          <p:nvPr/>
        </p:nvSpPr>
        <p:spPr>
          <a:xfrm>
            <a:off x="8127797" y="3931920"/>
            <a:ext cx="3515258" cy="1920240"/>
          </a:xfrm>
          <a:prstGeom prst="roundRect">
            <a:avLst>
              <a:gd name="adj" fmla="val 5714"/>
            </a:avLst>
          </a:prstGeom>
          <a:solidFill>
            <a:schemeClr val="tx2">
              <a:alpha val="92000"/>
            </a:schemeClr>
          </a:solidFill>
          <a:ln w="9525">
            <a:solidFill>
              <a:schemeClr val="bg2">
                <a:alpha val="22000"/>
              </a:schemeClr>
            </a:solidFill>
            <a:prstDash val="solid"/>
          </a:ln>
        </p:spPr>
      </p:sp>
      <p:sp>
        <p:nvSpPr>
          <p:cNvPr id="35" name="ENERGY tile"/>
          <p:cNvSpPr/>
          <p:nvPr/>
        </p:nvSpPr>
        <p:spPr>
          <a:xfrm>
            <a:off x="8402117" y="4206240"/>
            <a:ext cx="548640" cy="548640"/>
          </a:xfrm>
          <a:prstGeom prst="roundRect">
            <a:avLst>
              <a:gd name="adj" fmla="val 24000"/>
            </a:avLst>
          </a:prstGeom>
          <a:solidFill>
            <a:schemeClr val="accent1">
              <a:alpha val="16000"/>
            </a:schemeClr>
          </a:solidFill>
          <a:ln/>
        </p:spPr>
      </p:sp>
      <p:pic>
        <p:nvPicPr>
          <p:cNvPr id="36" name="ENERGY icon" descr="ENERGY">    </p:cNvPr>
          <p:cNvPicPr>
            <a:picLocks noChangeAspect="1"/>
          </p:cNvPicPr>
          <p:nvPr/>
        </p:nvPicPr>
        <p:blipFill>
          <a:blip r:embed="rId6"/>
          <a:stretch>
            <a:fillRect/>
          </a:stretch>
        </p:blipFill>
        <p:spPr>
          <a:xfrm>
            <a:off x="8522818" y="4326941"/>
            <a:ext cx="307238" cy="307238"/>
          </a:xfrm>
          <a:prstGeom prst="rect">
            <a:avLst/>
          </a:prstGeom>
        </p:spPr>
      </p:pic>
      <p:sp>
        <p:nvSpPr>
          <p:cNvPr id="37" name="ENERGY label"/>
          <p:cNvSpPr txBox="1"/>
          <p:nvPr/>
        </p:nvSpPr>
        <p:spPr>
          <a:xfrm>
            <a:off x="9115349" y="4206240"/>
            <a:ext cx="2253386" cy="548640"/>
          </a:xfrm>
          <a:prstGeom prst="rect">
            <a:avLst/>
          </a:prstGeom>
          <a:noFill/>
          <a:ln/>
        </p:spPr>
        <p:txBody>
          <a:bodyPr wrap="square" lIns="0" tIns="0" rIns="0" bIns="0" rtlCol="0" anchor="ctr"/>
          <a:lstStyle/>
          <a:p>
            <a:pPr indent="0" marL="0">
              <a:buNone/>
            </a:pPr>
            <a:r>
              <a:rPr lang="en-US" sz="1100" b="1" spc="150" kern="0" dirty="0">
                <a:solidFill>
                  <a:schemeClr val="accent1"/>
                </a:solidFill>
              </a:rPr>
              <a:t>ENERGY</a:t>
            </a:r>
            <a:endParaRPr lang="en-US" sz="1100" dirty="0"/>
          </a:p>
        </p:txBody>
      </p:sp>
      <p:sp>
        <p:nvSpPr>
          <p:cNvPr id="38" name="ENERGY question"/>
          <p:cNvSpPr txBox="1"/>
          <p:nvPr/>
        </p:nvSpPr>
        <p:spPr>
          <a:xfrm>
            <a:off x="8402117" y="4901184"/>
            <a:ext cx="2966618" cy="384048"/>
          </a:xfrm>
          <a:prstGeom prst="rect">
            <a:avLst/>
          </a:prstGeom>
          <a:noFill/>
          <a:ln/>
        </p:spPr>
        <p:txBody>
          <a:bodyPr wrap="square" lIns="0" tIns="0" rIns="0" bIns="0" rtlCol="0" anchor="t"/>
          <a:lstStyle/>
          <a:p>
            <a:pPr indent="0" marL="0">
              <a:buNone/>
            </a:pPr>
            <a:r>
              <a:rPr lang="en-US" sz="1800" b="1" dirty="0">
                <a:solidFill>
                  <a:schemeClr val="bg1"/>
                </a:solidFill>
              </a:rPr>
              <a:t>What is our power cost?</a:t>
            </a:r>
            <a:endParaRPr lang="en-US" sz="1800" dirty="0"/>
          </a:p>
        </p:txBody>
      </p:sp>
      <p:sp>
        <p:nvSpPr>
          <p:cNvPr id="39" name="ENERGY answer"/>
          <p:cNvSpPr txBox="1"/>
          <p:nvPr/>
        </p:nvSpPr>
        <p:spPr>
          <a:xfrm>
            <a:off x="8402117" y="5303520"/>
            <a:ext cx="2966618" cy="475488"/>
          </a:xfrm>
          <a:prstGeom prst="rect">
            <a:avLst/>
          </a:prstGeom>
          <a:noFill/>
          <a:ln/>
        </p:spPr>
        <p:txBody>
          <a:bodyPr wrap="square" lIns="0" tIns="0" rIns="0" bIns="0" rtlCol="0" anchor="t"/>
          <a:lstStyle/>
          <a:p>
            <a:pPr indent="0" marL="0">
              <a:buNone/>
            </a:pPr>
            <a:r>
              <a:rPr lang="en-US" sz="1400" dirty="0">
                <a:solidFill>
                  <a:schemeClr val="bg2"/>
                </a:solidFill>
              </a:rPr>
              <a:t>Power use and the electricity bill, machine by machine.</a:t>
            </a:r>
            <a:endParaRPr lang="en-US" sz="1400" dirty="0"/>
          </a:p>
        </p:txBody>
      </p:sp>
      <p:sp>
        <p:nvSpPr>
          <p:cNvPr id="40" name="Plan note"/>
          <p:cNvSpPr txBox="1"/>
          <p:nvPr/>
        </p:nvSpPr>
        <p:spPr>
          <a:xfrm>
            <a:off x="548640" y="5989320"/>
            <a:ext cx="11094415" cy="256032"/>
          </a:xfrm>
          <a:prstGeom prst="rect">
            <a:avLst/>
          </a:prstGeom>
          <a:noFill/>
          <a:ln/>
        </p:spPr>
        <p:txBody>
          <a:bodyPr wrap="square" lIns="0" tIns="0" rIns="0" bIns="0" rtlCol="0" anchor="t"/>
          <a:lstStyle/>
          <a:p>
            <a:pPr indent="0" marL="0">
              <a:buNone/>
            </a:pPr>
            <a:r>
              <a:rPr lang="en-US" sz="1100" dirty="0">
                <a:solidFill>
                  <a:schemeClr val="bg2"/>
                </a:solidFill>
              </a:rPr>
              <a:t>Basic covers live monitoring and records. OEE, downtime cost, alarms, machine health and energy come with Standard and Premium; vibration with Premium.</a:t>
            </a:r>
            <a:endParaRPr lang="en-US" sz="11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JOURNEY</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What to expect, and when</a:t>
            </a:r>
            <a:endParaRPr lang="en-US" sz="3600" dirty="0"/>
          </a:p>
        </p:txBody>
      </p:sp>
      <p:sp>
        <p:nvSpPr>
          <p:cNvPr id="4" name="Journey track"/>
          <p:cNvSpPr/>
          <p:nvPr/>
        </p:nvSpPr>
        <p:spPr>
          <a:xfrm>
            <a:off x="1106424" y="2240280"/>
            <a:ext cx="7579157" cy="0"/>
          </a:xfrm>
          <a:prstGeom prst="line">
            <a:avLst/>
          </a:prstGeom>
          <a:noFill/>
          <a:ln w="19050">
            <a:solidFill>
              <a:schemeClr val="bg2">
                <a:alpha val="45000"/>
              </a:schemeClr>
            </a:solidFill>
            <a:prstDash val="solid"/>
          </a:ln>
        </p:spPr>
      </p:sp>
      <p:sp>
        <p:nvSpPr>
          <p:cNvPr id="5" name="Journey ahead"/>
          <p:cNvSpPr/>
          <p:nvPr/>
        </p:nvSpPr>
        <p:spPr>
          <a:xfrm>
            <a:off x="8685581" y="2240280"/>
            <a:ext cx="2957474" cy="0"/>
          </a:xfrm>
          <a:prstGeom prst="line">
            <a:avLst/>
          </a:prstGeom>
          <a:noFill/>
          <a:ln w="19050">
            <a:solidFill>
              <a:schemeClr val="bg2">
                <a:alpha val="45000"/>
              </a:schemeClr>
            </a:solidFill>
            <a:prstDash val="dash"/>
          </a:ln>
        </p:spPr>
      </p:sp>
      <p:sp>
        <p:nvSpPr>
          <p:cNvPr id="6" name="FROM DAY ONE node"/>
          <p:cNvSpPr/>
          <p:nvPr/>
        </p:nvSpPr>
        <p:spPr>
          <a:xfrm>
            <a:off x="822960" y="1956816"/>
            <a:ext cx="566928" cy="566928"/>
          </a:xfrm>
          <a:prstGeom prst="ellipse">
            <a:avLst/>
          </a:prstGeom>
          <a:solidFill>
            <a:schemeClr val="tx1"/>
          </a:solidFill>
          <a:ln w="25400">
            <a:solidFill>
              <a:schemeClr val="accent1"/>
            </a:solidFill>
            <a:prstDash val="solid"/>
          </a:ln>
        </p:spPr>
      </p:sp>
      <p:pic>
        <p:nvPicPr>
          <p:cNvPr id="7" name="FROM DAY ONE icon" descr="FROM DAY ONE">    </p:cNvPr>
          <p:cNvPicPr>
            <a:picLocks noChangeAspect="1"/>
          </p:cNvPicPr>
          <p:nvPr/>
        </p:nvPicPr>
        <p:blipFill>
          <a:blip r:embed="rId1"/>
          <a:stretch>
            <a:fillRect/>
          </a:stretch>
        </p:blipFill>
        <p:spPr>
          <a:xfrm>
            <a:off x="950976" y="2084832"/>
            <a:ext cx="310896" cy="310896"/>
          </a:xfrm>
          <a:prstGeom prst="rect">
            <a:avLst/>
          </a:prstGeom>
        </p:spPr>
      </p:pic>
      <p:sp>
        <p:nvSpPr>
          <p:cNvPr id="8" name="FROM DAY ONE card"/>
          <p:cNvSpPr/>
          <p:nvPr/>
        </p:nvSpPr>
        <p:spPr>
          <a:xfrm>
            <a:off x="548640" y="2880360"/>
            <a:ext cx="3515258" cy="2743200"/>
          </a:xfrm>
          <a:prstGeom prst="roundRect">
            <a:avLst>
              <a:gd name="adj" fmla="val 4000"/>
            </a:avLst>
          </a:prstGeom>
          <a:solidFill>
            <a:schemeClr val="tx2">
              <a:alpha val="92000"/>
            </a:schemeClr>
          </a:solidFill>
          <a:ln w="9525">
            <a:solidFill>
              <a:schemeClr val="bg2">
                <a:alpha val="22000"/>
              </a:schemeClr>
            </a:solidFill>
            <a:prstDash val="solid"/>
          </a:ln>
        </p:spPr>
      </p:sp>
      <p:sp>
        <p:nvSpPr>
          <p:cNvPr id="9" name="FROM DAY ONE label"/>
          <p:cNvSpPr txBox="1"/>
          <p:nvPr/>
        </p:nvSpPr>
        <p:spPr>
          <a:xfrm>
            <a:off x="822960" y="3154680"/>
            <a:ext cx="296661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FROM DAY ONE</a:t>
            </a:r>
            <a:endParaRPr lang="en-US" sz="1200" dirty="0"/>
          </a:p>
        </p:txBody>
      </p:sp>
      <p:sp>
        <p:nvSpPr>
          <p:cNvPr id="10" name="FROM DAY ONE heading"/>
          <p:cNvSpPr txBox="1"/>
          <p:nvPr/>
        </p:nvSpPr>
        <p:spPr>
          <a:xfrm>
            <a:off x="822960" y="3474720"/>
            <a:ext cx="2966618" cy="457200"/>
          </a:xfrm>
          <a:prstGeom prst="rect">
            <a:avLst/>
          </a:prstGeom>
          <a:noFill/>
          <a:ln/>
        </p:spPr>
        <p:txBody>
          <a:bodyPr wrap="square" lIns="0" tIns="0" rIns="0" bIns="0" rtlCol="0" anchor="t"/>
          <a:lstStyle/>
          <a:p>
            <a:pPr indent="0" marL="0">
              <a:buNone/>
            </a:pPr>
            <a:r>
              <a:rPr lang="en-US" sz="2200" b="1" dirty="0">
                <a:solidFill>
                  <a:schemeClr val="bg1"/>
                </a:solidFill>
              </a:rPr>
              <a:t>See it live</a:t>
            </a:r>
            <a:endParaRPr lang="en-US" sz="2200" dirty="0"/>
          </a:p>
        </p:txBody>
      </p:sp>
      <p:sp>
        <p:nvSpPr>
          <p:cNvPr id="11" name="FROM DAY ONE points"/>
          <p:cNvSpPr txBox="1"/>
          <p:nvPr/>
        </p:nvSpPr>
        <p:spPr>
          <a:xfrm>
            <a:off x="822960" y="4114800"/>
            <a:ext cx="2966618" cy="12801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2"/>
                </a:solidFill>
              </a:rPr>
              <a:t>Every machine live, on any screen</a:t>
            </a:r>
            <a:endParaRPr lang="en-US" sz="1500" dirty="0"/>
          </a:p>
          <a:p>
            <a:pPr marL="203200" indent="-203200">
              <a:spcAft>
                <a:spcPts val="1000"/>
              </a:spcAft>
              <a:buSzPct val="100000"/>
              <a:buChar char="•"/>
            </a:pPr>
            <a:r>
              <a:rPr lang="en-US" sz="1500" dirty="0">
                <a:solidFill>
                  <a:schemeClr val="bg2"/>
                </a:solidFill>
              </a:rPr>
              <a:t>Alarms reach the right people</a:t>
            </a:r>
            <a:endParaRPr lang="en-US" sz="1500" dirty="0"/>
          </a:p>
          <a:p>
            <a:pPr marL="203200" indent="-203200">
              <a:spcAft>
                <a:spcPts val="1000"/>
              </a:spcAft>
              <a:buSzPct val="100000"/>
              <a:buChar char="•"/>
            </a:pPr>
            <a:r>
              <a:rPr lang="en-US" sz="1500" dirty="0">
                <a:solidFill>
                  <a:schemeClr val="bg2"/>
                </a:solidFill>
              </a:rPr>
              <a:t>Shift output counted for you</a:t>
            </a:r>
            <a:endParaRPr lang="en-US" sz="1500" dirty="0"/>
          </a:p>
        </p:txBody>
      </p:sp>
      <p:sp>
        <p:nvSpPr>
          <p:cNvPr id="12" name="AFTER THE FIRST MONTH node"/>
          <p:cNvSpPr/>
          <p:nvPr/>
        </p:nvSpPr>
        <p:spPr>
          <a:xfrm>
            <a:off x="4612538" y="1956816"/>
            <a:ext cx="566928" cy="566928"/>
          </a:xfrm>
          <a:prstGeom prst="ellipse">
            <a:avLst/>
          </a:prstGeom>
          <a:solidFill>
            <a:schemeClr val="tx1"/>
          </a:solidFill>
          <a:ln w="25400">
            <a:solidFill>
              <a:schemeClr val="accent2"/>
            </a:solidFill>
            <a:prstDash val="solid"/>
          </a:ln>
        </p:spPr>
      </p:sp>
      <p:pic>
        <p:nvPicPr>
          <p:cNvPr id="13" name="AFTER THE FIRST MONTH icon" descr="AFTER THE FIRST MONTH">    </p:cNvPr>
          <p:cNvPicPr>
            <a:picLocks noChangeAspect="1"/>
          </p:cNvPicPr>
          <p:nvPr/>
        </p:nvPicPr>
        <p:blipFill>
          <a:blip r:embed="rId2"/>
          <a:stretch>
            <a:fillRect/>
          </a:stretch>
        </p:blipFill>
        <p:spPr>
          <a:xfrm>
            <a:off x="4740554" y="2084832"/>
            <a:ext cx="310896" cy="310896"/>
          </a:xfrm>
          <a:prstGeom prst="rect">
            <a:avLst/>
          </a:prstGeom>
        </p:spPr>
      </p:pic>
      <p:sp>
        <p:nvSpPr>
          <p:cNvPr id="14" name="AFTER THE FIRST MONTH card"/>
          <p:cNvSpPr/>
          <p:nvPr/>
        </p:nvSpPr>
        <p:spPr>
          <a:xfrm>
            <a:off x="4338218" y="2880360"/>
            <a:ext cx="3515258" cy="2743200"/>
          </a:xfrm>
          <a:prstGeom prst="roundRect">
            <a:avLst>
              <a:gd name="adj" fmla="val 4000"/>
            </a:avLst>
          </a:prstGeom>
          <a:solidFill>
            <a:schemeClr val="tx2">
              <a:alpha val="92000"/>
            </a:schemeClr>
          </a:solidFill>
          <a:ln w="9525">
            <a:solidFill>
              <a:schemeClr val="bg2">
                <a:alpha val="22000"/>
              </a:schemeClr>
            </a:solidFill>
            <a:prstDash val="solid"/>
          </a:ln>
        </p:spPr>
      </p:sp>
      <p:sp>
        <p:nvSpPr>
          <p:cNvPr id="15" name="AFTER THE FIRST MONTH label"/>
          <p:cNvSpPr txBox="1"/>
          <p:nvPr/>
        </p:nvSpPr>
        <p:spPr>
          <a:xfrm>
            <a:off x="4612538" y="3154680"/>
            <a:ext cx="296661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AFTER THE FIRST MONTH</a:t>
            </a:r>
            <a:endParaRPr lang="en-US" sz="1200" dirty="0"/>
          </a:p>
        </p:txBody>
      </p:sp>
      <p:sp>
        <p:nvSpPr>
          <p:cNvPr id="16" name="AFTER THE FIRST MONTH heading"/>
          <p:cNvSpPr txBox="1"/>
          <p:nvPr/>
        </p:nvSpPr>
        <p:spPr>
          <a:xfrm>
            <a:off x="4612538" y="3474720"/>
            <a:ext cx="2966618" cy="457200"/>
          </a:xfrm>
          <a:prstGeom prst="rect">
            <a:avLst/>
          </a:prstGeom>
          <a:noFill/>
          <a:ln/>
        </p:spPr>
        <p:txBody>
          <a:bodyPr wrap="square" lIns="0" tIns="0" rIns="0" bIns="0" rtlCol="0" anchor="t"/>
          <a:lstStyle/>
          <a:p>
            <a:pPr indent="0" marL="0">
              <a:buNone/>
            </a:pPr>
            <a:r>
              <a:rPr lang="en-US" sz="2200" b="1" dirty="0">
                <a:solidFill>
                  <a:schemeClr val="bg1"/>
                </a:solidFill>
              </a:rPr>
              <a:t>Know your numbers</a:t>
            </a:r>
            <a:endParaRPr lang="en-US" sz="2200" dirty="0"/>
          </a:p>
        </p:txBody>
      </p:sp>
      <p:sp>
        <p:nvSpPr>
          <p:cNvPr id="17" name="AFTER THE FIRST MONTH points"/>
          <p:cNvSpPr txBox="1"/>
          <p:nvPr/>
        </p:nvSpPr>
        <p:spPr>
          <a:xfrm>
            <a:off x="4612538" y="4114800"/>
            <a:ext cx="2966618" cy="12801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2"/>
                </a:solidFill>
              </a:rPr>
              <a:t>Your true OEE, machine by machine</a:t>
            </a:r>
            <a:endParaRPr lang="en-US" sz="1500" dirty="0"/>
          </a:p>
          <a:p>
            <a:pPr marL="203200" indent="-203200">
              <a:spcAft>
                <a:spcPts val="1000"/>
              </a:spcAft>
              <a:buSzPct val="100000"/>
              <a:buChar char="•"/>
            </a:pPr>
            <a:r>
              <a:rPr lang="en-US" sz="1500" dirty="0">
                <a:solidFill>
                  <a:schemeClr val="bg2"/>
                </a:solidFill>
              </a:rPr>
              <a:t>The top reasons for downtime</a:t>
            </a:r>
            <a:endParaRPr lang="en-US" sz="1500" dirty="0"/>
          </a:p>
          <a:p>
            <a:pPr marL="203200" indent="-203200">
              <a:spcAft>
                <a:spcPts val="1000"/>
              </a:spcAft>
              <a:buSzPct val="100000"/>
              <a:buChar char="•"/>
            </a:pPr>
            <a:r>
              <a:rPr lang="en-US" sz="1500" dirty="0">
                <a:solidFill>
                  <a:schemeClr val="bg2"/>
                </a:solidFill>
              </a:rPr>
              <a:t>What idle hours really cost</a:t>
            </a:r>
            <a:endParaRPr lang="en-US" sz="1500" dirty="0"/>
          </a:p>
        </p:txBody>
      </p:sp>
      <p:sp>
        <p:nvSpPr>
          <p:cNvPr id="18" name="AS YOU GROW node"/>
          <p:cNvSpPr/>
          <p:nvPr/>
        </p:nvSpPr>
        <p:spPr>
          <a:xfrm>
            <a:off x="8402117" y="1956816"/>
            <a:ext cx="566928" cy="566928"/>
          </a:xfrm>
          <a:prstGeom prst="ellipse">
            <a:avLst/>
          </a:prstGeom>
          <a:solidFill>
            <a:schemeClr val="tx1"/>
          </a:solidFill>
          <a:ln w="25400">
            <a:solidFill>
              <a:schemeClr val="accent6"/>
            </a:solidFill>
            <a:prstDash val="solid"/>
          </a:ln>
        </p:spPr>
      </p:sp>
      <p:pic>
        <p:nvPicPr>
          <p:cNvPr id="19" name="AS YOU GROW icon" descr="AS YOU GROW">    </p:cNvPr>
          <p:cNvPicPr>
            <a:picLocks noChangeAspect="1"/>
          </p:cNvPicPr>
          <p:nvPr/>
        </p:nvPicPr>
        <p:blipFill>
          <a:blip r:embed="rId3"/>
          <a:stretch>
            <a:fillRect/>
          </a:stretch>
        </p:blipFill>
        <p:spPr>
          <a:xfrm>
            <a:off x="8530133" y="2084832"/>
            <a:ext cx="310896" cy="310896"/>
          </a:xfrm>
          <a:prstGeom prst="rect">
            <a:avLst/>
          </a:prstGeom>
        </p:spPr>
      </p:pic>
      <p:sp>
        <p:nvSpPr>
          <p:cNvPr id="20" name="AS YOU GROW card"/>
          <p:cNvSpPr/>
          <p:nvPr/>
        </p:nvSpPr>
        <p:spPr>
          <a:xfrm>
            <a:off x="8127797" y="2880360"/>
            <a:ext cx="3515258" cy="2743200"/>
          </a:xfrm>
          <a:prstGeom prst="roundRect">
            <a:avLst>
              <a:gd name="adj" fmla="val 4000"/>
            </a:avLst>
          </a:prstGeom>
          <a:solidFill>
            <a:schemeClr val="tx2">
              <a:alpha val="92000"/>
            </a:schemeClr>
          </a:solidFill>
          <a:ln w="9525">
            <a:solidFill>
              <a:schemeClr val="bg2">
                <a:alpha val="22000"/>
              </a:schemeClr>
            </a:solidFill>
            <a:prstDash val="solid"/>
          </a:ln>
        </p:spPr>
      </p:sp>
      <p:sp>
        <p:nvSpPr>
          <p:cNvPr id="21" name="AS YOU GROW label"/>
          <p:cNvSpPr txBox="1"/>
          <p:nvPr/>
        </p:nvSpPr>
        <p:spPr>
          <a:xfrm>
            <a:off x="8402117" y="3154680"/>
            <a:ext cx="2966618"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AS YOU GROW</a:t>
            </a:r>
            <a:endParaRPr lang="en-US" sz="1200" dirty="0"/>
          </a:p>
        </p:txBody>
      </p:sp>
      <p:sp>
        <p:nvSpPr>
          <p:cNvPr id="22" name="AS YOU GROW heading"/>
          <p:cNvSpPr txBox="1"/>
          <p:nvPr/>
        </p:nvSpPr>
        <p:spPr>
          <a:xfrm>
            <a:off x="8402117" y="3474720"/>
            <a:ext cx="2966618" cy="457200"/>
          </a:xfrm>
          <a:prstGeom prst="rect">
            <a:avLst/>
          </a:prstGeom>
          <a:noFill/>
          <a:ln/>
        </p:spPr>
        <p:txBody>
          <a:bodyPr wrap="square" lIns="0" tIns="0" rIns="0" bIns="0" rtlCol="0" anchor="t"/>
          <a:lstStyle/>
          <a:p>
            <a:pPr indent="0" marL="0">
              <a:buNone/>
            </a:pPr>
            <a:r>
              <a:rPr lang="en-US" sz="2200" b="1" dirty="0">
                <a:solidFill>
                  <a:schemeClr val="bg1"/>
                </a:solidFill>
              </a:rPr>
              <a:t>Decide on facts</a:t>
            </a:r>
            <a:endParaRPr lang="en-US" sz="2200" dirty="0"/>
          </a:p>
        </p:txBody>
      </p:sp>
      <p:sp>
        <p:nvSpPr>
          <p:cNvPr id="23" name="AS YOU GROW points"/>
          <p:cNvSpPr txBox="1"/>
          <p:nvPr/>
        </p:nvSpPr>
        <p:spPr>
          <a:xfrm>
            <a:off x="8402117" y="4114800"/>
            <a:ext cx="2966618" cy="12801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2"/>
                </a:solidFill>
              </a:rPr>
              <a:t>Maintenance planned by usage</a:t>
            </a:r>
            <a:endParaRPr lang="en-US" sz="1500" dirty="0"/>
          </a:p>
          <a:p>
            <a:pPr marL="203200" indent="-203200">
              <a:spcAft>
                <a:spcPts val="1000"/>
              </a:spcAft>
              <a:buSzPct val="100000"/>
              <a:buChar char="•"/>
            </a:pPr>
            <a:r>
              <a:rPr lang="en-US" sz="1500" dirty="0">
                <a:solidFill>
                  <a:schemeClr val="bg2"/>
                </a:solidFill>
              </a:rPr>
              <a:t>Energy cost of every machine</a:t>
            </a:r>
            <a:endParaRPr lang="en-US" sz="1500" dirty="0"/>
          </a:p>
          <a:p>
            <a:pPr marL="203200" indent="-203200">
              <a:spcAft>
                <a:spcPts val="1000"/>
              </a:spcAft>
              <a:buSzPct val="100000"/>
              <a:buChar char="•"/>
            </a:pPr>
            <a:r>
              <a:rPr lang="en-US" sz="1500" dirty="0">
                <a:solidFill>
                  <a:schemeClr val="bg2"/>
                </a:solidFill>
              </a:rPr>
              <a:t>Add more machines and plants</a:t>
            </a:r>
            <a:endParaRPr lang="en-US" sz="15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COMPLETE PLATFORM</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Everything in one platform</a:t>
            </a:r>
            <a:endParaRPr lang="en-US" sz="3600" dirty="0"/>
          </a:p>
        </p:txBody>
      </p:sp>
      <p:sp>
        <p:nvSpPr>
          <p:cNvPr id="4" name="SEE card"/>
          <p:cNvSpPr/>
          <p:nvPr/>
        </p:nvSpPr>
        <p:spPr>
          <a:xfrm>
            <a:off x="548640" y="1737360"/>
            <a:ext cx="2036003" cy="3931920"/>
          </a:xfrm>
          <a:prstGeom prst="roundRect">
            <a:avLst>
              <a:gd name="adj" fmla="val 5389"/>
            </a:avLst>
          </a:prstGeom>
          <a:solidFill>
            <a:schemeClr val="tx2">
              <a:alpha val="92000"/>
            </a:schemeClr>
          </a:solidFill>
          <a:ln w="9525">
            <a:solidFill>
              <a:schemeClr val="bg2">
                <a:alpha val="22000"/>
              </a:schemeClr>
            </a:solidFill>
            <a:prstDash val="solid"/>
          </a:ln>
        </p:spPr>
      </p:sp>
      <p:sp>
        <p:nvSpPr>
          <p:cNvPr id="5" name="SEE tile"/>
          <p:cNvSpPr/>
          <p:nvPr/>
        </p:nvSpPr>
        <p:spPr>
          <a:xfrm>
            <a:off x="777240" y="1965960"/>
            <a:ext cx="457200" cy="457200"/>
          </a:xfrm>
          <a:prstGeom prst="roundRect">
            <a:avLst>
              <a:gd name="adj" fmla="val 24000"/>
            </a:avLst>
          </a:prstGeom>
          <a:solidFill>
            <a:schemeClr val="bg1">
              <a:alpha val="16000"/>
            </a:schemeClr>
          </a:solidFill>
          <a:ln/>
        </p:spPr>
      </p:sp>
      <p:pic>
        <p:nvPicPr>
          <p:cNvPr id="6" name="SEE icon" descr="SEE">    </p:cNvPr>
          <p:cNvPicPr>
            <a:picLocks noChangeAspect="1"/>
          </p:cNvPicPr>
          <p:nvPr/>
        </p:nvPicPr>
        <p:blipFill>
          <a:blip r:embed="rId1"/>
          <a:stretch>
            <a:fillRect/>
          </a:stretch>
        </p:blipFill>
        <p:spPr>
          <a:xfrm>
            <a:off x="877824" y="2066544"/>
            <a:ext cx="256032" cy="256032"/>
          </a:xfrm>
          <a:prstGeom prst="rect">
            <a:avLst/>
          </a:prstGeom>
        </p:spPr>
      </p:pic>
      <p:sp>
        <p:nvSpPr>
          <p:cNvPr id="7" name="SEE label"/>
          <p:cNvSpPr txBox="1"/>
          <p:nvPr/>
        </p:nvSpPr>
        <p:spPr>
          <a:xfrm>
            <a:off x="1353312" y="1965960"/>
            <a:ext cx="1121603" cy="457200"/>
          </a:xfrm>
          <a:prstGeom prst="rect">
            <a:avLst/>
          </a:prstGeom>
          <a:noFill/>
          <a:ln/>
        </p:spPr>
        <p:txBody>
          <a:bodyPr wrap="square" lIns="0" tIns="0" rIns="0" bIns="0" rtlCol="0" anchor="ctr"/>
          <a:lstStyle/>
          <a:p>
            <a:pPr indent="0" marL="0">
              <a:buNone/>
            </a:pPr>
            <a:r>
              <a:rPr lang="en-US" sz="1300" b="1" spc="200" kern="0" dirty="0">
                <a:solidFill>
                  <a:schemeClr val="bg1"/>
                </a:solidFill>
              </a:rPr>
              <a:t>SEE</a:t>
            </a:r>
            <a:endParaRPr lang="en-US" sz="1300" dirty="0"/>
          </a:p>
        </p:txBody>
      </p:sp>
      <p:sp>
        <p:nvSpPr>
          <p:cNvPr id="8" name="Live Dashboard plan"/>
          <p:cNvSpPr/>
          <p:nvPr/>
        </p:nvSpPr>
        <p:spPr>
          <a:xfrm>
            <a:off x="777240" y="2743200"/>
            <a:ext cx="128016" cy="128016"/>
          </a:xfrm>
          <a:prstGeom prst="ellipse">
            <a:avLst/>
          </a:prstGeom>
          <a:solidFill>
            <a:schemeClr val="accent1"/>
          </a:solidFill>
          <a:ln/>
        </p:spPr>
      </p:sp>
      <p:sp>
        <p:nvSpPr>
          <p:cNvPr id="9" name="Live Dashboard"/>
          <p:cNvSpPr txBox="1"/>
          <p:nvPr/>
        </p:nvSpPr>
        <p:spPr>
          <a:xfrm>
            <a:off x="1005840" y="2651760"/>
            <a:ext cx="1395923" cy="502920"/>
          </a:xfrm>
          <a:prstGeom prst="rect">
            <a:avLst/>
          </a:prstGeom>
          <a:noFill/>
          <a:ln/>
        </p:spPr>
        <p:txBody>
          <a:bodyPr wrap="square" lIns="0" tIns="0" rIns="0" bIns="0" rtlCol="0" anchor="t"/>
          <a:lstStyle/>
          <a:p>
            <a:pPr indent="0" marL="0">
              <a:buNone/>
            </a:pPr>
            <a:r>
              <a:rPr lang="en-US" sz="1400" dirty="0">
                <a:solidFill>
                  <a:schemeClr val="bg1"/>
                </a:solidFill>
              </a:rPr>
              <a:t>Live Dashboard</a:t>
            </a:r>
            <a:endParaRPr lang="en-US" sz="1400" dirty="0"/>
          </a:p>
        </p:txBody>
      </p:sp>
      <p:sp>
        <p:nvSpPr>
          <p:cNvPr id="10" name="Machine cockpit plan"/>
          <p:cNvSpPr/>
          <p:nvPr/>
        </p:nvSpPr>
        <p:spPr>
          <a:xfrm>
            <a:off x="777240" y="3310128"/>
            <a:ext cx="128016" cy="128016"/>
          </a:xfrm>
          <a:prstGeom prst="ellipse">
            <a:avLst/>
          </a:prstGeom>
          <a:solidFill>
            <a:schemeClr val="accent1"/>
          </a:solidFill>
          <a:ln/>
        </p:spPr>
      </p:sp>
      <p:sp>
        <p:nvSpPr>
          <p:cNvPr id="11" name="Machine cockpit"/>
          <p:cNvSpPr txBox="1"/>
          <p:nvPr/>
        </p:nvSpPr>
        <p:spPr>
          <a:xfrm>
            <a:off x="1005840" y="3218688"/>
            <a:ext cx="1395923" cy="502920"/>
          </a:xfrm>
          <a:prstGeom prst="rect">
            <a:avLst/>
          </a:prstGeom>
          <a:noFill/>
          <a:ln/>
        </p:spPr>
        <p:txBody>
          <a:bodyPr wrap="square" lIns="0" tIns="0" rIns="0" bIns="0" rtlCol="0" anchor="t"/>
          <a:lstStyle/>
          <a:p>
            <a:pPr indent="0" marL="0">
              <a:buNone/>
            </a:pPr>
            <a:r>
              <a:rPr lang="en-US" sz="1400" dirty="0">
                <a:solidFill>
                  <a:schemeClr val="bg1"/>
                </a:solidFill>
              </a:rPr>
              <a:t>Machine cockpit</a:t>
            </a:r>
            <a:endParaRPr lang="en-US" sz="1400" dirty="0"/>
          </a:p>
        </p:txBody>
      </p:sp>
      <p:sp>
        <p:nvSpPr>
          <p:cNvPr id="12" name="Factory overview plan"/>
          <p:cNvSpPr/>
          <p:nvPr/>
        </p:nvSpPr>
        <p:spPr>
          <a:xfrm>
            <a:off x="777240" y="3877056"/>
            <a:ext cx="128016" cy="128016"/>
          </a:xfrm>
          <a:prstGeom prst="ellipse">
            <a:avLst/>
          </a:prstGeom>
          <a:solidFill>
            <a:schemeClr val="accent2"/>
          </a:solidFill>
          <a:ln/>
        </p:spPr>
      </p:sp>
      <p:sp>
        <p:nvSpPr>
          <p:cNvPr id="13" name="Factory overview"/>
          <p:cNvSpPr txBox="1"/>
          <p:nvPr/>
        </p:nvSpPr>
        <p:spPr>
          <a:xfrm>
            <a:off x="1005840" y="3785616"/>
            <a:ext cx="1395923" cy="502920"/>
          </a:xfrm>
          <a:prstGeom prst="rect">
            <a:avLst/>
          </a:prstGeom>
          <a:noFill/>
          <a:ln/>
        </p:spPr>
        <p:txBody>
          <a:bodyPr wrap="square" lIns="0" tIns="0" rIns="0" bIns="0" rtlCol="0" anchor="t"/>
          <a:lstStyle/>
          <a:p>
            <a:pPr indent="0" marL="0">
              <a:buNone/>
            </a:pPr>
            <a:r>
              <a:rPr lang="en-US" sz="1400" dirty="0">
                <a:solidFill>
                  <a:schemeClr val="bg1"/>
                </a:solidFill>
              </a:rPr>
              <a:t>Factory overview</a:t>
            </a:r>
            <a:endParaRPr lang="en-US" sz="1400" dirty="0"/>
          </a:p>
        </p:txBody>
      </p:sp>
      <p:sp>
        <p:nvSpPr>
          <p:cNvPr id="14" name="Mobile app plan"/>
          <p:cNvSpPr/>
          <p:nvPr/>
        </p:nvSpPr>
        <p:spPr>
          <a:xfrm>
            <a:off x="777240" y="4443984"/>
            <a:ext cx="128016" cy="128016"/>
          </a:xfrm>
          <a:prstGeom prst="ellipse">
            <a:avLst/>
          </a:prstGeom>
          <a:solidFill>
            <a:schemeClr val="accent2"/>
          </a:solidFill>
          <a:ln/>
        </p:spPr>
      </p:sp>
      <p:sp>
        <p:nvSpPr>
          <p:cNvPr id="15" name="Mobile app"/>
          <p:cNvSpPr txBox="1"/>
          <p:nvPr/>
        </p:nvSpPr>
        <p:spPr>
          <a:xfrm>
            <a:off x="1005840" y="4352544"/>
            <a:ext cx="1395923" cy="502920"/>
          </a:xfrm>
          <a:prstGeom prst="rect">
            <a:avLst/>
          </a:prstGeom>
          <a:noFill/>
          <a:ln/>
        </p:spPr>
        <p:txBody>
          <a:bodyPr wrap="square" lIns="0" tIns="0" rIns="0" bIns="0" rtlCol="0" anchor="t"/>
          <a:lstStyle/>
          <a:p>
            <a:pPr indent="0" marL="0">
              <a:buNone/>
            </a:pPr>
            <a:r>
              <a:rPr lang="en-US" sz="1400" dirty="0">
                <a:solidFill>
                  <a:schemeClr val="bg1"/>
                </a:solidFill>
              </a:rPr>
              <a:t>Mobile app</a:t>
            </a:r>
            <a:endParaRPr lang="en-US" sz="1400" dirty="0"/>
          </a:p>
        </p:txBody>
      </p:sp>
      <p:sp>
        <p:nvSpPr>
          <p:cNvPr id="16" name="Alarms and alerts plan"/>
          <p:cNvSpPr/>
          <p:nvPr/>
        </p:nvSpPr>
        <p:spPr>
          <a:xfrm>
            <a:off x="777240" y="5010912"/>
            <a:ext cx="128016" cy="128016"/>
          </a:xfrm>
          <a:prstGeom prst="ellipse">
            <a:avLst/>
          </a:prstGeom>
          <a:solidFill>
            <a:schemeClr val="accent2"/>
          </a:solidFill>
          <a:ln/>
        </p:spPr>
      </p:sp>
      <p:sp>
        <p:nvSpPr>
          <p:cNvPr id="17" name="Alarms and alerts"/>
          <p:cNvSpPr txBox="1"/>
          <p:nvPr/>
        </p:nvSpPr>
        <p:spPr>
          <a:xfrm>
            <a:off x="1005840" y="4919472"/>
            <a:ext cx="1395923" cy="502920"/>
          </a:xfrm>
          <a:prstGeom prst="rect">
            <a:avLst/>
          </a:prstGeom>
          <a:noFill/>
          <a:ln/>
        </p:spPr>
        <p:txBody>
          <a:bodyPr wrap="square" lIns="0" tIns="0" rIns="0" bIns="0" rtlCol="0" anchor="t"/>
          <a:lstStyle/>
          <a:p>
            <a:pPr indent="0" marL="0">
              <a:buNone/>
            </a:pPr>
            <a:r>
              <a:rPr lang="en-US" sz="1400" dirty="0">
                <a:solidFill>
                  <a:schemeClr val="bg1"/>
                </a:solidFill>
              </a:rPr>
              <a:t>Alarms and alerts</a:t>
            </a:r>
            <a:endParaRPr lang="en-US" sz="1400" dirty="0"/>
          </a:p>
        </p:txBody>
      </p:sp>
      <p:sp>
        <p:nvSpPr>
          <p:cNvPr id="18" name="ANALYSE card"/>
          <p:cNvSpPr/>
          <p:nvPr/>
        </p:nvSpPr>
        <p:spPr>
          <a:xfrm>
            <a:off x="2813243" y="1737360"/>
            <a:ext cx="2036003" cy="3931920"/>
          </a:xfrm>
          <a:prstGeom prst="roundRect">
            <a:avLst>
              <a:gd name="adj" fmla="val 5389"/>
            </a:avLst>
          </a:prstGeom>
          <a:solidFill>
            <a:schemeClr val="tx2">
              <a:alpha val="92000"/>
            </a:schemeClr>
          </a:solidFill>
          <a:ln w="9525">
            <a:solidFill>
              <a:schemeClr val="bg2">
                <a:alpha val="22000"/>
              </a:schemeClr>
            </a:solidFill>
            <a:prstDash val="solid"/>
          </a:ln>
        </p:spPr>
      </p:sp>
      <p:sp>
        <p:nvSpPr>
          <p:cNvPr id="19" name="ANALYSE tile"/>
          <p:cNvSpPr/>
          <p:nvPr/>
        </p:nvSpPr>
        <p:spPr>
          <a:xfrm>
            <a:off x="3041843" y="1965960"/>
            <a:ext cx="457200" cy="457200"/>
          </a:xfrm>
          <a:prstGeom prst="roundRect">
            <a:avLst>
              <a:gd name="adj" fmla="val 24000"/>
            </a:avLst>
          </a:prstGeom>
          <a:solidFill>
            <a:schemeClr val="bg1">
              <a:alpha val="16000"/>
            </a:schemeClr>
          </a:solidFill>
          <a:ln/>
        </p:spPr>
      </p:sp>
      <p:pic>
        <p:nvPicPr>
          <p:cNvPr id="20" name="ANALYSE icon" descr="ANALYSE">    </p:cNvPr>
          <p:cNvPicPr>
            <a:picLocks noChangeAspect="1"/>
          </p:cNvPicPr>
          <p:nvPr/>
        </p:nvPicPr>
        <p:blipFill>
          <a:blip r:embed="rId2"/>
          <a:stretch>
            <a:fillRect/>
          </a:stretch>
        </p:blipFill>
        <p:spPr>
          <a:xfrm>
            <a:off x="3142427" y="2066544"/>
            <a:ext cx="256032" cy="256032"/>
          </a:xfrm>
          <a:prstGeom prst="rect">
            <a:avLst/>
          </a:prstGeom>
        </p:spPr>
      </p:pic>
      <p:sp>
        <p:nvSpPr>
          <p:cNvPr id="21" name="ANALYSE label"/>
          <p:cNvSpPr txBox="1"/>
          <p:nvPr/>
        </p:nvSpPr>
        <p:spPr>
          <a:xfrm>
            <a:off x="3617915" y="1965960"/>
            <a:ext cx="1121603" cy="457200"/>
          </a:xfrm>
          <a:prstGeom prst="rect">
            <a:avLst/>
          </a:prstGeom>
          <a:noFill/>
          <a:ln/>
        </p:spPr>
        <p:txBody>
          <a:bodyPr wrap="square" lIns="0" tIns="0" rIns="0" bIns="0" rtlCol="0" anchor="ctr"/>
          <a:lstStyle/>
          <a:p>
            <a:pPr indent="0" marL="0">
              <a:buNone/>
            </a:pPr>
            <a:r>
              <a:rPr lang="en-US" sz="1300" b="1" spc="200" kern="0" dirty="0">
                <a:solidFill>
                  <a:schemeClr val="bg1"/>
                </a:solidFill>
              </a:rPr>
              <a:t>ANALYSE</a:t>
            </a:r>
            <a:endParaRPr lang="en-US" sz="1300" dirty="0"/>
          </a:p>
        </p:txBody>
      </p:sp>
      <p:sp>
        <p:nvSpPr>
          <p:cNvPr id="22" name="OEE dashboard plan"/>
          <p:cNvSpPr/>
          <p:nvPr/>
        </p:nvSpPr>
        <p:spPr>
          <a:xfrm>
            <a:off x="3041843" y="2743200"/>
            <a:ext cx="128016" cy="128016"/>
          </a:xfrm>
          <a:prstGeom prst="ellipse">
            <a:avLst/>
          </a:prstGeom>
          <a:solidFill>
            <a:schemeClr val="accent2"/>
          </a:solidFill>
          <a:ln/>
        </p:spPr>
      </p:sp>
      <p:sp>
        <p:nvSpPr>
          <p:cNvPr id="23" name="OEE dashboard"/>
          <p:cNvSpPr txBox="1"/>
          <p:nvPr/>
        </p:nvSpPr>
        <p:spPr>
          <a:xfrm>
            <a:off x="3270443" y="2651760"/>
            <a:ext cx="1395923" cy="502920"/>
          </a:xfrm>
          <a:prstGeom prst="rect">
            <a:avLst/>
          </a:prstGeom>
          <a:noFill/>
          <a:ln/>
        </p:spPr>
        <p:txBody>
          <a:bodyPr wrap="square" lIns="0" tIns="0" rIns="0" bIns="0" rtlCol="0" anchor="t"/>
          <a:lstStyle/>
          <a:p>
            <a:pPr indent="0" marL="0">
              <a:buNone/>
            </a:pPr>
            <a:r>
              <a:rPr lang="en-US" sz="1400" dirty="0">
                <a:solidFill>
                  <a:schemeClr val="bg1"/>
                </a:solidFill>
              </a:rPr>
              <a:t>OEE dashboard</a:t>
            </a:r>
            <a:endParaRPr lang="en-US" sz="1400" dirty="0"/>
          </a:p>
        </p:txBody>
      </p:sp>
      <p:sp>
        <p:nvSpPr>
          <p:cNvPr id="24" name="Downtime and its cost plan"/>
          <p:cNvSpPr/>
          <p:nvPr/>
        </p:nvSpPr>
        <p:spPr>
          <a:xfrm>
            <a:off x="3041843" y="3310128"/>
            <a:ext cx="128016" cy="128016"/>
          </a:xfrm>
          <a:prstGeom prst="ellipse">
            <a:avLst/>
          </a:prstGeom>
          <a:solidFill>
            <a:schemeClr val="accent2"/>
          </a:solidFill>
          <a:ln/>
        </p:spPr>
      </p:sp>
      <p:sp>
        <p:nvSpPr>
          <p:cNvPr id="25" name="Downtime and its cost"/>
          <p:cNvSpPr txBox="1"/>
          <p:nvPr/>
        </p:nvSpPr>
        <p:spPr>
          <a:xfrm>
            <a:off x="3270443" y="3218688"/>
            <a:ext cx="1395923" cy="502920"/>
          </a:xfrm>
          <a:prstGeom prst="rect">
            <a:avLst/>
          </a:prstGeom>
          <a:noFill/>
          <a:ln/>
        </p:spPr>
        <p:txBody>
          <a:bodyPr wrap="square" lIns="0" tIns="0" rIns="0" bIns="0" rtlCol="0" anchor="t"/>
          <a:lstStyle/>
          <a:p>
            <a:pPr indent="0" marL="0">
              <a:buNone/>
            </a:pPr>
            <a:r>
              <a:rPr lang="en-US" sz="1400" dirty="0">
                <a:solidFill>
                  <a:schemeClr val="bg1"/>
                </a:solidFill>
              </a:rPr>
              <a:t>Downtime and its cost</a:t>
            </a:r>
            <a:endParaRPr lang="en-US" sz="1400" dirty="0"/>
          </a:p>
        </p:txBody>
      </p:sp>
      <p:sp>
        <p:nvSpPr>
          <p:cNvPr id="26" name="Operator ranking plan"/>
          <p:cNvSpPr/>
          <p:nvPr/>
        </p:nvSpPr>
        <p:spPr>
          <a:xfrm>
            <a:off x="3041843" y="3877056"/>
            <a:ext cx="128016" cy="128016"/>
          </a:xfrm>
          <a:prstGeom prst="ellipse">
            <a:avLst/>
          </a:prstGeom>
          <a:solidFill>
            <a:schemeClr val="accent2"/>
          </a:solidFill>
          <a:ln/>
        </p:spPr>
      </p:sp>
      <p:sp>
        <p:nvSpPr>
          <p:cNvPr id="27" name="Operator ranking"/>
          <p:cNvSpPr txBox="1"/>
          <p:nvPr/>
        </p:nvSpPr>
        <p:spPr>
          <a:xfrm>
            <a:off x="3270443" y="3785616"/>
            <a:ext cx="1395923" cy="502920"/>
          </a:xfrm>
          <a:prstGeom prst="rect">
            <a:avLst/>
          </a:prstGeom>
          <a:noFill/>
          <a:ln/>
        </p:spPr>
        <p:txBody>
          <a:bodyPr wrap="square" lIns="0" tIns="0" rIns="0" bIns="0" rtlCol="0" anchor="t"/>
          <a:lstStyle/>
          <a:p>
            <a:pPr indent="0" marL="0">
              <a:buNone/>
            </a:pPr>
            <a:r>
              <a:rPr lang="en-US" sz="1400" dirty="0">
                <a:solidFill>
                  <a:schemeClr val="bg1"/>
                </a:solidFill>
              </a:rPr>
              <a:t>Operator ranking</a:t>
            </a:r>
            <a:endParaRPr lang="en-US" sz="1400" dirty="0"/>
          </a:p>
        </p:txBody>
      </p:sp>
      <p:sp>
        <p:nvSpPr>
          <p:cNvPr id="28" name="Reports in Excel or CSV plan"/>
          <p:cNvSpPr/>
          <p:nvPr/>
        </p:nvSpPr>
        <p:spPr>
          <a:xfrm>
            <a:off x="3041843" y="4443984"/>
            <a:ext cx="128016" cy="128016"/>
          </a:xfrm>
          <a:prstGeom prst="ellipse">
            <a:avLst/>
          </a:prstGeom>
          <a:solidFill>
            <a:schemeClr val="accent1"/>
          </a:solidFill>
          <a:ln/>
        </p:spPr>
      </p:sp>
      <p:sp>
        <p:nvSpPr>
          <p:cNvPr id="29" name="Reports in Excel or CSV"/>
          <p:cNvSpPr txBox="1"/>
          <p:nvPr/>
        </p:nvSpPr>
        <p:spPr>
          <a:xfrm>
            <a:off x="3270443" y="4352544"/>
            <a:ext cx="1395923" cy="502920"/>
          </a:xfrm>
          <a:prstGeom prst="rect">
            <a:avLst/>
          </a:prstGeom>
          <a:noFill/>
          <a:ln/>
        </p:spPr>
        <p:txBody>
          <a:bodyPr wrap="square" lIns="0" tIns="0" rIns="0" bIns="0" rtlCol="0" anchor="t"/>
          <a:lstStyle/>
          <a:p>
            <a:pPr indent="0" marL="0">
              <a:buNone/>
            </a:pPr>
            <a:r>
              <a:rPr lang="en-US" sz="1400" dirty="0">
                <a:solidFill>
                  <a:schemeClr val="bg1"/>
                </a:solidFill>
              </a:rPr>
              <a:t>Reports in Excel or CSV</a:t>
            </a:r>
            <a:endParaRPr lang="en-US" sz="1400" dirty="0"/>
          </a:p>
        </p:txBody>
      </p:sp>
      <p:sp>
        <p:nvSpPr>
          <p:cNvPr id="30" name="Quality and rework plan"/>
          <p:cNvSpPr/>
          <p:nvPr/>
        </p:nvSpPr>
        <p:spPr>
          <a:xfrm>
            <a:off x="3041843" y="5010912"/>
            <a:ext cx="128016" cy="128016"/>
          </a:xfrm>
          <a:prstGeom prst="ellipse">
            <a:avLst/>
          </a:prstGeom>
          <a:solidFill>
            <a:schemeClr val="accent1"/>
          </a:solidFill>
          <a:ln/>
        </p:spPr>
      </p:sp>
      <p:sp>
        <p:nvSpPr>
          <p:cNvPr id="31" name="Quality and rework"/>
          <p:cNvSpPr txBox="1"/>
          <p:nvPr/>
        </p:nvSpPr>
        <p:spPr>
          <a:xfrm>
            <a:off x="3270443" y="4919472"/>
            <a:ext cx="1395923" cy="502920"/>
          </a:xfrm>
          <a:prstGeom prst="rect">
            <a:avLst/>
          </a:prstGeom>
          <a:noFill/>
          <a:ln/>
        </p:spPr>
        <p:txBody>
          <a:bodyPr wrap="square" lIns="0" tIns="0" rIns="0" bIns="0" rtlCol="0" anchor="t"/>
          <a:lstStyle/>
          <a:p>
            <a:pPr indent="0" marL="0">
              <a:buNone/>
            </a:pPr>
            <a:r>
              <a:rPr lang="en-US" sz="1400" dirty="0">
                <a:solidFill>
                  <a:schemeClr val="bg1"/>
                </a:solidFill>
              </a:rPr>
              <a:t>Quality and rework</a:t>
            </a:r>
            <a:endParaRPr lang="en-US" sz="1400" dirty="0"/>
          </a:p>
        </p:txBody>
      </p:sp>
      <p:sp>
        <p:nvSpPr>
          <p:cNvPr id="32" name="MAINTAIN card"/>
          <p:cNvSpPr/>
          <p:nvPr/>
        </p:nvSpPr>
        <p:spPr>
          <a:xfrm>
            <a:off x="5077846" y="1737360"/>
            <a:ext cx="2036003" cy="3931920"/>
          </a:xfrm>
          <a:prstGeom prst="roundRect">
            <a:avLst>
              <a:gd name="adj" fmla="val 5389"/>
            </a:avLst>
          </a:prstGeom>
          <a:solidFill>
            <a:schemeClr val="tx2">
              <a:alpha val="92000"/>
            </a:schemeClr>
          </a:solidFill>
          <a:ln w="9525">
            <a:solidFill>
              <a:schemeClr val="bg2">
                <a:alpha val="22000"/>
              </a:schemeClr>
            </a:solidFill>
            <a:prstDash val="solid"/>
          </a:ln>
        </p:spPr>
      </p:sp>
      <p:sp>
        <p:nvSpPr>
          <p:cNvPr id="33" name="MAINTAIN tile"/>
          <p:cNvSpPr/>
          <p:nvPr/>
        </p:nvSpPr>
        <p:spPr>
          <a:xfrm>
            <a:off x="5306446" y="1965960"/>
            <a:ext cx="457200" cy="457200"/>
          </a:xfrm>
          <a:prstGeom prst="roundRect">
            <a:avLst>
              <a:gd name="adj" fmla="val 24000"/>
            </a:avLst>
          </a:prstGeom>
          <a:solidFill>
            <a:schemeClr val="bg1">
              <a:alpha val="16000"/>
            </a:schemeClr>
          </a:solidFill>
          <a:ln/>
        </p:spPr>
      </p:sp>
      <p:pic>
        <p:nvPicPr>
          <p:cNvPr id="34" name="MAINTAIN icon" descr="MAINTAIN">    </p:cNvPr>
          <p:cNvPicPr>
            <a:picLocks noChangeAspect="1"/>
          </p:cNvPicPr>
          <p:nvPr/>
        </p:nvPicPr>
        <p:blipFill>
          <a:blip r:embed="rId3"/>
          <a:stretch>
            <a:fillRect/>
          </a:stretch>
        </p:blipFill>
        <p:spPr>
          <a:xfrm>
            <a:off x="5407030" y="2066544"/>
            <a:ext cx="256032" cy="256032"/>
          </a:xfrm>
          <a:prstGeom prst="rect">
            <a:avLst/>
          </a:prstGeom>
        </p:spPr>
      </p:pic>
      <p:sp>
        <p:nvSpPr>
          <p:cNvPr id="35" name="MAINTAIN label"/>
          <p:cNvSpPr txBox="1"/>
          <p:nvPr/>
        </p:nvSpPr>
        <p:spPr>
          <a:xfrm>
            <a:off x="5882518" y="1965960"/>
            <a:ext cx="1121603" cy="457200"/>
          </a:xfrm>
          <a:prstGeom prst="rect">
            <a:avLst/>
          </a:prstGeom>
          <a:noFill/>
          <a:ln/>
        </p:spPr>
        <p:txBody>
          <a:bodyPr wrap="square" lIns="0" tIns="0" rIns="0" bIns="0" rtlCol="0" anchor="ctr"/>
          <a:lstStyle/>
          <a:p>
            <a:pPr indent="0" marL="0">
              <a:buNone/>
            </a:pPr>
            <a:r>
              <a:rPr lang="en-US" sz="1300" b="1" spc="200" kern="0" dirty="0">
                <a:solidFill>
                  <a:schemeClr val="bg1"/>
                </a:solidFill>
              </a:rPr>
              <a:t>MAINTAIN</a:t>
            </a:r>
            <a:endParaRPr lang="en-US" sz="1300" dirty="0"/>
          </a:p>
        </p:txBody>
      </p:sp>
      <p:sp>
        <p:nvSpPr>
          <p:cNvPr id="36" name="Machine health plan"/>
          <p:cNvSpPr/>
          <p:nvPr/>
        </p:nvSpPr>
        <p:spPr>
          <a:xfrm>
            <a:off x="5306446" y="2743200"/>
            <a:ext cx="128016" cy="128016"/>
          </a:xfrm>
          <a:prstGeom prst="ellipse">
            <a:avLst/>
          </a:prstGeom>
          <a:solidFill>
            <a:schemeClr val="accent2"/>
          </a:solidFill>
          <a:ln/>
        </p:spPr>
      </p:sp>
      <p:sp>
        <p:nvSpPr>
          <p:cNvPr id="37" name="Machine health"/>
          <p:cNvSpPr txBox="1"/>
          <p:nvPr/>
        </p:nvSpPr>
        <p:spPr>
          <a:xfrm>
            <a:off x="5535046" y="2651760"/>
            <a:ext cx="1395923" cy="502920"/>
          </a:xfrm>
          <a:prstGeom prst="rect">
            <a:avLst/>
          </a:prstGeom>
          <a:noFill/>
          <a:ln/>
        </p:spPr>
        <p:txBody>
          <a:bodyPr wrap="square" lIns="0" tIns="0" rIns="0" bIns="0" rtlCol="0" anchor="t"/>
          <a:lstStyle/>
          <a:p>
            <a:pPr indent="0" marL="0">
              <a:buNone/>
            </a:pPr>
            <a:r>
              <a:rPr lang="en-US" sz="1400" dirty="0">
                <a:solidFill>
                  <a:schemeClr val="bg1"/>
                </a:solidFill>
              </a:rPr>
              <a:t>Machine health</a:t>
            </a:r>
            <a:endParaRPr lang="en-US" sz="1400" dirty="0"/>
          </a:p>
        </p:txBody>
      </p:sp>
      <p:sp>
        <p:nvSpPr>
          <p:cNvPr id="38" name="Preventive maintenance plan"/>
          <p:cNvSpPr/>
          <p:nvPr/>
        </p:nvSpPr>
        <p:spPr>
          <a:xfrm>
            <a:off x="5306446" y="3310128"/>
            <a:ext cx="128016" cy="128016"/>
          </a:xfrm>
          <a:prstGeom prst="ellipse">
            <a:avLst/>
          </a:prstGeom>
          <a:solidFill>
            <a:schemeClr val="accent2"/>
          </a:solidFill>
          <a:ln/>
        </p:spPr>
      </p:sp>
      <p:sp>
        <p:nvSpPr>
          <p:cNvPr id="39" name="Preventive maintenance"/>
          <p:cNvSpPr txBox="1"/>
          <p:nvPr/>
        </p:nvSpPr>
        <p:spPr>
          <a:xfrm>
            <a:off x="5535046" y="3218688"/>
            <a:ext cx="1395923" cy="502920"/>
          </a:xfrm>
          <a:prstGeom prst="rect">
            <a:avLst/>
          </a:prstGeom>
          <a:noFill/>
          <a:ln/>
        </p:spPr>
        <p:txBody>
          <a:bodyPr wrap="square" lIns="0" tIns="0" rIns="0" bIns="0" rtlCol="0" anchor="t"/>
          <a:lstStyle/>
          <a:p>
            <a:pPr indent="0" marL="0">
              <a:buNone/>
            </a:pPr>
            <a:r>
              <a:rPr lang="en-US" sz="1400" dirty="0">
                <a:solidFill>
                  <a:schemeClr val="bg1"/>
                </a:solidFill>
              </a:rPr>
              <a:t>Preventive maintenance</a:t>
            </a:r>
            <a:endParaRPr lang="en-US" sz="1400" dirty="0"/>
          </a:p>
        </p:txBody>
      </p:sp>
      <p:sp>
        <p:nvSpPr>
          <p:cNvPr id="40" name="Periodic service plan"/>
          <p:cNvSpPr/>
          <p:nvPr/>
        </p:nvSpPr>
        <p:spPr>
          <a:xfrm>
            <a:off x="5306446" y="3877056"/>
            <a:ext cx="128016" cy="128016"/>
          </a:xfrm>
          <a:prstGeom prst="ellipse">
            <a:avLst/>
          </a:prstGeom>
          <a:solidFill>
            <a:schemeClr val="accent2"/>
          </a:solidFill>
          <a:ln/>
        </p:spPr>
      </p:sp>
      <p:sp>
        <p:nvSpPr>
          <p:cNvPr id="41" name="Periodic service"/>
          <p:cNvSpPr txBox="1"/>
          <p:nvPr/>
        </p:nvSpPr>
        <p:spPr>
          <a:xfrm>
            <a:off x="5535046" y="3785616"/>
            <a:ext cx="1395923" cy="502920"/>
          </a:xfrm>
          <a:prstGeom prst="rect">
            <a:avLst/>
          </a:prstGeom>
          <a:noFill/>
          <a:ln/>
        </p:spPr>
        <p:txBody>
          <a:bodyPr wrap="square" lIns="0" tIns="0" rIns="0" bIns="0" rtlCol="0" anchor="t"/>
          <a:lstStyle/>
          <a:p>
            <a:pPr indent="0" marL="0">
              <a:buNone/>
            </a:pPr>
            <a:r>
              <a:rPr lang="en-US" sz="1400" dirty="0">
                <a:solidFill>
                  <a:schemeClr val="bg1"/>
                </a:solidFill>
              </a:rPr>
              <a:t>Periodic service</a:t>
            </a:r>
            <a:endParaRPr lang="en-US" sz="1400" dirty="0"/>
          </a:p>
        </p:txBody>
      </p:sp>
      <p:sp>
        <p:nvSpPr>
          <p:cNvPr id="42" name="Repair tickets and report plan"/>
          <p:cNvSpPr/>
          <p:nvPr/>
        </p:nvSpPr>
        <p:spPr>
          <a:xfrm>
            <a:off x="5306446" y="4443984"/>
            <a:ext cx="128016" cy="128016"/>
          </a:xfrm>
          <a:prstGeom prst="ellipse">
            <a:avLst/>
          </a:prstGeom>
          <a:solidFill>
            <a:schemeClr val="accent2"/>
          </a:solidFill>
          <a:ln/>
        </p:spPr>
      </p:sp>
      <p:sp>
        <p:nvSpPr>
          <p:cNvPr id="43" name="Repair tickets and report"/>
          <p:cNvSpPr txBox="1"/>
          <p:nvPr/>
        </p:nvSpPr>
        <p:spPr>
          <a:xfrm>
            <a:off x="5535046" y="4352544"/>
            <a:ext cx="1395923" cy="502920"/>
          </a:xfrm>
          <a:prstGeom prst="rect">
            <a:avLst/>
          </a:prstGeom>
          <a:noFill/>
          <a:ln/>
        </p:spPr>
        <p:txBody>
          <a:bodyPr wrap="square" lIns="0" tIns="0" rIns="0" bIns="0" rtlCol="0" anchor="t"/>
          <a:lstStyle/>
          <a:p>
            <a:pPr indent="0" marL="0">
              <a:buNone/>
            </a:pPr>
            <a:r>
              <a:rPr lang="en-US" sz="1400" dirty="0">
                <a:solidFill>
                  <a:schemeClr val="bg1"/>
                </a:solidFill>
              </a:rPr>
              <a:t>Repair tickets and report</a:t>
            </a:r>
            <a:endParaRPr lang="en-US" sz="1400" dirty="0"/>
          </a:p>
        </p:txBody>
      </p:sp>
      <p:sp>
        <p:nvSpPr>
          <p:cNvPr id="44" name="Vibration monitoring plan"/>
          <p:cNvSpPr/>
          <p:nvPr/>
        </p:nvSpPr>
        <p:spPr>
          <a:xfrm>
            <a:off x="5306446" y="5010912"/>
            <a:ext cx="128016" cy="128016"/>
          </a:xfrm>
          <a:prstGeom prst="ellipse">
            <a:avLst/>
          </a:prstGeom>
          <a:solidFill>
            <a:schemeClr val="accent6"/>
          </a:solidFill>
          <a:ln/>
        </p:spPr>
      </p:sp>
      <p:sp>
        <p:nvSpPr>
          <p:cNvPr id="45" name="Vibration monitoring"/>
          <p:cNvSpPr txBox="1"/>
          <p:nvPr/>
        </p:nvSpPr>
        <p:spPr>
          <a:xfrm>
            <a:off x="5535046" y="4919472"/>
            <a:ext cx="1395923" cy="502920"/>
          </a:xfrm>
          <a:prstGeom prst="rect">
            <a:avLst/>
          </a:prstGeom>
          <a:noFill/>
          <a:ln/>
        </p:spPr>
        <p:txBody>
          <a:bodyPr wrap="square" lIns="0" tIns="0" rIns="0" bIns="0" rtlCol="0" anchor="t"/>
          <a:lstStyle/>
          <a:p>
            <a:pPr indent="0" marL="0">
              <a:buNone/>
            </a:pPr>
            <a:r>
              <a:rPr lang="en-US" sz="1400" dirty="0">
                <a:solidFill>
                  <a:schemeClr val="bg1"/>
                </a:solidFill>
              </a:rPr>
              <a:t>Vibration monitoring</a:t>
            </a:r>
            <a:endParaRPr lang="en-US" sz="1400" dirty="0"/>
          </a:p>
        </p:txBody>
      </p:sp>
      <p:sp>
        <p:nvSpPr>
          <p:cNvPr id="46" name="RUN card"/>
          <p:cNvSpPr/>
          <p:nvPr/>
        </p:nvSpPr>
        <p:spPr>
          <a:xfrm>
            <a:off x="7342449" y="1737360"/>
            <a:ext cx="2036003" cy="3931920"/>
          </a:xfrm>
          <a:prstGeom prst="roundRect">
            <a:avLst>
              <a:gd name="adj" fmla="val 5389"/>
            </a:avLst>
          </a:prstGeom>
          <a:solidFill>
            <a:schemeClr val="tx2">
              <a:alpha val="92000"/>
            </a:schemeClr>
          </a:solidFill>
          <a:ln w="9525">
            <a:solidFill>
              <a:schemeClr val="bg2">
                <a:alpha val="22000"/>
              </a:schemeClr>
            </a:solidFill>
            <a:prstDash val="solid"/>
          </a:ln>
        </p:spPr>
      </p:sp>
      <p:sp>
        <p:nvSpPr>
          <p:cNvPr id="47" name="RUN tile"/>
          <p:cNvSpPr/>
          <p:nvPr/>
        </p:nvSpPr>
        <p:spPr>
          <a:xfrm>
            <a:off x="7571049" y="1965960"/>
            <a:ext cx="457200" cy="457200"/>
          </a:xfrm>
          <a:prstGeom prst="roundRect">
            <a:avLst>
              <a:gd name="adj" fmla="val 24000"/>
            </a:avLst>
          </a:prstGeom>
          <a:solidFill>
            <a:schemeClr val="bg1">
              <a:alpha val="16000"/>
            </a:schemeClr>
          </a:solidFill>
          <a:ln/>
        </p:spPr>
      </p:sp>
      <p:pic>
        <p:nvPicPr>
          <p:cNvPr id="48" name="RUN icon" descr="RUN">    </p:cNvPr>
          <p:cNvPicPr>
            <a:picLocks noChangeAspect="1"/>
          </p:cNvPicPr>
          <p:nvPr/>
        </p:nvPicPr>
        <p:blipFill>
          <a:blip r:embed="rId4"/>
          <a:stretch>
            <a:fillRect/>
          </a:stretch>
        </p:blipFill>
        <p:spPr>
          <a:xfrm>
            <a:off x="7671633" y="2066544"/>
            <a:ext cx="256032" cy="256032"/>
          </a:xfrm>
          <a:prstGeom prst="rect">
            <a:avLst/>
          </a:prstGeom>
        </p:spPr>
      </p:pic>
      <p:sp>
        <p:nvSpPr>
          <p:cNvPr id="49" name="RUN label"/>
          <p:cNvSpPr txBox="1"/>
          <p:nvPr/>
        </p:nvSpPr>
        <p:spPr>
          <a:xfrm>
            <a:off x="8147121" y="1965960"/>
            <a:ext cx="1121603" cy="457200"/>
          </a:xfrm>
          <a:prstGeom prst="rect">
            <a:avLst/>
          </a:prstGeom>
          <a:noFill/>
          <a:ln/>
        </p:spPr>
        <p:txBody>
          <a:bodyPr wrap="square" lIns="0" tIns="0" rIns="0" bIns="0" rtlCol="0" anchor="ctr"/>
          <a:lstStyle/>
          <a:p>
            <a:pPr indent="0" marL="0">
              <a:buNone/>
            </a:pPr>
            <a:r>
              <a:rPr lang="en-US" sz="1300" b="1" spc="200" kern="0" dirty="0">
                <a:solidFill>
                  <a:schemeClr val="bg1"/>
                </a:solidFill>
              </a:rPr>
              <a:t>RUN</a:t>
            </a:r>
            <a:endParaRPr lang="en-US" sz="1300" dirty="0"/>
          </a:p>
        </p:txBody>
      </p:sp>
      <p:sp>
        <p:nvSpPr>
          <p:cNvPr id="50" name="Program transfer plan"/>
          <p:cNvSpPr/>
          <p:nvPr/>
        </p:nvSpPr>
        <p:spPr>
          <a:xfrm>
            <a:off x="7571049" y="2743200"/>
            <a:ext cx="128016" cy="128016"/>
          </a:xfrm>
          <a:prstGeom prst="ellipse">
            <a:avLst/>
          </a:prstGeom>
          <a:solidFill>
            <a:schemeClr val="accent2"/>
          </a:solidFill>
          <a:ln/>
        </p:spPr>
      </p:sp>
      <p:sp>
        <p:nvSpPr>
          <p:cNvPr id="51" name="Program transfer"/>
          <p:cNvSpPr txBox="1"/>
          <p:nvPr/>
        </p:nvSpPr>
        <p:spPr>
          <a:xfrm>
            <a:off x="7799649" y="2651760"/>
            <a:ext cx="1395923" cy="502920"/>
          </a:xfrm>
          <a:prstGeom prst="rect">
            <a:avLst/>
          </a:prstGeom>
          <a:noFill/>
          <a:ln/>
        </p:spPr>
        <p:txBody>
          <a:bodyPr wrap="square" lIns="0" tIns="0" rIns="0" bIns="0" rtlCol="0" anchor="t"/>
          <a:lstStyle/>
          <a:p>
            <a:pPr indent="0" marL="0">
              <a:buNone/>
            </a:pPr>
            <a:r>
              <a:rPr lang="en-US" sz="1400" dirty="0">
                <a:solidFill>
                  <a:schemeClr val="bg1"/>
                </a:solidFill>
              </a:rPr>
              <a:t>Program transfer</a:t>
            </a:r>
            <a:endParaRPr lang="en-US" sz="1400" dirty="0"/>
          </a:p>
        </p:txBody>
      </p:sp>
      <p:sp>
        <p:nvSpPr>
          <p:cNvPr id="52" name="Jobs and components plan"/>
          <p:cNvSpPr/>
          <p:nvPr/>
        </p:nvSpPr>
        <p:spPr>
          <a:xfrm>
            <a:off x="7571049" y="3310128"/>
            <a:ext cx="128016" cy="128016"/>
          </a:xfrm>
          <a:prstGeom prst="ellipse">
            <a:avLst/>
          </a:prstGeom>
          <a:solidFill>
            <a:schemeClr val="accent1"/>
          </a:solidFill>
          <a:ln/>
        </p:spPr>
      </p:sp>
      <p:sp>
        <p:nvSpPr>
          <p:cNvPr id="53" name="Jobs and components"/>
          <p:cNvSpPr txBox="1"/>
          <p:nvPr/>
        </p:nvSpPr>
        <p:spPr>
          <a:xfrm>
            <a:off x="7799649" y="3218688"/>
            <a:ext cx="1395923" cy="502920"/>
          </a:xfrm>
          <a:prstGeom prst="rect">
            <a:avLst/>
          </a:prstGeom>
          <a:noFill/>
          <a:ln/>
        </p:spPr>
        <p:txBody>
          <a:bodyPr wrap="square" lIns="0" tIns="0" rIns="0" bIns="0" rtlCol="0" anchor="t"/>
          <a:lstStyle/>
          <a:p>
            <a:pPr indent="0" marL="0">
              <a:buNone/>
            </a:pPr>
            <a:r>
              <a:rPr lang="en-US" sz="1400" dirty="0">
                <a:solidFill>
                  <a:schemeClr val="bg1"/>
                </a:solidFill>
              </a:rPr>
              <a:t>Jobs and components</a:t>
            </a:r>
            <a:endParaRPr lang="en-US" sz="1400" dirty="0"/>
          </a:p>
        </p:txBody>
      </p:sp>
      <p:sp>
        <p:nvSpPr>
          <p:cNvPr id="54" name="Shifts and lines plan"/>
          <p:cNvSpPr/>
          <p:nvPr/>
        </p:nvSpPr>
        <p:spPr>
          <a:xfrm>
            <a:off x="7571049" y="3877056"/>
            <a:ext cx="128016" cy="128016"/>
          </a:xfrm>
          <a:prstGeom prst="ellipse">
            <a:avLst/>
          </a:prstGeom>
          <a:solidFill>
            <a:schemeClr val="accent1"/>
          </a:solidFill>
          <a:ln/>
        </p:spPr>
      </p:sp>
      <p:sp>
        <p:nvSpPr>
          <p:cNvPr id="55" name="Shifts and lines"/>
          <p:cNvSpPr txBox="1"/>
          <p:nvPr/>
        </p:nvSpPr>
        <p:spPr>
          <a:xfrm>
            <a:off x="7799649" y="3785616"/>
            <a:ext cx="1395923" cy="502920"/>
          </a:xfrm>
          <a:prstGeom prst="rect">
            <a:avLst/>
          </a:prstGeom>
          <a:noFill/>
          <a:ln/>
        </p:spPr>
        <p:txBody>
          <a:bodyPr wrap="square" lIns="0" tIns="0" rIns="0" bIns="0" rtlCol="0" anchor="t"/>
          <a:lstStyle/>
          <a:p>
            <a:pPr indent="0" marL="0">
              <a:buNone/>
            </a:pPr>
            <a:r>
              <a:rPr lang="en-US" sz="1400" dirty="0">
                <a:solidFill>
                  <a:schemeClr val="bg1"/>
                </a:solidFill>
              </a:rPr>
              <a:t>Shifts and lines</a:t>
            </a:r>
            <a:endParaRPr lang="en-US" sz="1400" dirty="0"/>
          </a:p>
        </p:txBody>
      </p:sp>
      <p:sp>
        <p:nvSpPr>
          <p:cNvPr id="56" name="Multi-plant plan"/>
          <p:cNvSpPr/>
          <p:nvPr/>
        </p:nvSpPr>
        <p:spPr>
          <a:xfrm>
            <a:off x="7571049" y="4443984"/>
            <a:ext cx="128016" cy="128016"/>
          </a:xfrm>
          <a:prstGeom prst="ellipse">
            <a:avLst/>
          </a:prstGeom>
          <a:solidFill>
            <a:schemeClr val="accent2"/>
          </a:solidFill>
          <a:ln/>
        </p:spPr>
      </p:sp>
      <p:sp>
        <p:nvSpPr>
          <p:cNvPr id="57" name="Multi-plant"/>
          <p:cNvSpPr txBox="1"/>
          <p:nvPr/>
        </p:nvSpPr>
        <p:spPr>
          <a:xfrm>
            <a:off x="7799649" y="4352544"/>
            <a:ext cx="1395923" cy="502920"/>
          </a:xfrm>
          <a:prstGeom prst="rect">
            <a:avLst/>
          </a:prstGeom>
          <a:noFill/>
          <a:ln/>
        </p:spPr>
        <p:txBody>
          <a:bodyPr wrap="square" lIns="0" tIns="0" rIns="0" bIns="0" rtlCol="0" anchor="t"/>
          <a:lstStyle/>
          <a:p>
            <a:pPr indent="0" marL="0">
              <a:buNone/>
            </a:pPr>
            <a:r>
              <a:rPr lang="en-US" sz="1400" dirty="0">
                <a:solidFill>
                  <a:schemeClr val="bg1"/>
                </a:solidFill>
              </a:rPr>
              <a:t>Multi-plant</a:t>
            </a:r>
            <a:endParaRPr lang="en-US" sz="1400" dirty="0"/>
          </a:p>
        </p:txBody>
      </p:sp>
      <p:sp>
        <p:nvSpPr>
          <p:cNvPr id="58" name="Energy and tariff plan"/>
          <p:cNvSpPr/>
          <p:nvPr/>
        </p:nvSpPr>
        <p:spPr>
          <a:xfrm>
            <a:off x="7571049" y="5010912"/>
            <a:ext cx="128016" cy="128016"/>
          </a:xfrm>
          <a:prstGeom prst="ellipse">
            <a:avLst/>
          </a:prstGeom>
          <a:solidFill>
            <a:schemeClr val="accent2"/>
          </a:solidFill>
          <a:ln/>
        </p:spPr>
      </p:sp>
      <p:sp>
        <p:nvSpPr>
          <p:cNvPr id="59" name="Energy and tariff"/>
          <p:cNvSpPr txBox="1"/>
          <p:nvPr/>
        </p:nvSpPr>
        <p:spPr>
          <a:xfrm>
            <a:off x="7799649" y="4919472"/>
            <a:ext cx="1395923" cy="502920"/>
          </a:xfrm>
          <a:prstGeom prst="rect">
            <a:avLst/>
          </a:prstGeom>
          <a:noFill/>
          <a:ln/>
        </p:spPr>
        <p:txBody>
          <a:bodyPr wrap="square" lIns="0" tIns="0" rIns="0" bIns="0" rtlCol="0" anchor="t"/>
          <a:lstStyle/>
          <a:p>
            <a:pPr indent="0" marL="0">
              <a:buNone/>
            </a:pPr>
            <a:r>
              <a:rPr lang="en-US" sz="1400" dirty="0">
                <a:solidFill>
                  <a:schemeClr val="bg1"/>
                </a:solidFill>
              </a:rPr>
              <a:t>Energy and tariff</a:t>
            </a:r>
            <a:endParaRPr lang="en-US" sz="1400" dirty="0"/>
          </a:p>
        </p:txBody>
      </p:sp>
      <p:sp>
        <p:nvSpPr>
          <p:cNvPr id="60" name="MANAGE card"/>
          <p:cNvSpPr/>
          <p:nvPr/>
        </p:nvSpPr>
        <p:spPr>
          <a:xfrm>
            <a:off x="9607052" y="1737360"/>
            <a:ext cx="2036003" cy="3931920"/>
          </a:xfrm>
          <a:prstGeom prst="roundRect">
            <a:avLst>
              <a:gd name="adj" fmla="val 5389"/>
            </a:avLst>
          </a:prstGeom>
          <a:solidFill>
            <a:schemeClr val="tx2">
              <a:alpha val="92000"/>
            </a:schemeClr>
          </a:solidFill>
          <a:ln w="9525">
            <a:solidFill>
              <a:schemeClr val="bg2">
                <a:alpha val="22000"/>
              </a:schemeClr>
            </a:solidFill>
            <a:prstDash val="solid"/>
          </a:ln>
        </p:spPr>
      </p:sp>
      <p:sp>
        <p:nvSpPr>
          <p:cNvPr id="61" name="MANAGE tile"/>
          <p:cNvSpPr/>
          <p:nvPr/>
        </p:nvSpPr>
        <p:spPr>
          <a:xfrm>
            <a:off x="9835652" y="1965960"/>
            <a:ext cx="457200" cy="457200"/>
          </a:xfrm>
          <a:prstGeom prst="roundRect">
            <a:avLst>
              <a:gd name="adj" fmla="val 24000"/>
            </a:avLst>
          </a:prstGeom>
          <a:solidFill>
            <a:schemeClr val="bg1">
              <a:alpha val="16000"/>
            </a:schemeClr>
          </a:solidFill>
          <a:ln/>
        </p:spPr>
      </p:sp>
      <p:pic>
        <p:nvPicPr>
          <p:cNvPr id="62" name="MANAGE icon" descr="MANAGE">    </p:cNvPr>
          <p:cNvPicPr>
            <a:picLocks noChangeAspect="1"/>
          </p:cNvPicPr>
          <p:nvPr/>
        </p:nvPicPr>
        <p:blipFill>
          <a:blip r:embed="rId5"/>
          <a:stretch>
            <a:fillRect/>
          </a:stretch>
        </p:blipFill>
        <p:spPr>
          <a:xfrm>
            <a:off x="9936236" y="2066544"/>
            <a:ext cx="256032" cy="256032"/>
          </a:xfrm>
          <a:prstGeom prst="rect">
            <a:avLst/>
          </a:prstGeom>
        </p:spPr>
      </p:pic>
      <p:sp>
        <p:nvSpPr>
          <p:cNvPr id="63" name="MANAGE label"/>
          <p:cNvSpPr txBox="1"/>
          <p:nvPr/>
        </p:nvSpPr>
        <p:spPr>
          <a:xfrm>
            <a:off x="10411724" y="1965960"/>
            <a:ext cx="1121603" cy="457200"/>
          </a:xfrm>
          <a:prstGeom prst="rect">
            <a:avLst/>
          </a:prstGeom>
          <a:noFill/>
          <a:ln/>
        </p:spPr>
        <p:txBody>
          <a:bodyPr wrap="square" lIns="0" tIns="0" rIns="0" bIns="0" rtlCol="0" anchor="ctr"/>
          <a:lstStyle/>
          <a:p>
            <a:pPr indent="0" marL="0">
              <a:buNone/>
            </a:pPr>
            <a:r>
              <a:rPr lang="en-US" sz="1300" b="1" spc="200" kern="0" dirty="0">
                <a:solidFill>
                  <a:schemeClr val="bg1"/>
                </a:solidFill>
              </a:rPr>
              <a:t>MANAGE</a:t>
            </a:r>
            <a:endParaRPr lang="en-US" sz="1300" dirty="0"/>
          </a:p>
        </p:txBody>
      </p:sp>
      <p:sp>
        <p:nvSpPr>
          <p:cNvPr id="64" name="Roles and permissions plan"/>
          <p:cNvSpPr/>
          <p:nvPr/>
        </p:nvSpPr>
        <p:spPr>
          <a:xfrm>
            <a:off x="9835652" y="2743200"/>
            <a:ext cx="128016" cy="128016"/>
          </a:xfrm>
          <a:prstGeom prst="ellipse">
            <a:avLst/>
          </a:prstGeom>
          <a:solidFill>
            <a:schemeClr val="accent1"/>
          </a:solidFill>
          <a:ln/>
        </p:spPr>
      </p:sp>
      <p:sp>
        <p:nvSpPr>
          <p:cNvPr id="65" name="Roles and permissions"/>
          <p:cNvSpPr txBox="1"/>
          <p:nvPr/>
        </p:nvSpPr>
        <p:spPr>
          <a:xfrm>
            <a:off x="10064252" y="2651760"/>
            <a:ext cx="1395923" cy="502920"/>
          </a:xfrm>
          <a:prstGeom prst="rect">
            <a:avLst/>
          </a:prstGeom>
          <a:noFill/>
          <a:ln/>
        </p:spPr>
        <p:txBody>
          <a:bodyPr wrap="square" lIns="0" tIns="0" rIns="0" bIns="0" rtlCol="0" anchor="t"/>
          <a:lstStyle/>
          <a:p>
            <a:pPr indent="0" marL="0">
              <a:buNone/>
            </a:pPr>
            <a:r>
              <a:rPr lang="en-US" sz="1400" dirty="0">
                <a:solidFill>
                  <a:schemeClr val="bg1"/>
                </a:solidFill>
              </a:rPr>
              <a:t>Roles and permissions</a:t>
            </a:r>
            <a:endParaRPr lang="en-US" sz="1400" dirty="0"/>
          </a:p>
        </p:txBody>
      </p:sp>
      <p:sp>
        <p:nvSpPr>
          <p:cNvPr id="66" name="Every figure explained plan"/>
          <p:cNvSpPr/>
          <p:nvPr/>
        </p:nvSpPr>
        <p:spPr>
          <a:xfrm>
            <a:off x="9835652" y="3310128"/>
            <a:ext cx="128016" cy="128016"/>
          </a:xfrm>
          <a:prstGeom prst="ellipse">
            <a:avLst/>
          </a:prstGeom>
          <a:solidFill>
            <a:schemeClr val="accent1"/>
          </a:solidFill>
          <a:ln/>
        </p:spPr>
      </p:sp>
      <p:sp>
        <p:nvSpPr>
          <p:cNvPr id="67" name="Every figure explained"/>
          <p:cNvSpPr txBox="1"/>
          <p:nvPr/>
        </p:nvSpPr>
        <p:spPr>
          <a:xfrm>
            <a:off x="10064252" y="3218688"/>
            <a:ext cx="1395923" cy="502920"/>
          </a:xfrm>
          <a:prstGeom prst="rect">
            <a:avLst/>
          </a:prstGeom>
          <a:noFill/>
          <a:ln/>
        </p:spPr>
        <p:txBody>
          <a:bodyPr wrap="square" lIns="0" tIns="0" rIns="0" bIns="0" rtlCol="0" anchor="t"/>
          <a:lstStyle/>
          <a:p>
            <a:pPr indent="0" marL="0">
              <a:buNone/>
            </a:pPr>
            <a:r>
              <a:rPr lang="en-US" sz="1400" dirty="0">
                <a:solidFill>
                  <a:schemeClr val="bg1"/>
                </a:solidFill>
              </a:rPr>
              <a:t>Every figure explained</a:t>
            </a:r>
            <a:endParaRPr lang="en-US" sz="1400" dirty="0"/>
          </a:p>
        </p:txBody>
      </p:sp>
      <p:sp>
        <p:nvSpPr>
          <p:cNvPr id="68" name="Any screen, light or dark plan"/>
          <p:cNvSpPr/>
          <p:nvPr/>
        </p:nvSpPr>
        <p:spPr>
          <a:xfrm>
            <a:off x="9835652" y="3877056"/>
            <a:ext cx="128016" cy="128016"/>
          </a:xfrm>
          <a:prstGeom prst="ellipse">
            <a:avLst/>
          </a:prstGeom>
          <a:solidFill>
            <a:schemeClr val="accent1"/>
          </a:solidFill>
          <a:ln/>
        </p:spPr>
      </p:sp>
      <p:sp>
        <p:nvSpPr>
          <p:cNvPr id="69" name="Any screen, light or dark"/>
          <p:cNvSpPr txBox="1"/>
          <p:nvPr/>
        </p:nvSpPr>
        <p:spPr>
          <a:xfrm>
            <a:off x="10064252" y="3785616"/>
            <a:ext cx="1395923" cy="502920"/>
          </a:xfrm>
          <a:prstGeom prst="rect">
            <a:avLst/>
          </a:prstGeom>
          <a:noFill/>
          <a:ln/>
        </p:spPr>
        <p:txBody>
          <a:bodyPr wrap="square" lIns="0" tIns="0" rIns="0" bIns="0" rtlCol="0" anchor="t"/>
          <a:lstStyle/>
          <a:p>
            <a:pPr indent="0" marL="0">
              <a:buNone/>
            </a:pPr>
            <a:r>
              <a:rPr lang="en-US" sz="1400" dirty="0">
                <a:solidFill>
                  <a:schemeClr val="bg1"/>
                </a:solidFill>
              </a:rPr>
              <a:t>Any screen, light or dark</a:t>
            </a:r>
            <a:endParaRPr lang="en-US" sz="1400" dirty="0"/>
          </a:p>
        </p:txBody>
      </p:sp>
      <p:sp>
        <p:nvSpPr>
          <p:cNvPr id="70" name="Your server or our cloud plan"/>
          <p:cNvSpPr/>
          <p:nvPr/>
        </p:nvSpPr>
        <p:spPr>
          <a:xfrm>
            <a:off x="9835652" y="4443984"/>
            <a:ext cx="128016" cy="128016"/>
          </a:xfrm>
          <a:prstGeom prst="ellipse">
            <a:avLst/>
          </a:prstGeom>
          <a:solidFill>
            <a:schemeClr val="accent1"/>
          </a:solidFill>
          <a:ln/>
        </p:spPr>
      </p:sp>
      <p:sp>
        <p:nvSpPr>
          <p:cNvPr id="71" name="Your server or our cloud"/>
          <p:cNvSpPr txBox="1"/>
          <p:nvPr/>
        </p:nvSpPr>
        <p:spPr>
          <a:xfrm>
            <a:off x="10064252" y="4352544"/>
            <a:ext cx="1395923" cy="502920"/>
          </a:xfrm>
          <a:prstGeom prst="rect">
            <a:avLst/>
          </a:prstGeom>
          <a:noFill/>
          <a:ln/>
        </p:spPr>
        <p:txBody>
          <a:bodyPr wrap="square" lIns="0" tIns="0" rIns="0" bIns="0" rtlCol="0" anchor="t"/>
          <a:lstStyle/>
          <a:p>
            <a:pPr indent="0" marL="0">
              <a:buNone/>
            </a:pPr>
            <a:r>
              <a:rPr lang="en-US" sz="1400" dirty="0">
                <a:solidFill>
                  <a:schemeClr val="bg1"/>
                </a:solidFill>
              </a:rPr>
              <a:t>Your server or our cloud</a:t>
            </a:r>
            <a:endParaRPr lang="en-US" sz="1400" dirty="0"/>
          </a:p>
        </p:txBody>
      </p:sp>
      <p:sp>
        <p:nvSpPr>
          <p:cNvPr id="72" name="Dharstec AI assistant plan"/>
          <p:cNvSpPr/>
          <p:nvPr/>
        </p:nvSpPr>
        <p:spPr>
          <a:xfrm>
            <a:off x="9835652" y="5010912"/>
            <a:ext cx="128016" cy="128016"/>
          </a:xfrm>
          <a:prstGeom prst="ellipse">
            <a:avLst/>
          </a:prstGeom>
          <a:solidFill>
            <a:schemeClr val="accent4"/>
          </a:solidFill>
          <a:ln/>
        </p:spPr>
      </p:sp>
      <p:sp>
        <p:nvSpPr>
          <p:cNvPr id="73" name="Dharstec AI assistant"/>
          <p:cNvSpPr txBox="1"/>
          <p:nvPr/>
        </p:nvSpPr>
        <p:spPr>
          <a:xfrm>
            <a:off x="10064252" y="4919472"/>
            <a:ext cx="1395923" cy="502920"/>
          </a:xfrm>
          <a:prstGeom prst="rect">
            <a:avLst/>
          </a:prstGeom>
          <a:noFill/>
          <a:ln/>
        </p:spPr>
        <p:txBody>
          <a:bodyPr wrap="square" lIns="0" tIns="0" rIns="0" bIns="0" rtlCol="0" anchor="t"/>
          <a:lstStyle/>
          <a:p>
            <a:pPr indent="0" marL="0">
              <a:buNone/>
            </a:pPr>
            <a:r>
              <a:rPr lang="en-US" sz="1400" b="1" dirty="0">
                <a:solidFill>
                  <a:schemeClr val="accent6"/>
                </a:solidFill>
              </a:rPr>
              <a:t>Dharstec AI assistant</a:t>
            </a:r>
            <a:endParaRPr lang="en-US" sz="1400" dirty="0"/>
          </a:p>
        </p:txBody>
      </p:sp>
      <p:sp>
        <p:nvSpPr>
          <p:cNvPr id="74" name="All plans key"/>
          <p:cNvSpPr/>
          <p:nvPr/>
        </p:nvSpPr>
        <p:spPr>
          <a:xfrm>
            <a:off x="548640" y="5897880"/>
            <a:ext cx="128016" cy="128016"/>
          </a:xfrm>
          <a:prstGeom prst="ellipse">
            <a:avLst/>
          </a:prstGeom>
          <a:solidFill>
            <a:schemeClr val="accent1"/>
          </a:solidFill>
          <a:ln/>
        </p:spPr>
      </p:sp>
      <p:sp>
        <p:nvSpPr>
          <p:cNvPr id="75" name="All plans key text"/>
          <p:cNvSpPr txBox="1"/>
          <p:nvPr/>
        </p:nvSpPr>
        <p:spPr>
          <a:xfrm>
            <a:off x="768096" y="5824728"/>
            <a:ext cx="749808" cy="274320"/>
          </a:xfrm>
          <a:prstGeom prst="rect">
            <a:avLst/>
          </a:prstGeom>
          <a:noFill/>
          <a:ln/>
        </p:spPr>
        <p:txBody>
          <a:bodyPr wrap="square" lIns="0" tIns="0" rIns="0" bIns="0" rtlCol="0" anchor="ctr"/>
          <a:lstStyle/>
          <a:p>
            <a:pPr indent="0" marL="0">
              <a:buNone/>
            </a:pPr>
            <a:r>
              <a:rPr lang="en-US" sz="1200" dirty="0">
                <a:solidFill>
                  <a:schemeClr val="bg2"/>
                </a:solidFill>
              </a:rPr>
              <a:t>All plans</a:t>
            </a:r>
            <a:endParaRPr lang="en-US" sz="1200" dirty="0"/>
          </a:p>
        </p:txBody>
      </p:sp>
      <p:sp>
        <p:nvSpPr>
          <p:cNvPr id="76" name="Standard and Premium key"/>
          <p:cNvSpPr/>
          <p:nvPr/>
        </p:nvSpPr>
        <p:spPr>
          <a:xfrm>
            <a:off x="1837944" y="5897880"/>
            <a:ext cx="128016" cy="128016"/>
          </a:xfrm>
          <a:prstGeom prst="ellipse">
            <a:avLst/>
          </a:prstGeom>
          <a:solidFill>
            <a:schemeClr val="accent2"/>
          </a:solidFill>
          <a:ln/>
        </p:spPr>
      </p:sp>
      <p:sp>
        <p:nvSpPr>
          <p:cNvPr id="77" name="Standard and Premium key text"/>
          <p:cNvSpPr txBox="1"/>
          <p:nvPr/>
        </p:nvSpPr>
        <p:spPr>
          <a:xfrm>
            <a:off x="2057400" y="5824728"/>
            <a:ext cx="1554480" cy="274320"/>
          </a:xfrm>
          <a:prstGeom prst="rect">
            <a:avLst/>
          </a:prstGeom>
          <a:noFill/>
          <a:ln/>
        </p:spPr>
        <p:txBody>
          <a:bodyPr wrap="square" lIns="0" tIns="0" rIns="0" bIns="0" rtlCol="0" anchor="ctr"/>
          <a:lstStyle/>
          <a:p>
            <a:pPr indent="0" marL="0">
              <a:buNone/>
            </a:pPr>
            <a:r>
              <a:rPr lang="en-US" sz="1200" dirty="0">
                <a:solidFill>
                  <a:schemeClr val="bg2"/>
                </a:solidFill>
              </a:rPr>
              <a:t>Standard and Premium</a:t>
            </a:r>
            <a:endParaRPr lang="en-US" sz="1200" dirty="0"/>
          </a:p>
        </p:txBody>
      </p:sp>
      <p:sp>
        <p:nvSpPr>
          <p:cNvPr id="78" name="Premium key"/>
          <p:cNvSpPr/>
          <p:nvPr/>
        </p:nvSpPr>
        <p:spPr>
          <a:xfrm>
            <a:off x="3931920" y="5897880"/>
            <a:ext cx="128016" cy="128016"/>
          </a:xfrm>
          <a:prstGeom prst="ellipse">
            <a:avLst/>
          </a:prstGeom>
          <a:solidFill>
            <a:schemeClr val="accent6"/>
          </a:solidFill>
          <a:ln/>
        </p:spPr>
      </p:sp>
      <p:sp>
        <p:nvSpPr>
          <p:cNvPr id="79" name="Premium key text"/>
          <p:cNvSpPr txBox="1"/>
          <p:nvPr/>
        </p:nvSpPr>
        <p:spPr>
          <a:xfrm>
            <a:off x="4151376" y="5824728"/>
            <a:ext cx="603504" cy="274320"/>
          </a:xfrm>
          <a:prstGeom prst="rect">
            <a:avLst/>
          </a:prstGeom>
          <a:noFill/>
          <a:ln/>
        </p:spPr>
        <p:txBody>
          <a:bodyPr wrap="square" lIns="0" tIns="0" rIns="0" bIns="0" rtlCol="0" anchor="ctr"/>
          <a:lstStyle/>
          <a:p>
            <a:pPr indent="0" marL="0">
              <a:buNone/>
            </a:pPr>
            <a:r>
              <a:rPr lang="en-US" sz="1200" dirty="0">
                <a:solidFill>
                  <a:schemeClr val="bg2"/>
                </a:solidFill>
              </a:rPr>
              <a:t>Premium</a:t>
            </a:r>
            <a:endParaRPr lang="en-US" sz="1200" dirty="0"/>
          </a:p>
        </p:txBody>
      </p:sp>
      <p:sp>
        <p:nvSpPr>
          <p:cNvPr id="80" name="Add-on key"/>
          <p:cNvSpPr/>
          <p:nvPr/>
        </p:nvSpPr>
        <p:spPr>
          <a:xfrm>
            <a:off x="5074920" y="5897880"/>
            <a:ext cx="128016" cy="128016"/>
          </a:xfrm>
          <a:prstGeom prst="ellipse">
            <a:avLst/>
          </a:prstGeom>
          <a:solidFill>
            <a:schemeClr val="accent4"/>
          </a:solidFill>
          <a:ln/>
        </p:spPr>
      </p:sp>
      <p:sp>
        <p:nvSpPr>
          <p:cNvPr id="81" name="Add-on key text"/>
          <p:cNvSpPr txBox="1"/>
          <p:nvPr/>
        </p:nvSpPr>
        <p:spPr>
          <a:xfrm>
            <a:off x="5294376" y="5824728"/>
            <a:ext cx="530352" cy="274320"/>
          </a:xfrm>
          <a:prstGeom prst="rect">
            <a:avLst/>
          </a:prstGeom>
          <a:noFill/>
          <a:ln/>
        </p:spPr>
        <p:txBody>
          <a:bodyPr wrap="square" lIns="0" tIns="0" rIns="0" bIns="0" rtlCol="0" anchor="ctr"/>
          <a:lstStyle/>
          <a:p>
            <a:pPr indent="0" marL="0">
              <a:buNone/>
            </a:pPr>
            <a:r>
              <a:rPr lang="en-US" sz="1200" dirty="0">
                <a:solidFill>
                  <a:schemeClr val="bg2"/>
                </a:solidFill>
              </a:rPr>
              <a:t>Add-on</a:t>
            </a:r>
            <a:endParaRPr lang="en-US" sz="12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WHERE IT RUNS</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Runs on your server or our cloud</a:t>
            </a:r>
            <a:endParaRPr lang="en-US" sz="3600" dirty="0"/>
          </a:p>
        </p:txBody>
      </p:sp>
      <p:sp>
        <p:nvSpPr>
          <p:cNvPr id="4" name="On-premise card"/>
          <p:cNvSpPr/>
          <p:nvPr/>
        </p:nvSpPr>
        <p:spPr>
          <a:xfrm>
            <a:off x="548640" y="1783080"/>
            <a:ext cx="5410048" cy="3840480"/>
          </a:xfrm>
          <a:prstGeom prst="roundRect">
            <a:avLst>
              <a:gd name="adj" fmla="val 2857"/>
            </a:avLst>
          </a:prstGeom>
          <a:solidFill>
            <a:schemeClr val="tx2">
              <a:alpha val="92000"/>
            </a:schemeClr>
          </a:solidFill>
          <a:ln w="9525">
            <a:solidFill>
              <a:schemeClr val="bg2">
                <a:alpha val="22000"/>
              </a:schemeClr>
            </a:solidFill>
            <a:prstDash val="solid"/>
          </a:ln>
        </p:spPr>
      </p:sp>
      <p:sp>
        <p:nvSpPr>
          <p:cNvPr id="5" name="On-premise tile"/>
          <p:cNvSpPr/>
          <p:nvPr/>
        </p:nvSpPr>
        <p:spPr>
          <a:xfrm>
            <a:off x="914400" y="2148840"/>
            <a:ext cx="685800" cy="685800"/>
          </a:xfrm>
          <a:prstGeom prst="roundRect">
            <a:avLst>
              <a:gd name="adj" fmla="val 24000"/>
            </a:avLst>
          </a:prstGeom>
          <a:solidFill>
            <a:schemeClr val="accent1">
              <a:alpha val="16000"/>
            </a:schemeClr>
          </a:solidFill>
          <a:ln/>
        </p:spPr>
      </p:sp>
      <p:pic>
        <p:nvPicPr>
          <p:cNvPr id="6" name="On-premise icon" descr="On-premise">    </p:cNvPr>
          <p:cNvPicPr>
            <a:picLocks noChangeAspect="1"/>
          </p:cNvPicPr>
          <p:nvPr/>
        </p:nvPicPr>
        <p:blipFill>
          <a:blip r:embed="rId1"/>
          <a:stretch>
            <a:fillRect/>
          </a:stretch>
        </p:blipFill>
        <p:spPr>
          <a:xfrm>
            <a:off x="1065276" y="2299716"/>
            <a:ext cx="384048" cy="384048"/>
          </a:xfrm>
          <a:prstGeom prst="rect">
            <a:avLst/>
          </a:prstGeom>
        </p:spPr>
      </p:pic>
      <p:sp>
        <p:nvSpPr>
          <p:cNvPr id="7" name="On-premise label"/>
          <p:cNvSpPr txBox="1"/>
          <p:nvPr/>
        </p:nvSpPr>
        <p:spPr>
          <a:xfrm>
            <a:off x="1783080" y="2167128"/>
            <a:ext cx="380984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YOUR OWN SERVER</a:t>
            </a:r>
            <a:endParaRPr lang="en-US" sz="1200" dirty="0"/>
          </a:p>
        </p:txBody>
      </p:sp>
      <p:sp>
        <p:nvSpPr>
          <p:cNvPr id="8" name="On-premise heading"/>
          <p:cNvSpPr txBox="1"/>
          <p:nvPr/>
        </p:nvSpPr>
        <p:spPr>
          <a:xfrm>
            <a:off x="1783080" y="2432304"/>
            <a:ext cx="3809848" cy="438912"/>
          </a:xfrm>
          <a:prstGeom prst="rect">
            <a:avLst/>
          </a:prstGeom>
          <a:noFill/>
          <a:ln/>
        </p:spPr>
        <p:txBody>
          <a:bodyPr wrap="square" lIns="0" tIns="0" rIns="0" bIns="0" rtlCol="0" anchor="t"/>
          <a:lstStyle/>
          <a:p>
            <a:pPr indent="0" marL="0">
              <a:buNone/>
            </a:pPr>
            <a:r>
              <a:rPr lang="en-US" sz="2400" b="1" dirty="0">
                <a:solidFill>
                  <a:schemeClr val="bg1"/>
                </a:solidFill>
              </a:rPr>
              <a:t>On-premise</a:t>
            </a:r>
            <a:endParaRPr lang="en-US" sz="2400" dirty="0"/>
          </a:p>
        </p:txBody>
      </p:sp>
      <p:sp>
        <p:nvSpPr>
          <p:cNvPr id="9" name="Yearly fee"/>
          <p:cNvSpPr txBox="1"/>
          <p:nvPr/>
        </p:nvSpPr>
        <p:spPr>
          <a:xfrm>
            <a:off x="914400" y="3200400"/>
            <a:ext cx="4678528" cy="502920"/>
          </a:xfrm>
          <a:prstGeom prst="rect">
            <a:avLst/>
          </a:prstGeom>
          <a:noFill/>
          <a:ln/>
        </p:spPr>
        <p:txBody>
          <a:bodyPr wrap="square" lIns="0" tIns="0" rIns="0" bIns="0" rtlCol="0" anchor="ctr"/>
          <a:lstStyle/>
          <a:p>
            <a:pPr indent="0" marL="0">
              <a:buNone/>
            </a:pPr>
            <a:r>
              <a:rPr lang="en-US" sz="2800" b="1" dirty="0">
                <a:solidFill>
                  <a:schemeClr val="accent3"/>
                </a:solidFill>
              </a:rPr>
              <a:t>No yearly fee</a:t>
            </a:r>
            <a:endParaRPr lang="en-US" sz="2800" dirty="0"/>
          </a:p>
        </p:txBody>
      </p:sp>
      <p:sp>
        <p:nvSpPr>
          <p:cNvPr id="10" name="Yearly fee note"/>
          <p:cNvSpPr txBox="1"/>
          <p:nvPr/>
        </p:nvSpPr>
        <p:spPr>
          <a:xfrm>
            <a:off x="914400" y="3749040"/>
            <a:ext cx="4678528" cy="274320"/>
          </a:xfrm>
          <a:prstGeom prst="rect">
            <a:avLst/>
          </a:prstGeom>
          <a:noFill/>
          <a:ln/>
        </p:spPr>
        <p:txBody>
          <a:bodyPr wrap="square" lIns="0" tIns="0" rIns="0" bIns="0" rtlCol="0" anchor="t"/>
          <a:lstStyle/>
          <a:p>
            <a:pPr indent="0" marL="0">
              <a:buNone/>
            </a:pPr>
            <a:r>
              <a:rPr lang="en-US" sz="1200" dirty="0">
                <a:solidFill>
                  <a:schemeClr val="bg2"/>
                </a:solidFill>
              </a:rPr>
              <a:t>The software is paid once per machine</a:t>
            </a:r>
            <a:endParaRPr lang="en-US" sz="1200" dirty="0"/>
          </a:p>
        </p:txBody>
      </p:sp>
      <p:pic>
        <p:nvPicPr>
          <p:cNvPr id="11" name="All data stays inside your network tick" descr="Included">    </p:cNvPr>
          <p:cNvPicPr>
            <a:picLocks noChangeAspect="1"/>
          </p:cNvPicPr>
          <p:nvPr/>
        </p:nvPicPr>
        <p:blipFill>
          <a:blip r:embed="rId2"/>
          <a:stretch>
            <a:fillRect/>
          </a:stretch>
        </p:blipFill>
        <p:spPr>
          <a:xfrm>
            <a:off x="914400" y="4251960"/>
            <a:ext cx="219456" cy="219456"/>
          </a:xfrm>
          <a:prstGeom prst="rect">
            <a:avLst/>
          </a:prstGeom>
        </p:spPr>
      </p:pic>
      <p:sp>
        <p:nvSpPr>
          <p:cNvPr id="12" name="All data stays inside your network"/>
          <p:cNvSpPr txBox="1"/>
          <p:nvPr/>
        </p:nvSpPr>
        <p:spPr>
          <a:xfrm>
            <a:off x="1243584" y="4206240"/>
            <a:ext cx="4349344" cy="310896"/>
          </a:xfrm>
          <a:prstGeom prst="rect">
            <a:avLst/>
          </a:prstGeom>
          <a:noFill/>
          <a:ln/>
        </p:spPr>
        <p:txBody>
          <a:bodyPr wrap="square" lIns="0" tIns="0" rIns="0" bIns="0" rtlCol="0" anchor="ctr"/>
          <a:lstStyle/>
          <a:p>
            <a:pPr indent="0" marL="0">
              <a:buNone/>
            </a:pPr>
            <a:r>
              <a:rPr lang="en-US" sz="1500" dirty="0">
                <a:solidFill>
                  <a:schemeClr val="bg1"/>
                </a:solidFill>
              </a:rPr>
              <a:t>All data stays inside your network</a:t>
            </a:r>
            <a:endParaRPr lang="en-US" sz="1500" dirty="0"/>
          </a:p>
        </p:txBody>
      </p:sp>
      <p:pic>
        <p:nvPicPr>
          <p:cNvPr id="13" name="Keeps working without the internet tick" descr="Included">    </p:cNvPr>
          <p:cNvPicPr>
            <a:picLocks noChangeAspect="1"/>
          </p:cNvPicPr>
          <p:nvPr/>
        </p:nvPicPr>
        <p:blipFill>
          <a:blip r:embed="rId3"/>
          <a:stretch>
            <a:fillRect/>
          </a:stretch>
        </p:blipFill>
        <p:spPr>
          <a:xfrm>
            <a:off x="914400" y="4690872"/>
            <a:ext cx="219456" cy="219456"/>
          </a:xfrm>
          <a:prstGeom prst="rect">
            <a:avLst/>
          </a:prstGeom>
        </p:spPr>
      </p:pic>
      <p:sp>
        <p:nvSpPr>
          <p:cNvPr id="14" name="Keeps working without the internet"/>
          <p:cNvSpPr txBox="1"/>
          <p:nvPr/>
        </p:nvSpPr>
        <p:spPr>
          <a:xfrm>
            <a:off x="1243584" y="4645152"/>
            <a:ext cx="4349344" cy="310896"/>
          </a:xfrm>
          <a:prstGeom prst="rect">
            <a:avLst/>
          </a:prstGeom>
          <a:noFill/>
          <a:ln/>
        </p:spPr>
        <p:txBody>
          <a:bodyPr wrap="square" lIns="0" tIns="0" rIns="0" bIns="0" rtlCol="0" anchor="ctr"/>
          <a:lstStyle/>
          <a:p>
            <a:pPr indent="0" marL="0">
              <a:buNone/>
            </a:pPr>
            <a:r>
              <a:rPr lang="en-US" sz="1500" dirty="0">
                <a:solidFill>
                  <a:schemeClr val="bg1"/>
                </a:solidFill>
              </a:rPr>
              <a:t>Keeps working without the internet</a:t>
            </a:r>
            <a:endParaRPr lang="en-US" sz="1500" dirty="0"/>
          </a:p>
        </p:txBody>
      </p:sp>
      <p:pic>
        <p:nvPicPr>
          <p:cNvPr id="15" name="You provide the server at your site tick" descr="Included">    </p:cNvPr>
          <p:cNvPicPr>
            <a:picLocks noChangeAspect="1"/>
          </p:cNvPicPr>
          <p:nvPr/>
        </p:nvPicPr>
        <p:blipFill>
          <a:blip r:embed="rId4"/>
          <a:stretch>
            <a:fillRect/>
          </a:stretch>
        </p:blipFill>
        <p:spPr>
          <a:xfrm>
            <a:off x="914400" y="5129784"/>
            <a:ext cx="219456" cy="219456"/>
          </a:xfrm>
          <a:prstGeom prst="rect">
            <a:avLst/>
          </a:prstGeom>
        </p:spPr>
      </p:pic>
      <p:sp>
        <p:nvSpPr>
          <p:cNvPr id="16" name="You provide the server at your site"/>
          <p:cNvSpPr txBox="1"/>
          <p:nvPr/>
        </p:nvSpPr>
        <p:spPr>
          <a:xfrm>
            <a:off x="1243584" y="5084064"/>
            <a:ext cx="4349344" cy="310896"/>
          </a:xfrm>
          <a:prstGeom prst="rect">
            <a:avLst/>
          </a:prstGeom>
          <a:noFill/>
          <a:ln/>
        </p:spPr>
        <p:txBody>
          <a:bodyPr wrap="square" lIns="0" tIns="0" rIns="0" bIns="0" rtlCol="0" anchor="ctr"/>
          <a:lstStyle/>
          <a:p>
            <a:pPr indent="0" marL="0">
              <a:buNone/>
            </a:pPr>
            <a:r>
              <a:rPr lang="en-US" sz="1500" dirty="0">
                <a:solidFill>
                  <a:schemeClr val="bg1"/>
                </a:solidFill>
              </a:rPr>
              <a:t>You provide the server at your site</a:t>
            </a:r>
            <a:endParaRPr lang="en-US" sz="1500" dirty="0"/>
          </a:p>
        </p:txBody>
      </p:sp>
      <p:sp>
        <p:nvSpPr>
          <p:cNvPr id="17" name="Dharstec cloud card"/>
          <p:cNvSpPr/>
          <p:nvPr/>
        </p:nvSpPr>
        <p:spPr>
          <a:xfrm>
            <a:off x="6233008" y="1783080"/>
            <a:ext cx="5410048" cy="3840480"/>
          </a:xfrm>
          <a:prstGeom prst="roundRect">
            <a:avLst>
              <a:gd name="adj" fmla="val 2857"/>
            </a:avLst>
          </a:prstGeom>
          <a:solidFill>
            <a:schemeClr val="tx2">
              <a:alpha val="92000"/>
            </a:schemeClr>
          </a:solidFill>
          <a:ln w="9525">
            <a:solidFill>
              <a:schemeClr val="bg2">
                <a:alpha val="22000"/>
              </a:schemeClr>
            </a:solidFill>
            <a:prstDash val="solid"/>
          </a:ln>
        </p:spPr>
      </p:sp>
      <p:sp>
        <p:nvSpPr>
          <p:cNvPr id="18" name="Dharstec cloud tile"/>
          <p:cNvSpPr/>
          <p:nvPr/>
        </p:nvSpPr>
        <p:spPr>
          <a:xfrm>
            <a:off x="6598768" y="2148840"/>
            <a:ext cx="685800" cy="685800"/>
          </a:xfrm>
          <a:prstGeom prst="roundRect">
            <a:avLst>
              <a:gd name="adj" fmla="val 24000"/>
            </a:avLst>
          </a:prstGeom>
          <a:solidFill>
            <a:schemeClr val="accent2">
              <a:alpha val="16000"/>
            </a:schemeClr>
          </a:solidFill>
          <a:ln/>
        </p:spPr>
      </p:sp>
      <p:pic>
        <p:nvPicPr>
          <p:cNvPr id="19" name="Dharstec cloud icon" descr="Dharstec cloud">    </p:cNvPr>
          <p:cNvPicPr>
            <a:picLocks noChangeAspect="1"/>
          </p:cNvPicPr>
          <p:nvPr/>
        </p:nvPicPr>
        <p:blipFill>
          <a:blip r:embed="rId5"/>
          <a:stretch>
            <a:fillRect/>
          </a:stretch>
        </p:blipFill>
        <p:spPr>
          <a:xfrm>
            <a:off x="6749644" y="2299716"/>
            <a:ext cx="384048" cy="384048"/>
          </a:xfrm>
          <a:prstGeom prst="rect">
            <a:avLst/>
          </a:prstGeom>
        </p:spPr>
      </p:pic>
      <p:sp>
        <p:nvSpPr>
          <p:cNvPr id="20" name="Dharstec cloud label"/>
          <p:cNvSpPr txBox="1"/>
          <p:nvPr/>
        </p:nvSpPr>
        <p:spPr>
          <a:xfrm>
            <a:off x="7467448" y="2167128"/>
            <a:ext cx="380984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HOSTED FOR YOU</a:t>
            </a:r>
            <a:endParaRPr lang="en-US" sz="1200" dirty="0"/>
          </a:p>
        </p:txBody>
      </p:sp>
      <p:sp>
        <p:nvSpPr>
          <p:cNvPr id="21" name="Dharstec cloud heading"/>
          <p:cNvSpPr txBox="1"/>
          <p:nvPr/>
        </p:nvSpPr>
        <p:spPr>
          <a:xfrm>
            <a:off x="7467448" y="2432304"/>
            <a:ext cx="3809848" cy="438912"/>
          </a:xfrm>
          <a:prstGeom prst="rect">
            <a:avLst/>
          </a:prstGeom>
          <a:noFill/>
          <a:ln/>
        </p:spPr>
        <p:txBody>
          <a:bodyPr wrap="square" lIns="0" tIns="0" rIns="0" bIns="0" rtlCol="0" anchor="t"/>
          <a:lstStyle/>
          <a:p>
            <a:pPr indent="0" marL="0">
              <a:buNone/>
            </a:pPr>
            <a:r>
              <a:rPr lang="en-US" sz="2400" b="1" dirty="0">
                <a:solidFill>
                  <a:schemeClr val="bg1"/>
                </a:solidFill>
              </a:rPr>
              <a:t>Dharstec cloud</a:t>
            </a:r>
            <a:endParaRPr lang="en-US" sz="2400" dirty="0"/>
          </a:p>
        </p:txBody>
      </p:sp>
      <p:sp>
        <p:nvSpPr>
          <p:cNvPr id="22" name="BASIC cloud plan"/>
          <p:cNvSpPr txBox="1"/>
          <p:nvPr/>
        </p:nvSpPr>
        <p:spPr>
          <a:xfrm>
            <a:off x="6598768" y="3127248"/>
            <a:ext cx="1463040" cy="228600"/>
          </a:xfrm>
          <a:prstGeom prst="rect">
            <a:avLst/>
          </a:prstGeom>
          <a:noFill/>
          <a:ln/>
        </p:spPr>
        <p:txBody>
          <a:bodyPr wrap="square" lIns="0" tIns="0" rIns="0" bIns="0" rtlCol="0" anchor="t"/>
          <a:lstStyle/>
          <a:p>
            <a:pPr indent="0" marL="0">
              <a:buNone/>
            </a:pPr>
            <a:r>
              <a:rPr lang="en-US" sz="1100" b="1" spc="150" kern="0" dirty="0">
                <a:solidFill>
                  <a:schemeClr val="bg2"/>
                </a:solidFill>
              </a:rPr>
              <a:t>BASIC</a:t>
            </a:r>
            <a:endParaRPr lang="en-US" sz="1100" dirty="0"/>
          </a:p>
        </p:txBody>
      </p:sp>
      <p:sp>
        <p:nvSpPr>
          <p:cNvPr id="23" name="BASIC cloud fee"/>
          <p:cNvSpPr txBox="1"/>
          <p:nvPr/>
        </p:nvSpPr>
        <p:spPr>
          <a:xfrm>
            <a:off x="6598768" y="3328416"/>
            <a:ext cx="1463040" cy="384048"/>
          </a:xfrm>
          <a:prstGeom prst="rect">
            <a:avLst/>
          </a:prstGeom>
          <a:noFill/>
          <a:ln/>
        </p:spPr>
        <p:txBody>
          <a:bodyPr wrap="square" lIns="0" tIns="0" rIns="0" bIns="0" rtlCol="0" anchor="ctr"/>
          <a:lstStyle/>
          <a:p>
            <a:pPr indent="0" marL="0">
              <a:buNone/>
            </a:pPr>
            <a:r>
              <a:rPr lang="en-US" sz="2400" b="1" dirty="0">
                <a:solidFill>
                  <a:schemeClr val="bg1"/>
                </a:solidFill>
              </a:rPr>
              <a:t>₹8,000</a:t>
            </a:r>
            <a:endParaRPr lang="en-US" sz="2400" dirty="0"/>
          </a:p>
        </p:txBody>
      </p:sp>
      <p:sp>
        <p:nvSpPr>
          <p:cNvPr id="24" name="STANDARD cloud plan"/>
          <p:cNvSpPr txBox="1"/>
          <p:nvPr/>
        </p:nvSpPr>
        <p:spPr>
          <a:xfrm>
            <a:off x="8198968" y="3127248"/>
            <a:ext cx="1463040" cy="228600"/>
          </a:xfrm>
          <a:prstGeom prst="rect">
            <a:avLst/>
          </a:prstGeom>
          <a:noFill/>
          <a:ln/>
        </p:spPr>
        <p:txBody>
          <a:bodyPr wrap="square" lIns="0" tIns="0" rIns="0" bIns="0" rtlCol="0" anchor="t"/>
          <a:lstStyle/>
          <a:p>
            <a:pPr indent="0" marL="0">
              <a:buNone/>
            </a:pPr>
            <a:r>
              <a:rPr lang="en-US" sz="1100" b="1" spc="150" kern="0" dirty="0">
                <a:solidFill>
                  <a:schemeClr val="bg2"/>
                </a:solidFill>
              </a:rPr>
              <a:t>STANDARD</a:t>
            </a:r>
            <a:endParaRPr lang="en-US" sz="1100" dirty="0"/>
          </a:p>
        </p:txBody>
      </p:sp>
      <p:sp>
        <p:nvSpPr>
          <p:cNvPr id="25" name="STANDARD cloud fee"/>
          <p:cNvSpPr txBox="1"/>
          <p:nvPr/>
        </p:nvSpPr>
        <p:spPr>
          <a:xfrm>
            <a:off x="8198968" y="3328416"/>
            <a:ext cx="1463040" cy="384048"/>
          </a:xfrm>
          <a:prstGeom prst="rect">
            <a:avLst/>
          </a:prstGeom>
          <a:noFill/>
          <a:ln/>
        </p:spPr>
        <p:txBody>
          <a:bodyPr wrap="square" lIns="0" tIns="0" rIns="0" bIns="0" rtlCol="0" anchor="ctr"/>
          <a:lstStyle/>
          <a:p>
            <a:pPr indent="0" marL="0">
              <a:buNone/>
            </a:pPr>
            <a:r>
              <a:rPr lang="en-US" sz="2400" b="1" dirty="0">
                <a:solidFill>
                  <a:schemeClr val="bg1"/>
                </a:solidFill>
              </a:rPr>
              <a:t>₹10,000</a:t>
            </a:r>
            <a:endParaRPr lang="en-US" sz="2400" dirty="0"/>
          </a:p>
        </p:txBody>
      </p:sp>
      <p:sp>
        <p:nvSpPr>
          <p:cNvPr id="26" name="PREMIUM cloud plan"/>
          <p:cNvSpPr txBox="1"/>
          <p:nvPr/>
        </p:nvSpPr>
        <p:spPr>
          <a:xfrm>
            <a:off x="9799168" y="3127248"/>
            <a:ext cx="1463040" cy="228600"/>
          </a:xfrm>
          <a:prstGeom prst="rect">
            <a:avLst/>
          </a:prstGeom>
          <a:noFill/>
          <a:ln/>
        </p:spPr>
        <p:txBody>
          <a:bodyPr wrap="square" lIns="0" tIns="0" rIns="0" bIns="0" rtlCol="0" anchor="t"/>
          <a:lstStyle/>
          <a:p>
            <a:pPr indent="0" marL="0">
              <a:buNone/>
            </a:pPr>
            <a:r>
              <a:rPr lang="en-US" sz="1100" b="1" spc="150" kern="0" dirty="0">
                <a:solidFill>
                  <a:schemeClr val="bg2"/>
                </a:solidFill>
              </a:rPr>
              <a:t>PREMIUM</a:t>
            </a:r>
            <a:endParaRPr lang="en-US" sz="1100" dirty="0"/>
          </a:p>
        </p:txBody>
      </p:sp>
      <p:sp>
        <p:nvSpPr>
          <p:cNvPr id="27" name="PREMIUM cloud fee"/>
          <p:cNvSpPr txBox="1"/>
          <p:nvPr/>
        </p:nvSpPr>
        <p:spPr>
          <a:xfrm>
            <a:off x="9799168" y="3328416"/>
            <a:ext cx="1463040" cy="384048"/>
          </a:xfrm>
          <a:prstGeom prst="rect">
            <a:avLst/>
          </a:prstGeom>
          <a:noFill/>
          <a:ln/>
        </p:spPr>
        <p:txBody>
          <a:bodyPr wrap="square" lIns="0" tIns="0" rIns="0" bIns="0" rtlCol="0" anchor="ctr"/>
          <a:lstStyle/>
          <a:p>
            <a:pPr indent="0" marL="0">
              <a:buNone/>
            </a:pPr>
            <a:r>
              <a:rPr lang="en-US" sz="2400" b="1" dirty="0">
                <a:solidFill>
                  <a:schemeClr val="bg1"/>
                </a:solidFill>
              </a:rPr>
              <a:t>₹12,000</a:t>
            </a:r>
            <a:endParaRPr lang="en-US" sz="2400" dirty="0"/>
          </a:p>
        </p:txBody>
      </p:sp>
      <p:sp>
        <p:nvSpPr>
          <p:cNvPr id="28" name="Cloud fee note"/>
          <p:cNvSpPr txBox="1"/>
          <p:nvPr/>
        </p:nvSpPr>
        <p:spPr>
          <a:xfrm>
            <a:off x="6598768" y="3749040"/>
            <a:ext cx="4678528" cy="274320"/>
          </a:xfrm>
          <a:prstGeom prst="rect">
            <a:avLst/>
          </a:prstGeom>
          <a:noFill/>
          <a:ln/>
        </p:spPr>
        <p:txBody>
          <a:bodyPr wrap="square" lIns="0" tIns="0" rIns="0" bIns="0" rtlCol="0" anchor="t"/>
          <a:lstStyle/>
          <a:p>
            <a:pPr indent="0" marL="0">
              <a:buNone/>
            </a:pPr>
            <a:r>
              <a:rPr lang="en-US" sz="1200" dirty="0">
                <a:solidFill>
                  <a:schemeClr val="bg2"/>
                </a:solidFill>
              </a:rPr>
              <a:t>Per machine, per year</a:t>
            </a:r>
            <a:endParaRPr lang="en-US" sz="1200" dirty="0"/>
          </a:p>
        </p:txBody>
      </p:sp>
      <p:pic>
        <p:nvPicPr>
          <p:cNvPr id="29" name="Access from anywhere, at any time tick" descr="Included">    </p:cNvPr>
          <p:cNvPicPr>
            <a:picLocks noChangeAspect="1"/>
          </p:cNvPicPr>
          <p:nvPr/>
        </p:nvPicPr>
        <p:blipFill>
          <a:blip r:embed="rId6"/>
          <a:stretch>
            <a:fillRect/>
          </a:stretch>
        </p:blipFill>
        <p:spPr>
          <a:xfrm>
            <a:off x="6598768" y="4251960"/>
            <a:ext cx="219456" cy="219456"/>
          </a:xfrm>
          <a:prstGeom prst="rect">
            <a:avLst/>
          </a:prstGeom>
        </p:spPr>
      </p:pic>
      <p:sp>
        <p:nvSpPr>
          <p:cNvPr id="30" name="Access from anywhere, at any time"/>
          <p:cNvSpPr txBox="1"/>
          <p:nvPr/>
        </p:nvSpPr>
        <p:spPr>
          <a:xfrm>
            <a:off x="6927952" y="4206240"/>
            <a:ext cx="4349344" cy="310896"/>
          </a:xfrm>
          <a:prstGeom prst="rect">
            <a:avLst/>
          </a:prstGeom>
          <a:noFill/>
          <a:ln/>
        </p:spPr>
        <p:txBody>
          <a:bodyPr wrap="square" lIns="0" tIns="0" rIns="0" bIns="0" rtlCol="0" anchor="ctr"/>
          <a:lstStyle/>
          <a:p>
            <a:pPr indent="0" marL="0">
              <a:buNone/>
            </a:pPr>
            <a:r>
              <a:rPr lang="en-US" sz="1500" dirty="0">
                <a:solidFill>
                  <a:schemeClr val="bg1"/>
                </a:solidFill>
              </a:rPr>
              <a:t>Access from anywhere, at any time</a:t>
            </a:r>
            <a:endParaRPr lang="en-US" sz="1500" dirty="0"/>
          </a:p>
        </p:txBody>
      </p:sp>
      <p:pic>
        <p:nvPicPr>
          <p:cNvPr id="31" name="Secure storage with regular backups tick" descr="Included">    </p:cNvPr>
          <p:cNvPicPr>
            <a:picLocks noChangeAspect="1"/>
          </p:cNvPicPr>
          <p:nvPr/>
        </p:nvPicPr>
        <p:blipFill>
          <a:blip r:embed="rId7"/>
          <a:stretch>
            <a:fillRect/>
          </a:stretch>
        </p:blipFill>
        <p:spPr>
          <a:xfrm>
            <a:off x="6598768" y="4690872"/>
            <a:ext cx="219456" cy="219456"/>
          </a:xfrm>
          <a:prstGeom prst="rect">
            <a:avLst/>
          </a:prstGeom>
        </p:spPr>
      </p:pic>
      <p:sp>
        <p:nvSpPr>
          <p:cNvPr id="32" name="Secure storage with regular backups"/>
          <p:cNvSpPr txBox="1"/>
          <p:nvPr/>
        </p:nvSpPr>
        <p:spPr>
          <a:xfrm>
            <a:off x="6927952" y="4645152"/>
            <a:ext cx="4349344" cy="310896"/>
          </a:xfrm>
          <a:prstGeom prst="rect">
            <a:avLst/>
          </a:prstGeom>
          <a:noFill/>
          <a:ln/>
        </p:spPr>
        <p:txBody>
          <a:bodyPr wrap="square" lIns="0" tIns="0" rIns="0" bIns="0" rtlCol="0" anchor="ctr"/>
          <a:lstStyle/>
          <a:p>
            <a:pPr indent="0" marL="0">
              <a:buNone/>
            </a:pPr>
            <a:r>
              <a:rPr lang="en-US" sz="1500" dirty="0">
                <a:solidFill>
                  <a:schemeClr val="bg1"/>
                </a:solidFill>
              </a:rPr>
              <a:t>Secure storage with regular backups</a:t>
            </a:r>
            <a:endParaRPr lang="en-US" sz="1500" dirty="0"/>
          </a:p>
        </p:txBody>
      </p:sp>
      <p:pic>
        <p:nvPicPr>
          <p:cNvPr id="33" name="A gateway at your factory sends the data tick" descr="Included">    </p:cNvPr>
          <p:cNvPicPr>
            <a:picLocks noChangeAspect="1"/>
          </p:cNvPicPr>
          <p:nvPr/>
        </p:nvPicPr>
        <p:blipFill>
          <a:blip r:embed="rId8"/>
          <a:stretch>
            <a:fillRect/>
          </a:stretch>
        </p:blipFill>
        <p:spPr>
          <a:xfrm>
            <a:off x="6598768" y="5129784"/>
            <a:ext cx="219456" cy="219456"/>
          </a:xfrm>
          <a:prstGeom prst="rect">
            <a:avLst/>
          </a:prstGeom>
        </p:spPr>
      </p:pic>
      <p:sp>
        <p:nvSpPr>
          <p:cNvPr id="34" name="A gateway at your factory sends the data"/>
          <p:cNvSpPr txBox="1"/>
          <p:nvPr/>
        </p:nvSpPr>
        <p:spPr>
          <a:xfrm>
            <a:off x="6927952" y="5084064"/>
            <a:ext cx="4349344" cy="310896"/>
          </a:xfrm>
          <a:prstGeom prst="rect">
            <a:avLst/>
          </a:prstGeom>
          <a:noFill/>
          <a:ln/>
        </p:spPr>
        <p:txBody>
          <a:bodyPr wrap="square" lIns="0" tIns="0" rIns="0" bIns="0" rtlCol="0" anchor="ctr"/>
          <a:lstStyle/>
          <a:p>
            <a:pPr indent="0" marL="0">
              <a:buNone/>
            </a:pPr>
            <a:r>
              <a:rPr lang="en-US" sz="1500" dirty="0">
                <a:solidFill>
                  <a:schemeClr val="bg1"/>
                </a:solidFill>
              </a:rPr>
              <a:t>A gateway at your factory sends the data</a:t>
            </a:r>
            <a:endParaRPr lang="en-US" sz="1500" dirty="0"/>
          </a:p>
        </p:txBody>
      </p:sp>
      <p:pic>
        <p:nvPicPr>
          <p:cNvPr id="35" name="Network icon" descr="Ethernet">    </p:cNvPr>
          <p:cNvPicPr>
            <a:picLocks noChangeAspect="1"/>
          </p:cNvPicPr>
          <p:nvPr/>
        </p:nvPicPr>
        <p:blipFill>
          <a:blip r:embed="rId9"/>
          <a:stretch>
            <a:fillRect/>
          </a:stretch>
        </p:blipFill>
        <p:spPr>
          <a:xfrm>
            <a:off x="548640" y="5843016"/>
            <a:ext cx="256032" cy="256032"/>
          </a:xfrm>
          <a:prstGeom prst="rect">
            <a:avLst/>
          </a:prstGeom>
        </p:spPr>
      </p:pic>
      <p:sp>
        <p:nvSpPr>
          <p:cNvPr id="36" name="Network note"/>
          <p:cNvSpPr txBox="1"/>
          <p:nvPr/>
        </p:nvSpPr>
        <p:spPr>
          <a:xfrm>
            <a:off x="932688" y="5815584"/>
            <a:ext cx="10710367" cy="310896"/>
          </a:xfrm>
          <a:prstGeom prst="rect">
            <a:avLst/>
          </a:prstGeom>
          <a:noFill/>
          <a:ln/>
        </p:spPr>
        <p:txBody>
          <a:bodyPr wrap="square" lIns="0" tIns="0" rIns="0" bIns="0" rtlCol="0" anchor="ctr"/>
          <a:lstStyle/>
          <a:p>
            <a:pPr indent="0" marL="0">
              <a:buNone/>
            </a:pPr>
            <a:r>
              <a:rPr lang="en-US" sz="1400" dirty="0">
                <a:solidFill>
                  <a:schemeClr val="bg2"/>
                </a:solidFill>
              </a:rPr>
              <a:t>Both connect to your machines over a standard Ethernet network. The gateway is quoted with your order.</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INVESTMENT</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Simple plans, paid once per machine</a:t>
            </a:r>
            <a:endParaRPr lang="en-US" sz="3600" dirty="0"/>
          </a:p>
        </p:txBody>
      </p:sp>
      <p:sp>
        <p:nvSpPr>
          <p:cNvPr id="4" name="Basic card"/>
          <p:cNvSpPr/>
          <p:nvPr/>
        </p:nvSpPr>
        <p:spPr>
          <a:xfrm>
            <a:off x="548640" y="1783080"/>
            <a:ext cx="3515258" cy="4023360"/>
          </a:xfrm>
          <a:prstGeom prst="roundRect">
            <a:avLst>
              <a:gd name="adj" fmla="val 3121"/>
            </a:avLst>
          </a:prstGeom>
          <a:solidFill>
            <a:schemeClr val="tx2">
              <a:alpha val="92000"/>
            </a:schemeClr>
          </a:solidFill>
          <a:ln w="9525">
            <a:solidFill>
              <a:schemeClr val="bg2">
                <a:alpha val="22000"/>
              </a:schemeClr>
            </a:solidFill>
            <a:prstDash val="solid"/>
          </a:ln>
        </p:spPr>
      </p:sp>
      <p:sp>
        <p:nvSpPr>
          <p:cNvPr id="5" name="Basic name"/>
          <p:cNvSpPr txBox="1"/>
          <p:nvPr/>
        </p:nvSpPr>
        <p:spPr>
          <a:xfrm>
            <a:off x="868680" y="2057400"/>
            <a:ext cx="1828800" cy="384048"/>
          </a:xfrm>
          <a:prstGeom prst="rect">
            <a:avLst/>
          </a:prstGeom>
          <a:noFill/>
          <a:ln/>
        </p:spPr>
        <p:txBody>
          <a:bodyPr wrap="square" lIns="0" tIns="0" rIns="0" bIns="0" rtlCol="0" anchor="ctr"/>
          <a:lstStyle/>
          <a:p>
            <a:pPr indent="0" marL="0">
              <a:buNone/>
            </a:pPr>
            <a:r>
              <a:rPr lang="en-US" sz="2200" b="1" dirty="0">
                <a:solidFill>
                  <a:schemeClr val="bg1"/>
                </a:solidFill>
              </a:rPr>
              <a:t>Basic</a:t>
            </a:r>
            <a:endParaRPr lang="en-US" sz="2200" dirty="0"/>
          </a:p>
        </p:txBody>
      </p:sp>
      <p:sp>
        <p:nvSpPr>
          <p:cNvPr id="6" name="Basic price"/>
          <p:cNvSpPr txBox="1"/>
          <p:nvPr/>
        </p:nvSpPr>
        <p:spPr>
          <a:xfrm>
            <a:off x="868680" y="2514600"/>
            <a:ext cx="2875178" cy="640080"/>
          </a:xfrm>
          <a:prstGeom prst="rect">
            <a:avLst/>
          </a:prstGeom>
          <a:noFill/>
          <a:ln/>
        </p:spPr>
        <p:txBody>
          <a:bodyPr wrap="square" lIns="0" tIns="0" rIns="0" bIns="0" rtlCol="0" anchor="ctr"/>
          <a:lstStyle/>
          <a:p>
            <a:pPr indent="0" marL="0">
              <a:buNone/>
            </a:pPr>
            <a:r>
              <a:rPr lang="en-US" sz="4000" b="1" dirty="0">
                <a:solidFill>
                  <a:schemeClr val="bg1"/>
                </a:solidFill>
              </a:rPr>
              <a:t>₹10,000</a:t>
            </a:r>
            <a:endParaRPr lang="en-US" sz="4000" dirty="0"/>
          </a:p>
        </p:txBody>
      </p:sp>
      <p:sp>
        <p:nvSpPr>
          <p:cNvPr id="7" name="Basic price note"/>
          <p:cNvSpPr txBox="1"/>
          <p:nvPr/>
        </p:nvSpPr>
        <p:spPr>
          <a:xfrm>
            <a:off x="868680" y="3154680"/>
            <a:ext cx="2875178" cy="256032"/>
          </a:xfrm>
          <a:prstGeom prst="rect">
            <a:avLst/>
          </a:prstGeom>
          <a:noFill/>
          <a:ln/>
        </p:spPr>
        <p:txBody>
          <a:bodyPr wrap="square" lIns="0" tIns="0" rIns="0" bIns="0" rtlCol="0" anchor="t"/>
          <a:lstStyle/>
          <a:p>
            <a:pPr indent="0" marL="0">
              <a:buNone/>
            </a:pPr>
            <a:r>
              <a:rPr lang="en-US" sz="1200" dirty="0">
                <a:solidFill>
                  <a:schemeClr val="bg2"/>
                </a:solidFill>
              </a:rPr>
              <a:t>per machine, one-time</a:t>
            </a:r>
            <a:endParaRPr lang="en-US" sz="1200" dirty="0"/>
          </a:p>
        </p:txBody>
      </p:sp>
      <p:sp>
        <p:nvSpPr>
          <p:cNvPr id="8" name="Basic summary"/>
          <p:cNvSpPr txBox="1"/>
          <p:nvPr/>
        </p:nvSpPr>
        <p:spPr>
          <a:xfrm>
            <a:off x="868680" y="3566160"/>
            <a:ext cx="2875178" cy="329184"/>
          </a:xfrm>
          <a:prstGeom prst="rect">
            <a:avLst/>
          </a:prstGeom>
          <a:noFill/>
          <a:ln/>
        </p:spPr>
        <p:txBody>
          <a:bodyPr wrap="square" lIns="0" tIns="0" rIns="0" bIns="0" rtlCol="0" anchor="t"/>
          <a:lstStyle/>
          <a:p>
            <a:pPr indent="0" marL="0">
              <a:buNone/>
            </a:pPr>
            <a:r>
              <a:rPr lang="en-US" sz="1500" dirty="0">
                <a:solidFill>
                  <a:schemeClr val="bg1"/>
                </a:solidFill>
              </a:rPr>
              <a:t>Live monitoring and records</a:t>
            </a:r>
            <a:endParaRPr lang="en-US" sz="1500" dirty="0"/>
          </a:p>
        </p:txBody>
      </p:sp>
      <p:pic>
        <p:nvPicPr>
          <p:cNvPr id="9" name="Basic: Live Dashboard tick" descr="Included">    </p:cNvPr>
          <p:cNvPicPr>
            <a:picLocks noChangeAspect="1"/>
          </p:cNvPicPr>
          <p:nvPr/>
        </p:nvPicPr>
        <p:blipFill>
          <a:blip r:embed="rId1"/>
          <a:stretch>
            <a:fillRect/>
          </a:stretch>
        </p:blipFill>
        <p:spPr>
          <a:xfrm>
            <a:off x="868680" y="4069080"/>
            <a:ext cx="219456" cy="219456"/>
          </a:xfrm>
          <a:prstGeom prst="rect">
            <a:avLst/>
          </a:prstGeom>
        </p:spPr>
      </p:pic>
      <p:sp>
        <p:nvSpPr>
          <p:cNvPr id="10" name="Basic: Live Dashboard"/>
          <p:cNvSpPr txBox="1"/>
          <p:nvPr/>
        </p:nvSpPr>
        <p:spPr>
          <a:xfrm>
            <a:off x="1197864" y="4023360"/>
            <a:ext cx="2545994" cy="310896"/>
          </a:xfrm>
          <a:prstGeom prst="rect">
            <a:avLst/>
          </a:prstGeom>
          <a:noFill/>
          <a:ln/>
        </p:spPr>
        <p:txBody>
          <a:bodyPr wrap="square" lIns="0" tIns="0" rIns="0" bIns="0" rtlCol="0" anchor="ctr"/>
          <a:lstStyle/>
          <a:p>
            <a:pPr indent="0" marL="0">
              <a:buNone/>
            </a:pPr>
            <a:r>
              <a:rPr lang="en-US" sz="1400" dirty="0">
                <a:solidFill>
                  <a:schemeClr val="bg1"/>
                </a:solidFill>
              </a:rPr>
              <a:t>Live Dashboard</a:t>
            </a:r>
            <a:endParaRPr lang="en-US" sz="1400" dirty="0"/>
          </a:p>
        </p:txBody>
      </p:sp>
      <p:pic>
        <p:nvPicPr>
          <p:cNvPr id="11" name="Basic: Machine details tick" descr="Included">    </p:cNvPr>
          <p:cNvPicPr>
            <a:picLocks noChangeAspect="1"/>
          </p:cNvPicPr>
          <p:nvPr/>
        </p:nvPicPr>
        <p:blipFill>
          <a:blip r:embed="rId2"/>
          <a:stretch>
            <a:fillRect/>
          </a:stretch>
        </p:blipFill>
        <p:spPr>
          <a:xfrm>
            <a:off x="868680" y="4398264"/>
            <a:ext cx="219456" cy="219456"/>
          </a:xfrm>
          <a:prstGeom prst="rect">
            <a:avLst/>
          </a:prstGeom>
        </p:spPr>
      </p:pic>
      <p:sp>
        <p:nvSpPr>
          <p:cNvPr id="12" name="Basic: Machine details"/>
          <p:cNvSpPr txBox="1"/>
          <p:nvPr/>
        </p:nvSpPr>
        <p:spPr>
          <a:xfrm>
            <a:off x="1197864" y="4352544"/>
            <a:ext cx="2545994" cy="310896"/>
          </a:xfrm>
          <a:prstGeom prst="rect">
            <a:avLst/>
          </a:prstGeom>
          <a:noFill/>
          <a:ln/>
        </p:spPr>
        <p:txBody>
          <a:bodyPr wrap="square" lIns="0" tIns="0" rIns="0" bIns="0" rtlCol="0" anchor="ctr"/>
          <a:lstStyle/>
          <a:p>
            <a:pPr indent="0" marL="0">
              <a:buNone/>
            </a:pPr>
            <a:r>
              <a:rPr lang="en-US" sz="1400" dirty="0">
                <a:solidFill>
                  <a:schemeClr val="bg1"/>
                </a:solidFill>
              </a:rPr>
              <a:t>Machine details</a:t>
            </a:r>
            <a:endParaRPr lang="en-US" sz="1400" dirty="0"/>
          </a:p>
        </p:txBody>
      </p:sp>
      <p:pic>
        <p:nvPicPr>
          <p:cNvPr id="13" name="Basic: Reports in Excel or CSV tick" descr="Included">    </p:cNvPr>
          <p:cNvPicPr>
            <a:picLocks noChangeAspect="1"/>
          </p:cNvPicPr>
          <p:nvPr/>
        </p:nvPicPr>
        <p:blipFill>
          <a:blip r:embed="rId3"/>
          <a:stretch>
            <a:fillRect/>
          </a:stretch>
        </p:blipFill>
        <p:spPr>
          <a:xfrm>
            <a:off x="868680" y="4727448"/>
            <a:ext cx="219456" cy="219456"/>
          </a:xfrm>
          <a:prstGeom prst="rect">
            <a:avLst/>
          </a:prstGeom>
        </p:spPr>
      </p:pic>
      <p:sp>
        <p:nvSpPr>
          <p:cNvPr id="14" name="Basic: Reports in Excel or CSV"/>
          <p:cNvSpPr txBox="1"/>
          <p:nvPr/>
        </p:nvSpPr>
        <p:spPr>
          <a:xfrm>
            <a:off x="1197864" y="4681728"/>
            <a:ext cx="2545994" cy="310896"/>
          </a:xfrm>
          <a:prstGeom prst="rect">
            <a:avLst/>
          </a:prstGeom>
          <a:noFill/>
          <a:ln/>
        </p:spPr>
        <p:txBody>
          <a:bodyPr wrap="square" lIns="0" tIns="0" rIns="0" bIns="0" rtlCol="0" anchor="ctr"/>
          <a:lstStyle/>
          <a:p>
            <a:pPr indent="0" marL="0">
              <a:buNone/>
            </a:pPr>
            <a:r>
              <a:rPr lang="en-US" sz="1400" dirty="0">
                <a:solidFill>
                  <a:schemeClr val="bg1"/>
                </a:solidFill>
              </a:rPr>
              <a:t>Reports in Excel or CSV</a:t>
            </a:r>
            <a:endParaRPr lang="en-US" sz="1400" dirty="0"/>
          </a:p>
        </p:txBody>
      </p:sp>
      <p:pic>
        <p:nvPicPr>
          <p:cNvPr id="15" name="Basic: Quality, shifts, team access tick" descr="Included">    </p:cNvPr>
          <p:cNvPicPr>
            <a:picLocks noChangeAspect="1"/>
          </p:cNvPicPr>
          <p:nvPr/>
        </p:nvPicPr>
        <p:blipFill>
          <a:blip r:embed="rId4"/>
          <a:stretch>
            <a:fillRect/>
          </a:stretch>
        </p:blipFill>
        <p:spPr>
          <a:xfrm>
            <a:off x="868680" y="5056632"/>
            <a:ext cx="219456" cy="219456"/>
          </a:xfrm>
          <a:prstGeom prst="rect">
            <a:avLst/>
          </a:prstGeom>
        </p:spPr>
      </p:pic>
      <p:sp>
        <p:nvSpPr>
          <p:cNvPr id="16" name="Basic: Quality, shifts, team access"/>
          <p:cNvSpPr txBox="1"/>
          <p:nvPr/>
        </p:nvSpPr>
        <p:spPr>
          <a:xfrm>
            <a:off x="1197864" y="5010912"/>
            <a:ext cx="2545994" cy="310896"/>
          </a:xfrm>
          <a:prstGeom prst="rect">
            <a:avLst/>
          </a:prstGeom>
          <a:noFill/>
          <a:ln/>
        </p:spPr>
        <p:txBody>
          <a:bodyPr wrap="square" lIns="0" tIns="0" rIns="0" bIns="0" rtlCol="0" anchor="ctr"/>
          <a:lstStyle/>
          <a:p>
            <a:pPr indent="0" marL="0">
              <a:buNone/>
            </a:pPr>
            <a:r>
              <a:rPr lang="en-US" sz="1400" dirty="0">
                <a:solidFill>
                  <a:schemeClr val="bg1"/>
                </a:solidFill>
              </a:rPr>
              <a:t>Quality, shifts, team access</a:t>
            </a:r>
            <a:endParaRPr lang="en-US" sz="1400" dirty="0"/>
          </a:p>
        </p:txBody>
      </p:sp>
      <p:sp>
        <p:nvSpPr>
          <p:cNvPr id="17" name="Basic cloud fee"/>
          <p:cNvSpPr txBox="1"/>
          <p:nvPr/>
        </p:nvSpPr>
        <p:spPr>
          <a:xfrm>
            <a:off x="868680" y="5422392"/>
            <a:ext cx="2875178" cy="256032"/>
          </a:xfrm>
          <a:prstGeom prst="rect">
            <a:avLst/>
          </a:prstGeom>
          <a:noFill/>
          <a:ln/>
        </p:spPr>
        <p:txBody>
          <a:bodyPr wrap="square" lIns="0" tIns="0" rIns="0" bIns="0" rtlCol="0" anchor="t"/>
          <a:lstStyle/>
          <a:p>
            <a:pPr indent="0" marL="0">
              <a:buNone/>
            </a:pPr>
            <a:r>
              <a:rPr lang="en-US" sz="1200" dirty="0">
                <a:solidFill>
                  <a:schemeClr val="bg2"/>
                </a:solidFill>
              </a:rPr>
              <a:t>Cloud: ₹8,000 per machine a year</a:t>
            </a:r>
            <a:endParaRPr lang="en-US" sz="1200" dirty="0"/>
          </a:p>
        </p:txBody>
      </p:sp>
      <p:sp>
        <p:nvSpPr>
          <p:cNvPr id="18" name="Standard card"/>
          <p:cNvSpPr/>
          <p:nvPr/>
        </p:nvSpPr>
        <p:spPr>
          <a:xfrm>
            <a:off x="4338218" y="1783080"/>
            <a:ext cx="3515258" cy="4023360"/>
          </a:xfrm>
          <a:prstGeom prst="roundRect">
            <a:avLst>
              <a:gd name="adj" fmla="val 3121"/>
            </a:avLst>
          </a:prstGeom>
          <a:solidFill>
            <a:schemeClr val="tx2"/>
          </a:solidFill>
          <a:ln w="22225">
            <a:solidFill>
              <a:schemeClr val="accent1"/>
            </a:solidFill>
            <a:prstDash val="solid"/>
          </a:ln>
        </p:spPr>
      </p:sp>
      <p:sp>
        <p:nvSpPr>
          <p:cNvPr id="19" name="Standard name"/>
          <p:cNvSpPr txBox="1"/>
          <p:nvPr/>
        </p:nvSpPr>
        <p:spPr>
          <a:xfrm>
            <a:off x="4658258" y="2057400"/>
            <a:ext cx="1828800" cy="384048"/>
          </a:xfrm>
          <a:prstGeom prst="rect">
            <a:avLst/>
          </a:prstGeom>
          <a:noFill/>
          <a:ln/>
        </p:spPr>
        <p:txBody>
          <a:bodyPr wrap="square" lIns="0" tIns="0" rIns="0" bIns="0" rtlCol="0" anchor="ctr"/>
          <a:lstStyle/>
          <a:p>
            <a:pPr indent="0" marL="0">
              <a:buNone/>
            </a:pPr>
            <a:r>
              <a:rPr lang="en-US" sz="2200" b="1" dirty="0">
                <a:solidFill>
                  <a:schemeClr val="bg1"/>
                </a:solidFill>
              </a:rPr>
              <a:t>Standard</a:t>
            </a:r>
            <a:endParaRPr lang="en-US" sz="2200" dirty="0"/>
          </a:p>
        </p:txBody>
      </p:sp>
      <p:sp>
        <p:nvSpPr>
          <p:cNvPr id="20" name="Recommended badge"/>
          <p:cNvSpPr/>
          <p:nvPr/>
        </p:nvSpPr>
        <p:spPr>
          <a:xfrm>
            <a:off x="6161837" y="2093976"/>
            <a:ext cx="1371600" cy="310896"/>
          </a:xfrm>
          <a:prstGeom prst="roundRect">
            <a:avLst>
              <a:gd name="adj" fmla="val 50000"/>
            </a:avLst>
          </a:prstGeom>
          <a:solidFill>
            <a:schemeClr val="accent1"/>
          </a:solidFill>
          <a:ln/>
        </p:spPr>
      </p:sp>
      <p:sp>
        <p:nvSpPr>
          <p:cNvPr id="21" name="Recommended badge text"/>
          <p:cNvSpPr txBox="1"/>
          <p:nvPr/>
        </p:nvSpPr>
        <p:spPr>
          <a:xfrm>
            <a:off x="6161837" y="2093976"/>
            <a:ext cx="1371600" cy="310896"/>
          </a:xfrm>
          <a:prstGeom prst="rect">
            <a:avLst/>
          </a:prstGeom>
          <a:noFill/>
          <a:ln/>
        </p:spPr>
        <p:txBody>
          <a:bodyPr wrap="square" lIns="0" tIns="0" rIns="0" bIns="0" rtlCol="0" anchor="ctr"/>
          <a:lstStyle/>
          <a:p>
            <a:pPr algn="ctr" indent="0" marL="0">
              <a:buNone/>
            </a:pPr>
            <a:r>
              <a:rPr lang="en-US" sz="1000" b="1" spc="100" kern="0" dirty="0">
                <a:solidFill>
                  <a:schemeClr val="tx1"/>
                </a:solidFill>
              </a:rPr>
              <a:t>RECOMMENDED</a:t>
            </a:r>
            <a:endParaRPr lang="en-US" sz="1000" dirty="0"/>
          </a:p>
        </p:txBody>
      </p:sp>
      <p:sp>
        <p:nvSpPr>
          <p:cNvPr id="22" name="Standard price"/>
          <p:cNvSpPr txBox="1"/>
          <p:nvPr/>
        </p:nvSpPr>
        <p:spPr>
          <a:xfrm>
            <a:off x="4658258" y="2514600"/>
            <a:ext cx="2875178" cy="640080"/>
          </a:xfrm>
          <a:prstGeom prst="rect">
            <a:avLst/>
          </a:prstGeom>
          <a:noFill/>
          <a:ln/>
        </p:spPr>
        <p:txBody>
          <a:bodyPr wrap="square" lIns="0" tIns="0" rIns="0" bIns="0" rtlCol="0" anchor="ctr"/>
          <a:lstStyle/>
          <a:p>
            <a:pPr indent="0" marL="0">
              <a:buNone/>
            </a:pPr>
            <a:r>
              <a:rPr lang="en-US" sz="4000" b="1" dirty="0">
                <a:solidFill>
                  <a:schemeClr val="accent1"/>
                </a:solidFill>
              </a:rPr>
              <a:t>₹20,000</a:t>
            </a:r>
            <a:endParaRPr lang="en-US" sz="4000" dirty="0"/>
          </a:p>
        </p:txBody>
      </p:sp>
      <p:sp>
        <p:nvSpPr>
          <p:cNvPr id="23" name="Standard price note"/>
          <p:cNvSpPr txBox="1"/>
          <p:nvPr/>
        </p:nvSpPr>
        <p:spPr>
          <a:xfrm>
            <a:off x="4658258" y="3154680"/>
            <a:ext cx="2875178" cy="256032"/>
          </a:xfrm>
          <a:prstGeom prst="rect">
            <a:avLst/>
          </a:prstGeom>
          <a:noFill/>
          <a:ln/>
        </p:spPr>
        <p:txBody>
          <a:bodyPr wrap="square" lIns="0" tIns="0" rIns="0" bIns="0" rtlCol="0" anchor="t"/>
          <a:lstStyle/>
          <a:p>
            <a:pPr indent="0" marL="0">
              <a:buNone/>
            </a:pPr>
            <a:r>
              <a:rPr lang="en-US" sz="1200" dirty="0">
                <a:solidFill>
                  <a:schemeClr val="bg2"/>
                </a:solidFill>
              </a:rPr>
              <a:t>per machine, one-time</a:t>
            </a:r>
            <a:endParaRPr lang="en-US" sz="1200" dirty="0"/>
          </a:p>
        </p:txBody>
      </p:sp>
      <p:sp>
        <p:nvSpPr>
          <p:cNvPr id="24" name="Standard summary"/>
          <p:cNvSpPr txBox="1"/>
          <p:nvPr/>
        </p:nvSpPr>
        <p:spPr>
          <a:xfrm>
            <a:off x="4658258" y="3566160"/>
            <a:ext cx="2875178" cy="329184"/>
          </a:xfrm>
          <a:prstGeom prst="rect">
            <a:avLst/>
          </a:prstGeom>
          <a:noFill/>
          <a:ln/>
        </p:spPr>
        <p:txBody>
          <a:bodyPr wrap="square" lIns="0" tIns="0" rIns="0" bIns="0" rtlCol="0" anchor="t"/>
          <a:lstStyle/>
          <a:p>
            <a:pPr indent="0" marL="0">
              <a:buNone/>
            </a:pPr>
            <a:r>
              <a:rPr lang="en-US" sz="1500" dirty="0">
                <a:solidFill>
                  <a:schemeClr val="bg1"/>
                </a:solidFill>
              </a:rPr>
              <a:t>All dashboards, plus mobile app</a:t>
            </a:r>
            <a:endParaRPr lang="en-US" sz="1500" dirty="0"/>
          </a:p>
        </p:txBody>
      </p:sp>
      <p:pic>
        <p:nvPicPr>
          <p:cNvPr id="25" name="Standard: Everything in Basic tick" descr="Included">    </p:cNvPr>
          <p:cNvPicPr>
            <a:picLocks noChangeAspect="1"/>
          </p:cNvPicPr>
          <p:nvPr/>
        </p:nvPicPr>
        <p:blipFill>
          <a:blip r:embed="rId5"/>
          <a:stretch>
            <a:fillRect/>
          </a:stretch>
        </p:blipFill>
        <p:spPr>
          <a:xfrm>
            <a:off x="4658258" y="4069080"/>
            <a:ext cx="219456" cy="219456"/>
          </a:xfrm>
          <a:prstGeom prst="rect">
            <a:avLst/>
          </a:prstGeom>
        </p:spPr>
      </p:pic>
      <p:sp>
        <p:nvSpPr>
          <p:cNvPr id="26" name="Standard: Everything in Basic"/>
          <p:cNvSpPr txBox="1"/>
          <p:nvPr/>
        </p:nvSpPr>
        <p:spPr>
          <a:xfrm>
            <a:off x="4987442" y="4023360"/>
            <a:ext cx="2545994" cy="310896"/>
          </a:xfrm>
          <a:prstGeom prst="rect">
            <a:avLst/>
          </a:prstGeom>
          <a:noFill/>
          <a:ln/>
        </p:spPr>
        <p:txBody>
          <a:bodyPr wrap="square" lIns="0" tIns="0" rIns="0" bIns="0" rtlCol="0" anchor="ctr"/>
          <a:lstStyle/>
          <a:p>
            <a:pPr indent="0" marL="0">
              <a:buNone/>
            </a:pPr>
            <a:r>
              <a:rPr lang="en-US" sz="1400" dirty="0">
                <a:solidFill>
                  <a:schemeClr val="bg1"/>
                </a:solidFill>
              </a:rPr>
              <a:t>Everything in Basic</a:t>
            </a:r>
            <a:endParaRPr lang="en-US" sz="1400" dirty="0"/>
          </a:p>
        </p:txBody>
      </p:sp>
      <p:pic>
        <p:nvPicPr>
          <p:cNvPr id="27" name="Standard: Mobile app tick" descr="Included">    </p:cNvPr>
          <p:cNvPicPr>
            <a:picLocks noChangeAspect="1"/>
          </p:cNvPicPr>
          <p:nvPr/>
        </p:nvPicPr>
        <p:blipFill>
          <a:blip r:embed="rId6"/>
          <a:stretch>
            <a:fillRect/>
          </a:stretch>
        </p:blipFill>
        <p:spPr>
          <a:xfrm>
            <a:off x="4658258" y="4398264"/>
            <a:ext cx="219456" cy="219456"/>
          </a:xfrm>
          <a:prstGeom prst="rect">
            <a:avLst/>
          </a:prstGeom>
        </p:spPr>
      </p:pic>
      <p:sp>
        <p:nvSpPr>
          <p:cNvPr id="28" name="Standard: Mobile app"/>
          <p:cNvSpPr txBox="1"/>
          <p:nvPr/>
        </p:nvSpPr>
        <p:spPr>
          <a:xfrm>
            <a:off x="4987442" y="4352544"/>
            <a:ext cx="2545994" cy="310896"/>
          </a:xfrm>
          <a:prstGeom prst="rect">
            <a:avLst/>
          </a:prstGeom>
          <a:noFill/>
          <a:ln/>
        </p:spPr>
        <p:txBody>
          <a:bodyPr wrap="square" lIns="0" tIns="0" rIns="0" bIns="0" rtlCol="0" anchor="ctr"/>
          <a:lstStyle/>
          <a:p>
            <a:pPr indent="0" marL="0">
              <a:buNone/>
            </a:pPr>
            <a:r>
              <a:rPr lang="en-US" sz="1400" dirty="0">
                <a:solidFill>
                  <a:schemeClr val="bg1"/>
                </a:solidFill>
              </a:rPr>
              <a:t>Mobile app</a:t>
            </a:r>
            <a:endParaRPr lang="en-US" sz="1400" dirty="0"/>
          </a:p>
        </p:txBody>
      </p:sp>
      <p:pic>
        <p:nvPicPr>
          <p:cNvPr id="29" name="Standard: OEE, alarms, maintenance tick" descr="Included">    </p:cNvPr>
          <p:cNvPicPr>
            <a:picLocks noChangeAspect="1"/>
          </p:cNvPicPr>
          <p:nvPr/>
        </p:nvPicPr>
        <p:blipFill>
          <a:blip r:embed="rId7"/>
          <a:stretch>
            <a:fillRect/>
          </a:stretch>
        </p:blipFill>
        <p:spPr>
          <a:xfrm>
            <a:off x="4658258" y="4727448"/>
            <a:ext cx="219456" cy="219456"/>
          </a:xfrm>
          <a:prstGeom prst="rect">
            <a:avLst/>
          </a:prstGeom>
        </p:spPr>
      </p:pic>
      <p:sp>
        <p:nvSpPr>
          <p:cNvPr id="30" name="Standard: OEE, alarms, maintenance"/>
          <p:cNvSpPr txBox="1"/>
          <p:nvPr/>
        </p:nvSpPr>
        <p:spPr>
          <a:xfrm>
            <a:off x="4987442" y="4681728"/>
            <a:ext cx="2545994" cy="310896"/>
          </a:xfrm>
          <a:prstGeom prst="rect">
            <a:avLst/>
          </a:prstGeom>
          <a:noFill/>
          <a:ln/>
        </p:spPr>
        <p:txBody>
          <a:bodyPr wrap="square" lIns="0" tIns="0" rIns="0" bIns="0" rtlCol="0" anchor="ctr"/>
          <a:lstStyle/>
          <a:p>
            <a:pPr indent="0" marL="0">
              <a:buNone/>
            </a:pPr>
            <a:r>
              <a:rPr lang="en-US" sz="1400" dirty="0">
                <a:solidFill>
                  <a:schemeClr val="bg1"/>
                </a:solidFill>
              </a:rPr>
              <a:t>OEE, alarms, maintenance</a:t>
            </a:r>
            <a:endParaRPr lang="en-US" sz="1400" dirty="0"/>
          </a:p>
        </p:txBody>
      </p:sp>
      <p:pic>
        <p:nvPicPr>
          <p:cNvPr id="31" name="Standard: AI assistant add-on tick" descr="Included">    </p:cNvPr>
          <p:cNvPicPr>
            <a:picLocks noChangeAspect="1"/>
          </p:cNvPicPr>
          <p:nvPr/>
        </p:nvPicPr>
        <p:blipFill>
          <a:blip r:embed="rId8"/>
          <a:stretch>
            <a:fillRect/>
          </a:stretch>
        </p:blipFill>
        <p:spPr>
          <a:xfrm>
            <a:off x="4658258" y="5056632"/>
            <a:ext cx="219456" cy="219456"/>
          </a:xfrm>
          <a:prstGeom prst="rect">
            <a:avLst/>
          </a:prstGeom>
        </p:spPr>
      </p:pic>
      <p:sp>
        <p:nvSpPr>
          <p:cNvPr id="32" name="Standard: AI assistant add-on"/>
          <p:cNvSpPr txBox="1"/>
          <p:nvPr/>
        </p:nvSpPr>
        <p:spPr>
          <a:xfrm>
            <a:off x="4987442" y="5010912"/>
            <a:ext cx="2545994" cy="310896"/>
          </a:xfrm>
          <a:prstGeom prst="rect">
            <a:avLst/>
          </a:prstGeom>
          <a:noFill/>
          <a:ln/>
        </p:spPr>
        <p:txBody>
          <a:bodyPr wrap="square" lIns="0" tIns="0" rIns="0" bIns="0" rtlCol="0" anchor="ctr"/>
          <a:lstStyle/>
          <a:p>
            <a:pPr indent="0" marL="0">
              <a:buNone/>
            </a:pPr>
            <a:r>
              <a:rPr lang="en-US" sz="1400" dirty="0">
                <a:solidFill>
                  <a:schemeClr val="accent6"/>
                </a:solidFill>
              </a:rPr>
              <a:t>AI assistant add-on</a:t>
            </a:r>
            <a:endParaRPr lang="en-US" sz="1400" dirty="0"/>
          </a:p>
        </p:txBody>
      </p:sp>
      <p:sp>
        <p:nvSpPr>
          <p:cNvPr id="33" name="Standard cloud fee"/>
          <p:cNvSpPr txBox="1"/>
          <p:nvPr/>
        </p:nvSpPr>
        <p:spPr>
          <a:xfrm>
            <a:off x="4658258" y="5422392"/>
            <a:ext cx="2875178" cy="256032"/>
          </a:xfrm>
          <a:prstGeom prst="rect">
            <a:avLst/>
          </a:prstGeom>
          <a:noFill/>
          <a:ln/>
        </p:spPr>
        <p:txBody>
          <a:bodyPr wrap="square" lIns="0" tIns="0" rIns="0" bIns="0" rtlCol="0" anchor="t"/>
          <a:lstStyle/>
          <a:p>
            <a:pPr indent="0" marL="0">
              <a:buNone/>
            </a:pPr>
            <a:r>
              <a:rPr lang="en-US" sz="1200" dirty="0">
                <a:solidFill>
                  <a:schemeClr val="bg2"/>
                </a:solidFill>
              </a:rPr>
              <a:t>Cloud: ₹10,000 per machine a year</a:t>
            </a:r>
            <a:endParaRPr lang="en-US" sz="1200" dirty="0"/>
          </a:p>
        </p:txBody>
      </p:sp>
      <p:sp>
        <p:nvSpPr>
          <p:cNvPr id="34" name="Premium card"/>
          <p:cNvSpPr/>
          <p:nvPr/>
        </p:nvSpPr>
        <p:spPr>
          <a:xfrm>
            <a:off x="8127797" y="1783080"/>
            <a:ext cx="3515258" cy="4023360"/>
          </a:xfrm>
          <a:prstGeom prst="roundRect">
            <a:avLst>
              <a:gd name="adj" fmla="val 3121"/>
            </a:avLst>
          </a:prstGeom>
          <a:solidFill>
            <a:schemeClr val="tx2">
              <a:alpha val="92000"/>
            </a:schemeClr>
          </a:solidFill>
          <a:ln w="9525">
            <a:solidFill>
              <a:schemeClr val="bg2">
                <a:alpha val="22000"/>
              </a:schemeClr>
            </a:solidFill>
            <a:prstDash val="solid"/>
          </a:ln>
        </p:spPr>
      </p:sp>
      <p:sp>
        <p:nvSpPr>
          <p:cNvPr id="35" name="Premium name"/>
          <p:cNvSpPr txBox="1"/>
          <p:nvPr/>
        </p:nvSpPr>
        <p:spPr>
          <a:xfrm>
            <a:off x="8447837" y="2057400"/>
            <a:ext cx="1828800" cy="384048"/>
          </a:xfrm>
          <a:prstGeom prst="rect">
            <a:avLst/>
          </a:prstGeom>
          <a:noFill/>
          <a:ln/>
        </p:spPr>
        <p:txBody>
          <a:bodyPr wrap="square" lIns="0" tIns="0" rIns="0" bIns="0" rtlCol="0" anchor="ctr"/>
          <a:lstStyle/>
          <a:p>
            <a:pPr indent="0" marL="0">
              <a:buNone/>
            </a:pPr>
            <a:r>
              <a:rPr lang="en-US" sz="2200" b="1" dirty="0">
                <a:solidFill>
                  <a:schemeClr val="bg1"/>
                </a:solidFill>
              </a:rPr>
              <a:t>Premium</a:t>
            </a:r>
            <a:endParaRPr lang="en-US" sz="2200" dirty="0"/>
          </a:p>
        </p:txBody>
      </p:sp>
      <p:sp>
        <p:nvSpPr>
          <p:cNvPr id="36" name="Premium price"/>
          <p:cNvSpPr txBox="1"/>
          <p:nvPr/>
        </p:nvSpPr>
        <p:spPr>
          <a:xfrm>
            <a:off x="8447837" y="2514600"/>
            <a:ext cx="2875178" cy="640080"/>
          </a:xfrm>
          <a:prstGeom prst="rect">
            <a:avLst/>
          </a:prstGeom>
          <a:noFill/>
          <a:ln/>
        </p:spPr>
        <p:txBody>
          <a:bodyPr wrap="square" lIns="0" tIns="0" rIns="0" bIns="0" rtlCol="0" anchor="ctr"/>
          <a:lstStyle/>
          <a:p>
            <a:pPr indent="0" marL="0">
              <a:buNone/>
            </a:pPr>
            <a:r>
              <a:rPr lang="en-US" sz="4000" b="1" dirty="0">
                <a:solidFill>
                  <a:schemeClr val="bg1"/>
                </a:solidFill>
              </a:rPr>
              <a:t>₹25,000</a:t>
            </a:r>
            <a:endParaRPr lang="en-US" sz="4000" dirty="0"/>
          </a:p>
        </p:txBody>
      </p:sp>
      <p:sp>
        <p:nvSpPr>
          <p:cNvPr id="37" name="Premium price note"/>
          <p:cNvSpPr txBox="1"/>
          <p:nvPr/>
        </p:nvSpPr>
        <p:spPr>
          <a:xfrm>
            <a:off x="8447837" y="3154680"/>
            <a:ext cx="2875178" cy="256032"/>
          </a:xfrm>
          <a:prstGeom prst="rect">
            <a:avLst/>
          </a:prstGeom>
          <a:noFill/>
          <a:ln/>
        </p:spPr>
        <p:txBody>
          <a:bodyPr wrap="square" lIns="0" tIns="0" rIns="0" bIns="0" rtlCol="0" anchor="t"/>
          <a:lstStyle/>
          <a:p>
            <a:pPr indent="0" marL="0">
              <a:buNone/>
            </a:pPr>
            <a:r>
              <a:rPr lang="en-US" sz="1200" dirty="0">
                <a:solidFill>
                  <a:schemeClr val="bg2"/>
                </a:solidFill>
              </a:rPr>
              <a:t>per machine, one-time</a:t>
            </a:r>
            <a:endParaRPr lang="en-US" sz="1200" dirty="0"/>
          </a:p>
        </p:txBody>
      </p:sp>
      <p:sp>
        <p:nvSpPr>
          <p:cNvPr id="38" name="Premium summary"/>
          <p:cNvSpPr txBox="1"/>
          <p:nvPr/>
        </p:nvSpPr>
        <p:spPr>
          <a:xfrm>
            <a:off x="8447837" y="3566160"/>
            <a:ext cx="2875178" cy="329184"/>
          </a:xfrm>
          <a:prstGeom prst="rect">
            <a:avLst/>
          </a:prstGeom>
          <a:noFill/>
          <a:ln/>
        </p:spPr>
        <p:txBody>
          <a:bodyPr wrap="square" lIns="0" tIns="0" rIns="0" bIns="0" rtlCol="0" anchor="t"/>
          <a:lstStyle/>
          <a:p>
            <a:pPr indent="0" marL="0">
              <a:buNone/>
            </a:pPr>
            <a:r>
              <a:rPr lang="en-US" sz="1500" dirty="0">
                <a:solidFill>
                  <a:schemeClr val="bg1"/>
                </a:solidFill>
              </a:rPr>
              <a:t>Standard, plus vibration monitoring</a:t>
            </a:r>
            <a:endParaRPr lang="en-US" sz="1500" dirty="0"/>
          </a:p>
        </p:txBody>
      </p:sp>
      <p:pic>
        <p:nvPicPr>
          <p:cNvPr id="39" name="Premium: Everything in Standard tick" descr="Included">    </p:cNvPr>
          <p:cNvPicPr>
            <a:picLocks noChangeAspect="1"/>
          </p:cNvPicPr>
          <p:nvPr/>
        </p:nvPicPr>
        <p:blipFill>
          <a:blip r:embed="rId9"/>
          <a:stretch>
            <a:fillRect/>
          </a:stretch>
        </p:blipFill>
        <p:spPr>
          <a:xfrm>
            <a:off x="8447837" y="4069080"/>
            <a:ext cx="219456" cy="219456"/>
          </a:xfrm>
          <a:prstGeom prst="rect">
            <a:avLst/>
          </a:prstGeom>
        </p:spPr>
      </p:pic>
      <p:sp>
        <p:nvSpPr>
          <p:cNvPr id="40" name="Premium: Everything in Standard"/>
          <p:cNvSpPr txBox="1"/>
          <p:nvPr/>
        </p:nvSpPr>
        <p:spPr>
          <a:xfrm>
            <a:off x="8777021" y="4023360"/>
            <a:ext cx="2545994" cy="310896"/>
          </a:xfrm>
          <a:prstGeom prst="rect">
            <a:avLst/>
          </a:prstGeom>
          <a:noFill/>
          <a:ln/>
        </p:spPr>
        <p:txBody>
          <a:bodyPr wrap="square" lIns="0" tIns="0" rIns="0" bIns="0" rtlCol="0" anchor="ctr"/>
          <a:lstStyle/>
          <a:p>
            <a:pPr indent="0" marL="0">
              <a:buNone/>
            </a:pPr>
            <a:r>
              <a:rPr lang="en-US" sz="1400" dirty="0">
                <a:solidFill>
                  <a:schemeClr val="bg1"/>
                </a:solidFill>
              </a:rPr>
              <a:t>Everything in Standard</a:t>
            </a:r>
            <a:endParaRPr lang="en-US" sz="1400" dirty="0"/>
          </a:p>
        </p:txBody>
      </p:sp>
      <p:pic>
        <p:nvPicPr>
          <p:cNvPr id="41" name="Premium: Vibration monitoring tick" descr="Included">    </p:cNvPr>
          <p:cNvPicPr>
            <a:picLocks noChangeAspect="1"/>
          </p:cNvPicPr>
          <p:nvPr/>
        </p:nvPicPr>
        <p:blipFill>
          <a:blip r:embed="rId10"/>
          <a:stretch>
            <a:fillRect/>
          </a:stretch>
        </p:blipFill>
        <p:spPr>
          <a:xfrm>
            <a:off x="8447837" y="4398264"/>
            <a:ext cx="219456" cy="219456"/>
          </a:xfrm>
          <a:prstGeom prst="rect">
            <a:avLst/>
          </a:prstGeom>
        </p:spPr>
      </p:pic>
      <p:sp>
        <p:nvSpPr>
          <p:cNvPr id="42" name="Premium: Vibration monitoring"/>
          <p:cNvSpPr txBox="1"/>
          <p:nvPr/>
        </p:nvSpPr>
        <p:spPr>
          <a:xfrm>
            <a:off x="8777021" y="4352544"/>
            <a:ext cx="2545994" cy="310896"/>
          </a:xfrm>
          <a:prstGeom prst="rect">
            <a:avLst/>
          </a:prstGeom>
          <a:noFill/>
          <a:ln/>
        </p:spPr>
        <p:txBody>
          <a:bodyPr wrap="square" lIns="0" tIns="0" rIns="0" bIns="0" rtlCol="0" anchor="ctr"/>
          <a:lstStyle/>
          <a:p>
            <a:pPr indent="0" marL="0">
              <a:buNone/>
            </a:pPr>
            <a:r>
              <a:rPr lang="en-US" sz="1400" dirty="0">
                <a:solidFill>
                  <a:schemeClr val="bg1"/>
                </a:solidFill>
              </a:rPr>
              <a:t>Vibration monitoring</a:t>
            </a:r>
            <a:endParaRPr lang="en-US" sz="1400" dirty="0"/>
          </a:p>
        </p:txBody>
      </p:sp>
      <p:pic>
        <p:nvPicPr>
          <p:cNvPr id="43" name="Premium: Early warning of wear tick" descr="Included">    </p:cNvPr>
          <p:cNvPicPr>
            <a:picLocks noChangeAspect="1"/>
          </p:cNvPicPr>
          <p:nvPr/>
        </p:nvPicPr>
        <p:blipFill>
          <a:blip r:embed="rId11"/>
          <a:stretch>
            <a:fillRect/>
          </a:stretch>
        </p:blipFill>
        <p:spPr>
          <a:xfrm>
            <a:off x="8447837" y="4727448"/>
            <a:ext cx="219456" cy="219456"/>
          </a:xfrm>
          <a:prstGeom prst="rect">
            <a:avLst/>
          </a:prstGeom>
        </p:spPr>
      </p:pic>
      <p:sp>
        <p:nvSpPr>
          <p:cNvPr id="44" name="Premium: Early warning of wear"/>
          <p:cNvSpPr txBox="1"/>
          <p:nvPr/>
        </p:nvSpPr>
        <p:spPr>
          <a:xfrm>
            <a:off x="8777021" y="4681728"/>
            <a:ext cx="2545994" cy="310896"/>
          </a:xfrm>
          <a:prstGeom prst="rect">
            <a:avLst/>
          </a:prstGeom>
          <a:noFill/>
          <a:ln/>
        </p:spPr>
        <p:txBody>
          <a:bodyPr wrap="square" lIns="0" tIns="0" rIns="0" bIns="0" rtlCol="0" anchor="ctr"/>
          <a:lstStyle/>
          <a:p>
            <a:pPr indent="0" marL="0">
              <a:buNone/>
            </a:pPr>
            <a:r>
              <a:rPr lang="en-US" sz="1400" dirty="0">
                <a:solidFill>
                  <a:schemeClr val="bg1"/>
                </a:solidFill>
              </a:rPr>
              <a:t>Early warning of wear</a:t>
            </a:r>
            <a:endParaRPr lang="en-US" sz="1400" dirty="0"/>
          </a:p>
        </p:txBody>
      </p:sp>
      <p:pic>
        <p:nvPicPr>
          <p:cNvPr id="45" name="Premium: AI assistant add-on tick" descr="Included">    </p:cNvPr>
          <p:cNvPicPr>
            <a:picLocks noChangeAspect="1"/>
          </p:cNvPicPr>
          <p:nvPr/>
        </p:nvPicPr>
        <p:blipFill>
          <a:blip r:embed="rId12"/>
          <a:stretch>
            <a:fillRect/>
          </a:stretch>
        </p:blipFill>
        <p:spPr>
          <a:xfrm>
            <a:off x="8447837" y="5056632"/>
            <a:ext cx="219456" cy="219456"/>
          </a:xfrm>
          <a:prstGeom prst="rect">
            <a:avLst/>
          </a:prstGeom>
        </p:spPr>
      </p:pic>
      <p:sp>
        <p:nvSpPr>
          <p:cNvPr id="46" name="Premium: AI assistant add-on"/>
          <p:cNvSpPr txBox="1"/>
          <p:nvPr/>
        </p:nvSpPr>
        <p:spPr>
          <a:xfrm>
            <a:off x="8777021" y="5010912"/>
            <a:ext cx="2545994" cy="310896"/>
          </a:xfrm>
          <a:prstGeom prst="rect">
            <a:avLst/>
          </a:prstGeom>
          <a:noFill/>
          <a:ln/>
        </p:spPr>
        <p:txBody>
          <a:bodyPr wrap="square" lIns="0" tIns="0" rIns="0" bIns="0" rtlCol="0" anchor="ctr"/>
          <a:lstStyle/>
          <a:p>
            <a:pPr indent="0" marL="0">
              <a:buNone/>
            </a:pPr>
            <a:r>
              <a:rPr lang="en-US" sz="1400" dirty="0">
                <a:solidFill>
                  <a:schemeClr val="accent6"/>
                </a:solidFill>
              </a:rPr>
              <a:t>AI assistant add-on</a:t>
            </a:r>
            <a:endParaRPr lang="en-US" sz="1400" dirty="0"/>
          </a:p>
        </p:txBody>
      </p:sp>
      <p:sp>
        <p:nvSpPr>
          <p:cNvPr id="47" name="Premium cloud fee"/>
          <p:cNvSpPr txBox="1"/>
          <p:nvPr/>
        </p:nvSpPr>
        <p:spPr>
          <a:xfrm>
            <a:off x="8447837" y="5422392"/>
            <a:ext cx="2875178" cy="256032"/>
          </a:xfrm>
          <a:prstGeom prst="rect">
            <a:avLst/>
          </a:prstGeom>
          <a:noFill/>
          <a:ln/>
        </p:spPr>
        <p:txBody>
          <a:bodyPr wrap="square" lIns="0" tIns="0" rIns="0" bIns="0" rtlCol="0" anchor="t"/>
          <a:lstStyle/>
          <a:p>
            <a:pPr indent="0" marL="0">
              <a:buNone/>
            </a:pPr>
            <a:r>
              <a:rPr lang="en-US" sz="1200" dirty="0">
                <a:solidFill>
                  <a:schemeClr val="bg2"/>
                </a:solidFill>
              </a:rPr>
              <a:t>Cloud: ₹12,000 per machine a year</a:t>
            </a:r>
            <a:endParaRPr lang="en-US" sz="1200" dirty="0"/>
          </a:p>
        </p:txBody>
      </p:sp>
      <p:sp>
        <p:nvSpPr>
          <p:cNvPr id="48" name="Priced separately"/>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200" dirty="0">
                <a:solidFill>
                  <a:schemeClr val="bg2"/>
                </a:solidFill>
              </a:rPr>
              <a:t>Energy meters, vibration sensors, the gateway and the AI assistant are quoted with your order.  </a:t>
            </a:r>
            <a:pPr indent="0" marL="0">
              <a:buNone/>
            </a:pPr>
            <a:r>
              <a:rPr lang="en-US" sz="1200" b="1" dirty="0">
                <a:solidFill>
                  <a:schemeClr val="accent1"/>
                </a:solidFill>
              </a:rPr>
              <a:t>Customised plans are available.</a:t>
            </a:r>
            <a:endParaRPr lang="en-US" sz="12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4"/>
          <p:cNvSpPr/>
          <p:nvPr>
            <p:ph idx="105" type="body" hasCustomPrompt="1"/>
          </p:nvPr>
        </p:nvSpPr>
        <p:spPr>
          <a:xfrm>
            <a:off x="950976" y="411480"/>
            <a:ext cx="7772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HOW WE DELIVER</a:t>
            </a:r>
            <a:endParaRPr lang="en-US" sz="1200" dirty="0"/>
          </a:p>
        </p:txBody>
      </p:sp>
      <p:sp>
        <p:nvSpPr>
          <p:cNvPr id="3" name="Text 4"/>
          <p:cNvSpPr/>
          <p:nvPr>
            <p:ph idx="106" type="title" hasCustomPrompt="1"/>
          </p:nvPr>
        </p:nvSpPr>
        <p:spPr>
          <a:xfrm>
            <a:off x="548640" y="777240"/>
            <a:ext cx="11094415" cy="685800"/>
          </a:xfrm>
          <a:prstGeom prst="rect">
            <a:avLst/>
          </a:prstGeom>
          <a:noFill/>
          <a:ln/>
        </p:spPr>
        <p:txBody>
          <a:bodyPr wrap="square" lIns="0" tIns="0" rIns="0" bIns="0" rtlCol="0" anchor="t"/>
          <a:lstStyle/>
          <a:p>
            <a:pPr algn="l" indent="0" marL="0">
              <a:buNone/>
            </a:pPr>
            <a:r>
              <a:rPr lang="en-US" sz="3600" b="1" dirty="0">
                <a:solidFill>
                  <a:schemeClr val="bg1"/>
                </a:solidFill>
              </a:rPr>
              <a:t>From first meeting to a live shop floor</a:t>
            </a:r>
            <a:endParaRPr lang="en-US" sz="3600" dirty="0"/>
          </a:p>
        </p:txBody>
      </p:sp>
      <p:sp>
        <p:nvSpPr>
          <p:cNvPr id="4" name="Delivery track"/>
          <p:cNvSpPr/>
          <p:nvPr/>
        </p:nvSpPr>
        <p:spPr>
          <a:xfrm>
            <a:off x="832104" y="2194560"/>
            <a:ext cx="8526551" cy="0"/>
          </a:xfrm>
          <a:prstGeom prst="line">
            <a:avLst/>
          </a:prstGeom>
          <a:noFill/>
          <a:ln w="19050">
            <a:solidFill>
              <a:schemeClr val="accent1">
                <a:alpha val="50000"/>
              </a:schemeClr>
            </a:solidFill>
            <a:prstDash val="solid"/>
          </a:ln>
        </p:spPr>
      </p:sp>
      <p:sp>
        <p:nvSpPr>
          <p:cNvPr id="5" name="Step 1"/>
          <p:cNvSpPr/>
          <p:nvPr/>
        </p:nvSpPr>
        <p:spPr>
          <a:xfrm>
            <a:off x="548640" y="1911096"/>
            <a:ext cx="566928" cy="566928"/>
          </a:xfrm>
          <a:prstGeom prst="ellipse">
            <a:avLst/>
          </a:prstGeom>
          <a:solidFill>
            <a:schemeClr val="tx1"/>
          </a:solidFill>
          <a:ln w="25400">
            <a:solidFill>
              <a:schemeClr val="accent1"/>
            </a:solidFill>
            <a:prstDash val="solid"/>
          </a:ln>
        </p:spPr>
      </p:sp>
      <p:sp>
        <p:nvSpPr>
          <p:cNvPr id="6" name="Step 1 number"/>
          <p:cNvSpPr txBox="1"/>
          <p:nvPr/>
        </p:nvSpPr>
        <p:spPr>
          <a:xfrm>
            <a:off x="548640" y="1911096"/>
            <a:ext cx="566928" cy="566928"/>
          </a:xfrm>
          <a:prstGeom prst="rect">
            <a:avLst/>
          </a:prstGeom>
          <a:noFill/>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7" name="Discover heading"/>
          <p:cNvSpPr txBox="1"/>
          <p:nvPr/>
        </p:nvSpPr>
        <p:spPr>
          <a:xfrm>
            <a:off x="548640" y="2651760"/>
            <a:ext cx="2567864" cy="384048"/>
          </a:xfrm>
          <a:prstGeom prst="rect">
            <a:avLst/>
          </a:prstGeom>
          <a:noFill/>
          <a:ln/>
        </p:spPr>
        <p:txBody>
          <a:bodyPr wrap="square" lIns="0" tIns="0" rIns="0" bIns="0" rtlCol="0" anchor="t"/>
          <a:lstStyle/>
          <a:p>
            <a:pPr indent="0" marL="0">
              <a:buNone/>
            </a:pPr>
            <a:r>
              <a:rPr lang="en-US" sz="2000" b="1" dirty="0">
                <a:solidFill>
                  <a:schemeClr val="bg1"/>
                </a:solidFill>
              </a:rPr>
              <a:t>Discover</a:t>
            </a:r>
            <a:endParaRPr lang="en-US" sz="2000" dirty="0"/>
          </a:p>
        </p:txBody>
      </p:sp>
      <p:sp>
        <p:nvSpPr>
          <p:cNvPr id="8" name="Discover text"/>
          <p:cNvSpPr txBox="1"/>
          <p:nvPr/>
        </p:nvSpPr>
        <p:spPr>
          <a:xfrm>
            <a:off x="548640" y="3072384"/>
            <a:ext cx="2430704" cy="868680"/>
          </a:xfrm>
          <a:prstGeom prst="rect">
            <a:avLst/>
          </a:prstGeom>
          <a:noFill/>
          <a:ln/>
        </p:spPr>
        <p:txBody>
          <a:bodyPr wrap="square" lIns="0" tIns="0" rIns="0" bIns="0" rtlCol="0" anchor="t"/>
          <a:lstStyle/>
          <a:p>
            <a:pPr indent="0" marL="0">
              <a:buNone/>
            </a:pPr>
            <a:r>
              <a:rPr lang="en-US" sz="1400" dirty="0">
                <a:solidFill>
                  <a:schemeClr val="bg2"/>
                </a:solidFill>
              </a:rPr>
              <a:t>We learn your machines, shifts and goals, and agree what success means.</a:t>
            </a:r>
            <a:endParaRPr lang="en-US" sz="1400" dirty="0"/>
          </a:p>
        </p:txBody>
      </p:sp>
      <p:sp>
        <p:nvSpPr>
          <p:cNvPr id="9" name="Step 2"/>
          <p:cNvSpPr/>
          <p:nvPr/>
        </p:nvSpPr>
        <p:spPr>
          <a:xfrm>
            <a:off x="3390824" y="1911096"/>
            <a:ext cx="566928" cy="566928"/>
          </a:xfrm>
          <a:prstGeom prst="ellipse">
            <a:avLst/>
          </a:prstGeom>
          <a:solidFill>
            <a:schemeClr val="tx1"/>
          </a:solidFill>
          <a:ln w="25400">
            <a:solidFill>
              <a:schemeClr val="accent1"/>
            </a:solidFill>
            <a:prstDash val="solid"/>
          </a:ln>
        </p:spPr>
      </p:sp>
      <p:sp>
        <p:nvSpPr>
          <p:cNvPr id="10" name="Step 2 number"/>
          <p:cNvSpPr txBox="1"/>
          <p:nvPr/>
        </p:nvSpPr>
        <p:spPr>
          <a:xfrm>
            <a:off x="3390824" y="1911096"/>
            <a:ext cx="566928" cy="566928"/>
          </a:xfrm>
          <a:prstGeom prst="rect">
            <a:avLst/>
          </a:prstGeom>
          <a:noFill/>
          <a:ln/>
        </p:spPr>
        <p:txBody>
          <a:bodyPr wrap="square" lIns="0" tIns="0" rIns="0" bIns="0" rtlCol="0" anchor="ctr"/>
          <a:lstStyle/>
          <a:p>
            <a:pPr algn="ctr" indent="0" marL="0">
              <a:buNone/>
            </a:pPr>
            <a:r>
              <a:rPr lang="en-US" sz="1800" b="1" dirty="0">
                <a:solidFill>
                  <a:schemeClr val="accent1"/>
                </a:solidFill>
              </a:rPr>
              <a:t>2</a:t>
            </a:r>
            <a:endParaRPr lang="en-US" sz="1800" dirty="0"/>
          </a:p>
        </p:txBody>
      </p:sp>
      <p:sp>
        <p:nvSpPr>
          <p:cNvPr id="11" name="Connect heading"/>
          <p:cNvSpPr txBox="1"/>
          <p:nvPr/>
        </p:nvSpPr>
        <p:spPr>
          <a:xfrm>
            <a:off x="3390824" y="2651760"/>
            <a:ext cx="2567864" cy="384048"/>
          </a:xfrm>
          <a:prstGeom prst="rect">
            <a:avLst/>
          </a:prstGeom>
          <a:noFill/>
          <a:ln/>
        </p:spPr>
        <p:txBody>
          <a:bodyPr wrap="square" lIns="0" tIns="0" rIns="0" bIns="0" rtlCol="0" anchor="t"/>
          <a:lstStyle/>
          <a:p>
            <a:pPr indent="0" marL="0">
              <a:buNone/>
            </a:pPr>
            <a:r>
              <a:rPr lang="en-US" sz="2000" b="1" dirty="0">
                <a:solidFill>
                  <a:schemeClr val="bg1"/>
                </a:solidFill>
              </a:rPr>
              <a:t>Connect</a:t>
            </a:r>
            <a:endParaRPr lang="en-US" sz="2000" dirty="0"/>
          </a:p>
        </p:txBody>
      </p:sp>
      <p:sp>
        <p:nvSpPr>
          <p:cNvPr id="12" name="Connect text"/>
          <p:cNvSpPr txBox="1"/>
          <p:nvPr/>
        </p:nvSpPr>
        <p:spPr>
          <a:xfrm>
            <a:off x="3390824" y="3072384"/>
            <a:ext cx="2430704" cy="868680"/>
          </a:xfrm>
          <a:prstGeom prst="rect">
            <a:avLst/>
          </a:prstGeom>
          <a:noFill/>
          <a:ln/>
        </p:spPr>
        <p:txBody>
          <a:bodyPr wrap="square" lIns="0" tIns="0" rIns="0" bIns="0" rtlCol="0" anchor="t"/>
          <a:lstStyle/>
          <a:p>
            <a:pPr indent="0" marL="0">
              <a:buNone/>
            </a:pPr>
            <a:r>
              <a:rPr lang="en-US" sz="1400" dirty="0">
                <a:solidFill>
                  <a:schemeClr val="bg2"/>
                </a:solidFill>
              </a:rPr>
              <a:t>Your machines join the network and data starts to flow.</a:t>
            </a:r>
            <a:endParaRPr lang="en-US" sz="1400" dirty="0"/>
          </a:p>
        </p:txBody>
      </p:sp>
      <p:sp>
        <p:nvSpPr>
          <p:cNvPr id="13" name="Step 3"/>
          <p:cNvSpPr/>
          <p:nvPr/>
        </p:nvSpPr>
        <p:spPr>
          <a:xfrm>
            <a:off x="6233008" y="1911096"/>
            <a:ext cx="566928" cy="566928"/>
          </a:xfrm>
          <a:prstGeom prst="ellipse">
            <a:avLst/>
          </a:prstGeom>
          <a:solidFill>
            <a:schemeClr val="tx1"/>
          </a:solidFill>
          <a:ln w="25400">
            <a:solidFill>
              <a:schemeClr val="accent1"/>
            </a:solidFill>
            <a:prstDash val="solid"/>
          </a:ln>
        </p:spPr>
      </p:sp>
      <p:sp>
        <p:nvSpPr>
          <p:cNvPr id="14" name="Step 3 number"/>
          <p:cNvSpPr txBox="1"/>
          <p:nvPr/>
        </p:nvSpPr>
        <p:spPr>
          <a:xfrm>
            <a:off x="6233008" y="1911096"/>
            <a:ext cx="566928" cy="566928"/>
          </a:xfrm>
          <a:prstGeom prst="rect">
            <a:avLst/>
          </a:prstGeom>
          <a:noFill/>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5" name="Configure heading"/>
          <p:cNvSpPr txBox="1"/>
          <p:nvPr/>
        </p:nvSpPr>
        <p:spPr>
          <a:xfrm>
            <a:off x="6233008" y="2651760"/>
            <a:ext cx="2567864" cy="384048"/>
          </a:xfrm>
          <a:prstGeom prst="rect">
            <a:avLst/>
          </a:prstGeom>
          <a:noFill/>
          <a:ln/>
        </p:spPr>
        <p:txBody>
          <a:bodyPr wrap="square" lIns="0" tIns="0" rIns="0" bIns="0" rtlCol="0" anchor="t"/>
          <a:lstStyle/>
          <a:p>
            <a:pPr indent="0" marL="0">
              <a:buNone/>
            </a:pPr>
            <a:r>
              <a:rPr lang="en-US" sz="2000" b="1" dirty="0">
                <a:solidFill>
                  <a:schemeClr val="bg1"/>
                </a:solidFill>
              </a:rPr>
              <a:t>Configure</a:t>
            </a:r>
            <a:endParaRPr lang="en-US" sz="2000" dirty="0"/>
          </a:p>
        </p:txBody>
      </p:sp>
      <p:sp>
        <p:nvSpPr>
          <p:cNvPr id="16" name="Configure text"/>
          <p:cNvSpPr txBox="1"/>
          <p:nvPr/>
        </p:nvSpPr>
        <p:spPr>
          <a:xfrm>
            <a:off x="6233008" y="3072384"/>
            <a:ext cx="2430704" cy="868680"/>
          </a:xfrm>
          <a:prstGeom prst="rect">
            <a:avLst/>
          </a:prstGeom>
          <a:noFill/>
          <a:ln/>
        </p:spPr>
        <p:txBody>
          <a:bodyPr wrap="square" lIns="0" tIns="0" rIns="0" bIns="0" rtlCol="0" anchor="t"/>
          <a:lstStyle/>
          <a:p>
            <a:pPr indent="0" marL="0">
              <a:buNone/>
            </a:pPr>
            <a:r>
              <a:rPr lang="en-US" sz="1400" dirty="0">
                <a:solidFill>
                  <a:schemeClr val="bg2"/>
                </a:solidFill>
              </a:rPr>
              <a:t>Dashboards, targets, shifts and alerts set up your way.</a:t>
            </a:r>
            <a:endParaRPr lang="en-US" sz="1400" dirty="0"/>
          </a:p>
        </p:txBody>
      </p:sp>
      <p:sp>
        <p:nvSpPr>
          <p:cNvPr id="17" name="Step 4"/>
          <p:cNvSpPr/>
          <p:nvPr/>
        </p:nvSpPr>
        <p:spPr>
          <a:xfrm>
            <a:off x="9075191" y="1911096"/>
            <a:ext cx="566928" cy="566928"/>
          </a:xfrm>
          <a:prstGeom prst="ellipse">
            <a:avLst/>
          </a:prstGeom>
          <a:solidFill>
            <a:schemeClr val="tx1"/>
          </a:solidFill>
          <a:ln w="25400">
            <a:solidFill>
              <a:schemeClr val="accent1"/>
            </a:solidFill>
            <a:prstDash val="solid"/>
          </a:ln>
        </p:spPr>
      </p:sp>
      <p:sp>
        <p:nvSpPr>
          <p:cNvPr id="18" name="Step 4 number"/>
          <p:cNvSpPr txBox="1"/>
          <p:nvPr/>
        </p:nvSpPr>
        <p:spPr>
          <a:xfrm>
            <a:off x="9075191" y="1911096"/>
            <a:ext cx="566928" cy="566928"/>
          </a:xfrm>
          <a:prstGeom prst="rect">
            <a:avLst/>
          </a:prstGeom>
          <a:noFill/>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9" name="Go live and grow heading"/>
          <p:cNvSpPr txBox="1"/>
          <p:nvPr/>
        </p:nvSpPr>
        <p:spPr>
          <a:xfrm>
            <a:off x="9075191" y="2651760"/>
            <a:ext cx="2567864" cy="384048"/>
          </a:xfrm>
          <a:prstGeom prst="rect">
            <a:avLst/>
          </a:prstGeom>
          <a:noFill/>
          <a:ln/>
        </p:spPr>
        <p:txBody>
          <a:bodyPr wrap="square" lIns="0" tIns="0" rIns="0" bIns="0" rtlCol="0" anchor="t"/>
          <a:lstStyle/>
          <a:p>
            <a:pPr indent="0" marL="0">
              <a:buNone/>
            </a:pPr>
            <a:r>
              <a:rPr lang="en-US" sz="2000" b="1" dirty="0">
                <a:solidFill>
                  <a:schemeClr val="bg1"/>
                </a:solidFill>
              </a:rPr>
              <a:t>Go live and grow</a:t>
            </a:r>
            <a:endParaRPr lang="en-US" sz="2000" dirty="0"/>
          </a:p>
        </p:txBody>
      </p:sp>
      <p:sp>
        <p:nvSpPr>
          <p:cNvPr id="20" name="Go live and grow text"/>
          <p:cNvSpPr txBox="1"/>
          <p:nvPr/>
        </p:nvSpPr>
        <p:spPr>
          <a:xfrm>
            <a:off x="9075191" y="3072384"/>
            <a:ext cx="2430704" cy="868680"/>
          </a:xfrm>
          <a:prstGeom prst="rect">
            <a:avLst/>
          </a:prstGeom>
          <a:noFill/>
          <a:ln/>
        </p:spPr>
        <p:txBody>
          <a:bodyPr wrap="square" lIns="0" tIns="0" rIns="0" bIns="0" rtlCol="0" anchor="t"/>
          <a:lstStyle/>
          <a:p>
            <a:pPr indent="0" marL="0">
              <a:buNone/>
            </a:pPr>
            <a:r>
              <a:rPr lang="en-US" sz="1400" dirty="0">
                <a:solidFill>
                  <a:schemeClr val="bg2"/>
                </a:solidFill>
              </a:rPr>
              <a:t>Your team is trained, and we stay with you as you grow.</a:t>
            </a:r>
            <a:endParaRPr lang="en-US" sz="1400" dirty="0"/>
          </a:p>
        </p:txBody>
      </p:sp>
      <p:sp>
        <p:nvSpPr>
          <p:cNvPr id="21" name="Your side card"/>
          <p:cNvSpPr/>
          <p:nvPr/>
        </p:nvSpPr>
        <p:spPr>
          <a:xfrm>
            <a:off x="548640" y="4297680"/>
            <a:ext cx="11094415" cy="1737360"/>
          </a:xfrm>
          <a:prstGeom prst="roundRect">
            <a:avLst>
              <a:gd name="adj" fmla="val 6316"/>
            </a:avLst>
          </a:prstGeom>
          <a:solidFill>
            <a:schemeClr val="tx2">
              <a:alpha val="92000"/>
            </a:schemeClr>
          </a:solidFill>
          <a:ln w="9525">
            <a:solidFill>
              <a:schemeClr val="bg2">
                <a:alpha val="22000"/>
              </a:schemeClr>
            </a:solidFill>
            <a:prstDash val="solid"/>
          </a:ln>
        </p:spPr>
      </p:sp>
      <p:sp>
        <p:nvSpPr>
          <p:cNvPr id="22" name="Your side heading"/>
          <p:cNvSpPr txBox="1"/>
          <p:nvPr/>
        </p:nvSpPr>
        <p:spPr>
          <a:xfrm>
            <a:off x="914400" y="4526280"/>
            <a:ext cx="7315200" cy="365760"/>
          </a:xfrm>
          <a:prstGeom prst="rect">
            <a:avLst/>
          </a:prstGeom>
          <a:noFill/>
          <a:ln/>
        </p:spPr>
        <p:txBody>
          <a:bodyPr wrap="square" lIns="0" tIns="0" rIns="0" bIns="0" rtlCol="0" anchor="t"/>
          <a:lstStyle/>
          <a:p>
            <a:pPr indent="0" marL="0">
              <a:buNone/>
            </a:pPr>
            <a:r>
              <a:rPr lang="en-US" sz="1800" b="1" dirty="0">
                <a:solidFill>
                  <a:schemeClr val="bg1"/>
                </a:solidFill>
              </a:rPr>
              <a:t>What we need from your side</a:t>
            </a:r>
            <a:endParaRPr lang="en-US" sz="1800" dirty="0"/>
          </a:p>
        </p:txBody>
      </p:sp>
      <p:sp>
        <p:nvSpPr>
          <p:cNvPr id="23" name="Power points near the machines and the server or gateway tile"/>
          <p:cNvSpPr/>
          <p:nvPr/>
        </p:nvSpPr>
        <p:spPr>
          <a:xfrm>
            <a:off x="914400" y="5074920"/>
            <a:ext cx="502920" cy="502920"/>
          </a:xfrm>
          <a:prstGeom prst="roundRect">
            <a:avLst>
              <a:gd name="adj" fmla="val 24000"/>
            </a:avLst>
          </a:prstGeom>
          <a:solidFill>
            <a:schemeClr val="accent4">
              <a:alpha val="16000"/>
            </a:schemeClr>
          </a:solidFill>
          <a:ln/>
        </p:spPr>
      </p:sp>
      <p:pic>
        <p:nvPicPr>
          <p:cNvPr id="24" name="Power points near the machines and the server or gateway icon" descr="Power points near the machines and the server or gateway">    </p:cNvPr>
          <p:cNvPicPr>
            <a:picLocks noChangeAspect="1"/>
          </p:cNvPicPr>
          <p:nvPr/>
        </p:nvPicPr>
        <p:blipFill>
          <a:blip r:embed="rId1"/>
          <a:stretch>
            <a:fillRect/>
          </a:stretch>
        </p:blipFill>
        <p:spPr>
          <a:xfrm>
            <a:off x="1025042" y="5185562"/>
            <a:ext cx="281635" cy="281635"/>
          </a:xfrm>
          <a:prstGeom prst="rect">
            <a:avLst/>
          </a:prstGeom>
        </p:spPr>
      </p:pic>
      <p:sp>
        <p:nvSpPr>
          <p:cNvPr id="25" name="Power points near the machines and the server or gateway text"/>
          <p:cNvSpPr txBox="1"/>
          <p:nvPr/>
        </p:nvSpPr>
        <p:spPr>
          <a:xfrm>
            <a:off x="1600200" y="5056632"/>
            <a:ext cx="2651760" cy="566928"/>
          </a:xfrm>
          <a:prstGeom prst="rect">
            <a:avLst/>
          </a:prstGeom>
          <a:noFill/>
          <a:ln/>
        </p:spPr>
        <p:txBody>
          <a:bodyPr wrap="square" lIns="0" tIns="0" rIns="0" bIns="0" rtlCol="0" anchor="ctr"/>
          <a:lstStyle/>
          <a:p>
            <a:pPr indent="0" marL="0">
              <a:buNone/>
            </a:pPr>
            <a:r>
              <a:rPr lang="en-US" sz="1400" dirty="0">
                <a:solidFill>
                  <a:schemeClr val="bg1"/>
                </a:solidFill>
              </a:rPr>
              <a:t>Power points near the machines and the server or gateway</a:t>
            </a:r>
            <a:endParaRPr lang="en-US" sz="1400" dirty="0"/>
          </a:p>
        </p:txBody>
      </p:sp>
      <p:sp>
        <p:nvSpPr>
          <p:cNvPr id="26" name="An Ethernet connection to each machine tile"/>
          <p:cNvSpPr/>
          <p:nvPr/>
        </p:nvSpPr>
        <p:spPr>
          <a:xfrm>
            <a:off x="4434840" y="5074920"/>
            <a:ext cx="502920" cy="502920"/>
          </a:xfrm>
          <a:prstGeom prst="roundRect">
            <a:avLst>
              <a:gd name="adj" fmla="val 24000"/>
            </a:avLst>
          </a:prstGeom>
          <a:solidFill>
            <a:schemeClr val="accent1">
              <a:alpha val="16000"/>
            </a:schemeClr>
          </a:solidFill>
          <a:ln/>
        </p:spPr>
      </p:sp>
      <p:pic>
        <p:nvPicPr>
          <p:cNvPr id="27" name="An Ethernet connection to each machine icon" descr="An Ethernet connection to each machine">    </p:cNvPr>
          <p:cNvPicPr>
            <a:picLocks noChangeAspect="1"/>
          </p:cNvPicPr>
          <p:nvPr/>
        </p:nvPicPr>
        <p:blipFill>
          <a:blip r:embed="rId2"/>
          <a:stretch>
            <a:fillRect/>
          </a:stretch>
        </p:blipFill>
        <p:spPr>
          <a:xfrm>
            <a:off x="4545482" y="5185562"/>
            <a:ext cx="281635" cy="281635"/>
          </a:xfrm>
          <a:prstGeom prst="rect">
            <a:avLst/>
          </a:prstGeom>
        </p:spPr>
      </p:pic>
      <p:sp>
        <p:nvSpPr>
          <p:cNvPr id="28" name="An Ethernet connection to each machine text"/>
          <p:cNvSpPr txBox="1"/>
          <p:nvPr/>
        </p:nvSpPr>
        <p:spPr>
          <a:xfrm>
            <a:off x="5120640" y="5056632"/>
            <a:ext cx="2651760" cy="566928"/>
          </a:xfrm>
          <a:prstGeom prst="rect">
            <a:avLst/>
          </a:prstGeom>
          <a:noFill/>
          <a:ln/>
        </p:spPr>
        <p:txBody>
          <a:bodyPr wrap="square" lIns="0" tIns="0" rIns="0" bIns="0" rtlCol="0" anchor="ctr"/>
          <a:lstStyle/>
          <a:p>
            <a:pPr indent="0" marL="0">
              <a:buNone/>
            </a:pPr>
            <a:r>
              <a:rPr lang="en-US" sz="1400" dirty="0">
                <a:solidFill>
                  <a:schemeClr val="bg1"/>
                </a:solidFill>
              </a:rPr>
              <a:t>An Ethernet connection to each machine</a:t>
            </a:r>
            <a:endParaRPr lang="en-US" sz="1400" dirty="0"/>
          </a:p>
        </p:txBody>
      </p:sp>
      <p:sp>
        <p:nvSpPr>
          <p:cNvPr id="29" name="Machine access and a site contact during installation tile"/>
          <p:cNvSpPr/>
          <p:nvPr/>
        </p:nvSpPr>
        <p:spPr>
          <a:xfrm>
            <a:off x="7955280" y="5074920"/>
            <a:ext cx="502920" cy="502920"/>
          </a:xfrm>
          <a:prstGeom prst="roundRect">
            <a:avLst>
              <a:gd name="adj" fmla="val 24000"/>
            </a:avLst>
          </a:prstGeom>
          <a:solidFill>
            <a:schemeClr val="accent6">
              <a:alpha val="16000"/>
            </a:schemeClr>
          </a:solidFill>
          <a:ln/>
        </p:spPr>
      </p:sp>
      <p:pic>
        <p:nvPicPr>
          <p:cNvPr id="30" name="Machine access and a site contact during installation icon" descr="Machine access and a site contact during installation">    </p:cNvPr>
          <p:cNvPicPr>
            <a:picLocks noChangeAspect="1"/>
          </p:cNvPicPr>
          <p:nvPr/>
        </p:nvPicPr>
        <p:blipFill>
          <a:blip r:embed="rId3"/>
          <a:stretch>
            <a:fillRect/>
          </a:stretch>
        </p:blipFill>
        <p:spPr>
          <a:xfrm>
            <a:off x="8065922" y="5185562"/>
            <a:ext cx="281635" cy="281635"/>
          </a:xfrm>
          <a:prstGeom prst="rect">
            <a:avLst/>
          </a:prstGeom>
        </p:spPr>
      </p:pic>
      <p:sp>
        <p:nvSpPr>
          <p:cNvPr id="31" name="Machine access and a site contact during installation text"/>
          <p:cNvSpPr txBox="1"/>
          <p:nvPr/>
        </p:nvSpPr>
        <p:spPr>
          <a:xfrm>
            <a:off x="8641080" y="5056632"/>
            <a:ext cx="2651760" cy="566928"/>
          </a:xfrm>
          <a:prstGeom prst="rect">
            <a:avLst/>
          </a:prstGeom>
          <a:noFill/>
          <a:ln/>
        </p:spPr>
        <p:txBody>
          <a:bodyPr wrap="square" lIns="0" tIns="0" rIns="0" bIns="0" rtlCol="0" anchor="ctr"/>
          <a:lstStyle/>
          <a:p>
            <a:pPr indent="0" marL="0">
              <a:buNone/>
            </a:pPr>
            <a:r>
              <a:rPr lang="en-US" sz="1400" dirty="0">
                <a:solidFill>
                  <a:schemeClr val="bg1"/>
                </a:solidFill>
              </a:rPr>
              <a:t>Machine access and a site contact during installation</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B7BCE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4" type="body" hasCustomPrompt="1"/>
          </p:nvPr>
        </p:nvSpPr>
        <p:spPr>
          <a:xfrm>
            <a:off x="950976" y="1847088"/>
            <a:ext cx="50292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NEXT STEP</a:t>
            </a:r>
            <a:endParaRPr lang="en-US" sz="1300" dirty="0"/>
          </a:p>
        </p:txBody>
      </p:sp>
      <p:sp>
        <p:nvSpPr>
          <p:cNvPr id="3" name="Text 3"/>
          <p:cNvSpPr/>
          <p:nvPr>
            <p:ph idx="105" type="title" hasCustomPrompt="1"/>
          </p:nvPr>
        </p:nvSpPr>
        <p:spPr>
          <a:xfrm>
            <a:off x="548640" y="2240280"/>
            <a:ext cx="5760720" cy="1463040"/>
          </a:xfrm>
          <a:prstGeom prst="rect">
            <a:avLst/>
          </a:prstGeom>
          <a:noFill/>
          <a:ln/>
        </p:spPr>
        <p:txBody>
          <a:bodyPr wrap="square" lIns="0" tIns="0" rIns="0" bIns="0" rtlCol="0" anchor="t"/>
          <a:lstStyle/>
          <a:p>
            <a:pPr algn="l" indent="0" marL="0">
              <a:buNone/>
            </a:pPr>
            <a:r>
              <a:rPr lang="en-US" sz="4400" b="1" dirty="0">
                <a:solidFill>
                  <a:schemeClr val="bg1"/>
                </a:solidFill>
              </a:rPr>
              <a:t>Let’s see your</a:t>
            </a:r>
            <a:endParaRPr lang="en-US" sz="4400" dirty="0"/>
          </a:p>
          <a:p>
            <a:pPr algn="l" indent="0" marL="0">
              <a:buNone/>
            </a:pPr>
            <a:r>
              <a:rPr lang="en-US" sz="4400" b="1" dirty="0">
                <a:solidFill>
                  <a:schemeClr val="accent1"/>
                </a:solidFill>
              </a:rPr>
              <a:t>shop floor live</a:t>
            </a:r>
            <a:endParaRPr lang="en-US" sz="4400" dirty="0"/>
          </a:p>
        </p:txBody>
      </p:sp>
      <p:sp>
        <p:nvSpPr>
          <p:cNvPr id="4" name="Text 3"/>
          <p:cNvSpPr/>
          <p:nvPr>
            <p:ph idx="106" type="body" hasCustomPrompt="1"/>
          </p:nvPr>
        </p:nvSpPr>
        <p:spPr>
          <a:xfrm>
            <a:off x="548640" y="3931920"/>
            <a:ext cx="5029200" cy="914400"/>
          </a:xfrm>
          <a:prstGeom prst="rect">
            <a:avLst/>
          </a:prstGeom>
          <a:noFill/>
          <a:ln/>
        </p:spPr>
        <p:txBody>
          <a:bodyPr wrap="square" lIns="0" tIns="0" rIns="0" bIns="0" rtlCol="0" anchor="t"/>
          <a:lstStyle/>
          <a:p>
            <a:pPr indent="0" marL="0">
              <a:buNone/>
            </a:pPr>
            <a:r>
              <a:rPr lang="en-US" sz="1800" dirty="0">
                <a:solidFill>
                  <a:schemeClr val="bg2"/>
                </a:solidFill>
              </a:rPr>
              <a:t>Tell us three things,</a:t>
            </a:r>
            <a:endParaRPr lang="en-US" sz="1800" dirty="0"/>
          </a:p>
          <a:p>
            <a:pPr indent="0" marL="0">
              <a:buNone/>
            </a:pPr>
            <a:r>
              <a:rPr lang="en-US" sz="1800" dirty="0">
                <a:solidFill>
                  <a:schemeClr val="bg2"/>
                </a:solidFill>
              </a:rPr>
              <a:t>and we will send your final quotation.</a:t>
            </a:r>
            <a:endParaRPr lang="en-US" sz="1800" dirty="0"/>
          </a:p>
        </p:txBody>
      </p:sp>
      <p:sp>
        <p:nvSpPr>
          <p:cNvPr id="5" name="Your plan card"/>
          <p:cNvSpPr/>
          <p:nvPr/>
        </p:nvSpPr>
        <p:spPr>
          <a:xfrm>
            <a:off x="6583680" y="1874520"/>
            <a:ext cx="5059375" cy="960120"/>
          </a:xfrm>
          <a:prstGeom prst="roundRect">
            <a:avLst>
              <a:gd name="adj" fmla="val 11429"/>
            </a:avLst>
          </a:prstGeom>
          <a:solidFill>
            <a:schemeClr val="tx2">
              <a:alpha val="92000"/>
            </a:schemeClr>
          </a:solidFill>
          <a:ln w="9525">
            <a:solidFill>
              <a:schemeClr val="bg2">
                <a:alpha val="22000"/>
              </a:schemeClr>
            </a:solidFill>
            <a:prstDash val="solid"/>
          </a:ln>
        </p:spPr>
      </p:sp>
      <p:sp>
        <p:nvSpPr>
          <p:cNvPr id="6" name="Your plan number disc"/>
          <p:cNvSpPr/>
          <p:nvPr/>
        </p:nvSpPr>
        <p:spPr>
          <a:xfrm>
            <a:off x="6858000" y="2103120"/>
            <a:ext cx="502920" cy="502920"/>
          </a:xfrm>
          <a:prstGeom prst="ellipse">
            <a:avLst/>
          </a:prstGeom>
          <a:solidFill>
            <a:schemeClr val="accent1"/>
          </a:solidFill>
          <a:ln/>
        </p:spPr>
      </p:sp>
      <p:sp>
        <p:nvSpPr>
          <p:cNvPr id="7" name="Your plan number"/>
          <p:cNvSpPr txBox="1"/>
          <p:nvPr/>
        </p:nvSpPr>
        <p:spPr>
          <a:xfrm>
            <a:off x="6858000" y="21031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8" name="Your plan heading"/>
          <p:cNvSpPr txBox="1"/>
          <p:nvPr/>
        </p:nvSpPr>
        <p:spPr>
          <a:xfrm>
            <a:off x="7589520" y="2029968"/>
            <a:ext cx="3779215" cy="347472"/>
          </a:xfrm>
          <a:prstGeom prst="rect">
            <a:avLst/>
          </a:prstGeom>
          <a:noFill/>
          <a:ln/>
        </p:spPr>
        <p:txBody>
          <a:bodyPr wrap="square" lIns="0" tIns="0" rIns="0" bIns="0" rtlCol="0" anchor="t"/>
          <a:lstStyle/>
          <a:p>
            <a:pPr indent="0" marL="0">
              <a:buNone/>
            </a:pPr>
            <a:r>
              <a:rPr lang="en-US" sz="2000" b="1" dirty="0">
                <a:solidFill>
                  <a:schemeClr val="bg1"/>
                </a:solidFill>
              </a:rPr>
              <a:t>Your plan</a:t>
            </a:r>
            <a:endParaRPr lang="en-US" sz="2000" dirty="0"/>
          </a:p>
        </p:txBody>
      </p:sp>
      <p:sp>
        <p:nvSpPr>
          <p:cNvPr id="9" name="Your plan text"/>
          <p:cNvSpPr txBox="1"/>
          <p:nvPr/>
        </p:nvSpPr>
        <p:spPr>
          <a:xfrm>
            <a:off x="7589520" y="2377440"/>
            <a:ext cx="3779215" cy="320040"/>
          </a:xfrm>
          <a:prstGeom prst="rect">
            <a:avLst/>
          </a:prstGeom>
          <a:noFill/>
          <a:ln/>
        </p:spPr>
        <p:txBody>
          <a:bodyPr wrap="square" lIns="0" tIns="0" rIns="0" bIns="0" rtlCol="0" anchor="t"/>
          <a:lstStyle/>
          <a:p>
            <a:pPr indent="0" marL="0">
              <a:buNone/>
            </a:pPr>
            <a:r>
              <a:rPr lang="en-US" sz="1500" dirty="0">
                <a:solidFill>
                  <a:schemeClr val="bg2"/>
                </a:solidFill>
              </a:rPr>
              <a:t>Basic, Standard, Premium or a customised plan</a:t>
            </a:r>
            <a:endParaRPr lang="en-US" sz="1500" dirty="0"/>
          </a:p>
        </p:txBody>
      </p:sp>
      <p:sp>
        <p:nvSpPr>
          <p:cNvPr id="10" name="Your machines card"/>
          <p:cNvSpPr/>
          <p:nvPr/>
        </p:nvSpPr>
        <p:spPr>
          <a:xfrm>
            <a:off x="6583680" y="3063240"/>
            <a:ext cx="5059375" cy="960120"/>
          </a:xfrm>
          <a:prstGeom prst="roundRect">
            <a:avLst>
              <a:gd name="adj" fmla="val 11429"/>
            </a:avLst>
          </a:prstGeom>
          <a:solidFill>
            <a:schemeClr val="tx2">
              <a:alpha val="92000"/>
            </a:schemeClr>
          </a:solidFill>
          <a:ln w="9525">
            <a:solidFill>
              <a:schemeClr val="bg2">
                <a:alpha val="22000"/>
              </a:schemeClr>
            </a:solidFill>
            <a:prstDash val="solid"/>
          </a:ln>
        </p:spPr>
      </p:sp>
      <p:sp>
        <p:nvSpPr>
          <p:cNvPr id="11" name="Your machines number disc"/>
          <p:cNvSpPr/>
          <p:nvPr/>
        </p:nvSpPr>
        <p:spPr>
          <a:xfrm>
            <a:off x="6858000" y="3291840"/>
            <a:ext cx="502920" cy="502920"/>
          </a:xfrm>
          <a:prstGeom prst="ellipse">
            <a:avLst/>
          </a:prstGeom>
          <a:solidFill>
            <a:schemeClr val="accent1"/>
          </a:solidFill>
          <a:ln/>
        </p:spPr>
      </p:sp>
      <p:sp>
        <p:nvSpPr>
          <p:cNvPr id="12" name="Your machines number"/>
          <p:cNvSpPr txBox="1"/>
          <p:nvPr/>
        </p:nvSpPr>
        <p:spPr>
          <a:xfrm>
            <a:off x="6858000" y="329184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3" name="Your machines heading"/>
          <p:cNvSpPr txBox="1"/>
          <p:nvPr/>
        </p:nvSpPr>
        <p:spPr>
          <a:xfrm>
            <a:off x="7589520" y="3218688"/>
            <a:ext cx="3779215" cy="347472"/>
          </a:xfrm>
          <a:prstGeom prst="rect">
            <a:avLst/>
          </a:prstGeom>
          <a:noFill/>
          <a:ln/>
        </p:spPr>
        <p:txBody>
          <a:bodyPr wrap="square" lIns="0" tIns="0" rIns="0" bIns="0" rtlCol="0" anchor="t"/>
          <a:lstStyle/>
          <a:p>
            <a:pPr indent="0" marL="0">
              <a:buNone/>
            </a:pPr>
            <a:r>
              <a:rPr lang="en-US" sz="2000" b="1" dirty="0">
                <a:solidFill>
                  <a:schemeClr val="bg1"/>
                </a:solidFill>
              </a:rPr>
              <a:t>Your machines</a:t>
            </a:r>
            <a:endParaRPr lang="en-US" sz="2000" dirty="0"/>
          </a:p>
        </p:txBody>
      </p:sp>
      <p:sp>
        <p:nvSpPr>
          <p:cNvPr id="14" name="Your machines text"/>
          <p:cNvSpPr txBox="1"/>
          <p:nvPr/>
        </p:nvSpPr>
        <p:spPr>
          <a:xfrm>
            <a:off x="7589520" y="3566160"/>
            <a:ext cx="3779215" cy="320040"/>
          </a:xfrm>
          <a:prstGeom prst="rect">
            <a:avLst/>
          </a:prstGeom>
          <a:noFill/>
          <a:ln/>
        </p:spPr>
        <p:txBody>
          <a:bodyPr wrap="square" lIns="0" tIns="0" rIns="0" bIns="0" rtlCol="0" anchor="t"/>
          <a:lstStyle/>
          <a:p>
            <a:pPr indent="0" marL="0">
              <a:buNone/>
            </a:pPr>
            <a:r>
              <a:rPr lang="en-US" sz="1500" dirty="0">
                <a:solidFill>
                  <a:schemeClr val="bg2"/>
                </a:solidFill>
              </a:rPr>
              <a:t>How many machines to connect first</a:t>
            </a:r>
            <a:endParaRPr lang="en-US" sz="1500" dirty="0"/>
          </a:p>
        </p:txBody>
      </p:sp>
      <p:sp>
        <p:nvSpPr>
          <p:cNvPr id="15" name="Where it runs card"/>
          <p:cNvSpPr/>
          <p:nvPr/>
        </p:nvSpPr>
        <p:spPr>
          <a:xfrm>
            <a:off x="6583680" y="4251960"/>
            <a:ext cx="5059375" cy="960120"/>
          </a:xfrm>
          <a:prstGeom prst="roundRect">
            <a:avLst>
              <a:gd name="adj" fmla="val 11429"/>
            </a:avLst>
          </a:prstGeom>
          <a:solidFill>
            <a:schemeClr val="tx2">
              <a:alpha val="92000"/>
            </a:schemeClr>
          </a:solidFill>
          <a:ln w="9525">
            <a:solidFill>
              <a:schemeClr val="bg2">
                <a:alpha val="22000"/>
              </a:schemeClr>
            </a:solidFill>
            <a:prstDash val="solid"/>
          </a:ln>
        </p:spPr>
      </p:sp>
      <p:sp>
        <p:nvSpPr>
          <p:cNvPr id="16" name="Where it runs number disc"/>
          <p:cNvSpPr/>
          <p:nvPr/>
        </p:nvSpPr>
        <p:spPr>
          <a:xfrm>
            <a:off x="6858000" y="4480560"/>
            <a:ext cx="502920" cy="502920"/>
          </a:xfrm>
          <a:prstGeom prst="ellipse">
            <a:avLst/>
          </a:prstGeom>
          <a:solidFill>
            <a:schemeClr val="accent1"/>
          </a:solidFill>
          <a:ln/>
        </p:spPr>
      </p:sp>
      <p:sp>
        <p:nvSpPr>
          <p:cNvPr id="17" name="Where it runs number"/>
          <p:cNvSpPr txBox="1"/>
          <p:nvPr/>
        </p:nvSpPr>
        <p:spPr>
          <a:xfrm>
            <a:off x="6858000" y="448056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8" name="Where it runs heading"/>
          <p:cNvSpPr txBox="1"/>
          <p:nvPr/>
        </p:nvSpPr>
        <p:spPr>
          <a:xfrm>
            <a:off x="7589520" y="4407408"/>
            <a:ext cx="3779215" cy="347472"/>
          </a:xfrm>
          <a:prstGeom prst="rect">
            <a:avLst/>
          </a:prstGeom>
          <a:noFill/>
          <a:ln/>
        </p:spPr>
        <p:txBody>
          <a:bodyPr wrap="square" lIns="0" tIns="0" rIns="0" bIns="0" rtlCol="0" anchor="t"/>
          <a:lstStyle/>
          <a:p>
            <a:pPr indent="0" marL="0">
              <a:buNone/>
            </a:pPr>
            <a:r>
              <a:rPr lang="en-US" sz="2000" b="1" dirty="0">
                <a:solidFill>
                  <a:schemeClr val="bg1"/>
                </a:solidFill>
              </a:rPr>
              <a:t>Where it runs</a:t>
            </a:r>
            <a:endParaRPr lang="en-US" sz="2000" dirty="0"/>
          </a:p>
        </p:txBody>
      </p:sp>
      <p:sp>
        <p:nvSpPr>
          <p:cNvPr id="19" name="Where it runs text"/>
          <p:cNvSpPr txBox="1"/>
          <p:nvPr/>
        </p:nvSpPr>
        <p:spPr>
          <a:xfrm>
            <a:off x="7589520" y="4754880"/>
            <a:ext cx="3779215" cy="320040"/>
          </a:xfrm>
          <a:prstGeom prst="rect">
            <a:avLst/>
          </a:prstGeom>
          <a:noFill/>
          <a:ln/>
        </p:spPr>
        <p:txBody>
          <a:bodyPr wrap="square" lIns="0" tIns="0" rIns="0" bIns="0" rtlCol="0" anchor="t"/>
          <a:lstStyle/>
          <a:p>
            <a:pPr indent="0" marL="0">
              <a:buNone/>
            </a:pPr>
            <a:r>
              <a:rPr lang="en-US" sz="1500" dirty="0">
                <a:solidFill>
                  <a:schemeClr val="bg2"/>
                </a:solidFill>
              </a:rPr>
              <a:t>Your own server or the Dharstec cloud</a:t>
            </a:r>
            <a:endParaRPr lang="en-US" sz="1500" dirty="0"/>
          </a:p>
        </p:txBody>
      </p:sp>
      <p:pic>
        <p:nvPicPr>
          <p:cNvPr id="20" name="info@dharstec.com icon" descr="mail">    </p:cNvPr>
          <p:cNvPicPr>
            <a:picLocks noChangeAspect="1"/>
          </p:cNvPicPr>
          <p:nvPr/>
        </p:nvPicPr>
        <p:blipFill>
          <a:blip r:embed="rId1"/>
          <a:stretch>
            <a:fillRect/>
          </a:stretch>
        </p:blipFill>
        <p:spPr>
          <a:xfrm>
            <a:off x="548640" y="5833872"/>
            <a:ext cx="274320" cy="274320"/>
          </a:xfrm>
          <a:prstGeom prst="rect">
            <a:avLst/>
          </a:prstGeom>
        </p:spPr>
      </p:pic>
      <p:sp>
        <p:nvSpPr>
          <p:cNvPr id="21" name="info@dharstec.com"/>
          <p:cNvSpPr txBox="1"/>
          <p:nvPr/>
        </p:nvSpPr>
        <p:spPr>
          <a:xfrm>
            <a:off x="932688" y="5788152"/>
            <a:ext cx="1993392" cy="365760"/>
          </a:xfrm>
          <a:prstGeom prst="rect">
            <a:avLst/>
          </a:prstGeom>
          <a:noFill/>
          <a:ln/>
        </p:spPr>
        <p:txBody>
          <a:bodyPr wrap="square" lIns="0" tIns="0" rIns="0" bIns="0" rtlCol="0" anchor="ctr"/>
          <a:lstStyle/>
          <a:p>
            <a:pPr indent="0" marL="0">
              <a:buNone/>
            </a:pPr>
            <a:r>
              <a:rPr lang="en-US" sz="1500" dirty="0">
                <a:solidFill>
                  <a:schemeClr val="bg1"/>
                </a:solidFill>
              </a:rPr>
              <a:t>info@dharstec.com</a:t>
            </a:r>
            <a:endParaRPr lang="en-US" sz="1500" dirty="0"/>
          </a:p>
        </p:txBody>
      </p:sp>
      <p:pic>
        <p:nvPicPr>
          <p:cNvPr id="22" name="dharstec.com icon" descr="web">    </p:cNvPr>
          <p:cNvPicPr>
            <a:picLocks noChangeAspect="1"/>
          </p:cNvPicPr>
          <p:nvPr/>
        </p:nvPicPr>
        <p:blipFill>
          <a:blip r:embed="rId2"/>
          <a:stretch>
            <a:fillRect/>
          </a:stretch>
        </p:blipFill>
        <p:spPr>
          <a:xfrm>
            <a:off x="3108960" y="5833872"/>
            <a:ext cx="274320" cy="274320"/>
          </a:xfrm>
          <a:prstGeom prst="rect">
            <a:avLst/>
          </a:prstGeom>
        </p:spPr>
      </p:pic>
      <p:sp>
        <p:nvSpPr>
          <p:cNvPr id="23" name="dharstec.com"/>
          <p:cNvSpPr txBox="1"/>
          <p:nvPr/>
        </p:nvSpPr>
        <p:spPr>
          <a:xfrm>
            <a:off x="3493008" y="5788152"/>
            <a:ext cx="1536192" cy="365760"/>
          </a:xfrm>
          <a:prstGeom prst="rect">
            <a:avLst/>
          </a:prstGeom>
          <a:noFill/>
          <a:ln/>
        </p:spPr>
        <p:txBody>
          <a:bodyPr wrap="square" lIns="0" tIns="0" rIns="0" bIns="0" rtlCol="0" anchor="ctr"/>
          <a:lstStyle/>
          <a:p>
            <a:pPr indent="0" marL="0">
              <a:buNone/>
            </a:pPr>
            <a:r>
              <a:rPr lang="en-US" sz="1500" dirty="0">
                <a:solidFill>
                  <a:schemeClr val="bg1"/>
                </a:solidFill>
              </a:rPr>
              <a:t>dharstec.com</a:t>
            </a:r>
            <a:endParaRPr lang="en-US" sz="1500" dirty="0"/>
          </a:p>
        </p:txBody>
      </p:sp>
      <p:pic>
        <p:nvPicPr>
          <p:cNvPr id="24" name="Chennai, India icon" descr="pin">    </p:cNvPr>
          <p:cNvPicPr>
            <a:picLocks noChangeAspect="1"/>
          </p:cNvPicPr>
          <p:nvPr/>
        </p:nvPicPr>
        <p:blipFill>
          <a:blip r:embed="rId3"/>
          <a:stretch>
            <a:fillRect/>
          </a:stretch>
        </p:blipFill>
        <p:spPr>
          <a:xfrm>
            <a:off x="5212080" y="5833872"/>
            <a:ext cx="274320" cy="274320"/>
          </a:xfrm>
          <a:prstGeom prst="rect">
            <a:avLst/>
          </a:prstGeom>
        </p:spPr>
      </p:pic>
      <p:sp>
        <p:nvSpPr>
          <p:cNvPr id="25" name="Chennai, India"/>
          <p:cNvSpPr txBox="1"/>
          <p:nvPr/>
        </p:nvSpPr>
        <p:spPr>
          <a:xfrm>
            <a:off x="5596128" y="5788152"/>
            <a:ext cx="1810512" cy="365760"/>
          </a:xfrm>
          <a:prstGeom prst="rect">
            <a:avLst/>
          </a:prstGeom>
          <a:noFill/>
          <a:ln/>
        </p:spPr>
        <p:txBody>
          <a:bodyPr wrap="square" lIns="0" tIns="0" rIns="0" bIns="0" rtlCol="0" anchor="ctr"/>
          <a:lstStyle/>
          <a:p>
            <a:pPr indent="0" marL="0">
              <a:buNone/>
            </a:pPr>
            <a:r>
              <a:rPr lang="en-US" sz="1500" dirty="0">
                <a:solidFill>
                  <a:schemeClr val="bg1"/>
                </a:solidFill>
              </a:rPr>
              <a:t>Chennai, India</a:t>
            </a:r>
            <a:endParaRPr lang="en-US" sz="1500" dirty="0"/>
          </a:p>
        </p:txBody>
      </p:sp>
    </p:spTree>
  </p:cSld>
  <p:clrMapOvr>
    <a:masterClrMapping/>
  </p:clrMapOvr>
</p:sld>
</file>

<file path=ppt/theme/theme1.xml><?xml version="1.0" encoding="utf-8"?>
<a:theme xmlns:a="http://schemas.openxmlformats.org/drawingml/2006/main" name="Dharstec Night">
  <a:themeElements>
    <a:clrScheme name="Dharstec Night">
      <a:dk1>
        <a:srgbClr val="0B0D24"/>
      </a:dk1>
      <a:lt1>
        <a:srgbClr val="FFFFFF"/>
      </a:lt1>
      <a:dk2>
        <a:srgbClr val="161A3F"/>
      </a:dk2>
      <a:lt2>
        <a:srgbClr val="B7BCE0"/>
      </a:lt2>
      <a:accent1>
        <a:srgbClr val="22D3EE"/>
      </a:accent1>
      <a:accent2>
        <a:srgbClr val="3B82F6"/>
      </a:accent2>
      <a:accent3>
        <a:srgbClr val="22C55E"/>
      </a:accent3>
      <a:accent4>
        <a:srgbClr val="F59E0B"/>
      </a:accent4>
      <a:accent5>
        <a:srgbClr val="EF4444"/>
      </a:accent5>
      <a:accent6>
        <a:srgbClr val="A78BFA"/>
      </a:accent6>
      <a:hlink>
        <a:srgbClr val="22D3EE"/>
      </a:hlink>
      <a:folHlink>
        <a:srgbClr val="A78BFA"/>
      </a:folHlink>
    </a:clrScheme>
    <a:fontScheme name="Dharstec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Dharstec Solutions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Dharstec Smart Factory: executive briefing</dc:title>
  <dc:subject>What a plant leader can expect from Dharstec Smart Factory</dc:subject>
  <dc:creator>Dharstec Solutions Pvt Ltd</dc:creator>
  <cp:lastModifiedBy>Dharstec Solutions Pvt Ltd</cp:lastModifiedBy>
  <cp:revision>1</cp:revision>
  <dcterms:created xsi:type="dcterms:W3CDTF">2026-10-28T06:57:58Z</dcterms:created>
  <dcterms:modified xsi:type="dcterms:W3CDTF">2026-10-28T06:57:58Z</dcterms:modified>
</cp:coreProperties>
</file>